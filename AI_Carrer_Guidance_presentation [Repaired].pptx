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10"/>
  </p:normalViewPr>
  <p:slideViewPr>
    <p:cSldViewPr snapToGrid="0" snapToObjects="1">
      <p:cViewPr varScale="1">
        <p:scale>
          <a:sx n="82" d="100"/>
          <a:sy n="82" d="100"/>
        </p:scale>
        <p:origin x="72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421746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hyperlink" Target="https://pipinstallarya-ai-career-guidance-system-app-streamlit-p-0raw5w.streamlit.app/" TargetMode="External"/><Relationship Id="rId4" Type="http://schemas.openxmlformats.org/officeDocument/2006/relationships/hyperlink" Target="https://ai-career-guidance.onrender.com" TargetMode="Externa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F766E"/>
          </a:solidFill>
          <a:ln w="12700">
            <a:solidFill>
              <a:srgbClr val="0F766E"/>
            </a:solidFill>
            <a:prstDash val="solid"/>
          </a:ln>
        </p:spPr>
      </p:sp>
      <p:sp>
        <p:nvSpPr>
          <p:cNvPr id="3" name="Shape 1"/>
          <p:cNvSpPr/>
          <p:nvPr/>
        </p:nvSpPr>
        <p:spPr>
          <a:xfrm>
            <a:off x="594360" y="777240"/>
            <a:ext cx="128016" cy="5303520"/>
          </a:xfrm>
          <a:prstGeom prst="rect">
            <a:avLst/>
          </a:prstGeom>
          <a:solidFill>
            <a:srgbClr val="14B8A6"/>
          </a:solidFill>
          <a:ln w="12700">
            <a:solidFill>
              <a:srgbClr val="14B8A6"/>
            </a:solidFill>
            <a:prstDash val="solid"/>
          </a:ln>
        </p:spPr>
      </p:sp>
      <p:sp>
        <p:nvSpPr>
          <p:cNvPr id="4" name="Text 2"/>
          <p:cNvSpPr/>
          <p:nvPr/>
        </p:nvSpPr>
        <p:spPr>
          <a:xfrm>
            <a:off x="960120" y="1005840"/>
            <a:ext cx="10241280" cy="502920"/>
          </a:xfrm>
          <a:prstGeom prst="rect">
            <a:avLst/>
          </a:prstGeom>
          <a:noFill/>
          <a:ln/>
        </p:spPr>
        <p:txBody>
          <a:bodyPr wrap="square" lIns="0" tIns="0" rIns="0" bIns="0" rtlCol="0" anchor="ctr"/>
          <a:lstStyle/>
          <a:p>
            <a:pPr marL="0" indent="0">
              <a:buNone/>
            </a:pPr>
            <a:r>
              <a:rPr lang="en-US" sz="2600" b="1" dirty="0">
                <a:solidFill>
                  <a:srgbClr val="0F766E"/>
                </a:solidFill>
                <a:latin typeface="Aptos Display" pitchFamily="34" charset="0"/>
                <a:ea typeface="Aptos Display" pitchFamily="34" charset="-122"/>
                <a:cs typeface="Aptos Display" pitchFamily="34" charset="-120"/>
              </a:rPr>
              <a:t>B.Tech CSBS</a:t>
            </a:r>
            <a:endParaRPr lang="en-US" sz="2600" dirty="0"/>
          </a:p>
        </p:txBody>
      </p:sp>
      <p:sp>
        <p:nvSpPr>
          <p:cNvPr id="5" name="Text 3"/>
          <p:cNvSpPr/>
          <p:nvPr/>
        </p:nvSpPr>
        <p:spPr>
          <a:xfrm>
            <a:off x="960120" y="1600200"/>
            <a:ext cx="10241280" cy="594360"/>
          </a:xfrm>
          <a:prstGeom prst="rect">
            <a:avLst/>
          </a:prstGeom>
          <a:noFill/>
          <a:ln/>
        </p:spPr>
        <p:txBody>
          <a:bodyPr wrap="square" lIns="0" tIns="0" rIns="0" bIns="0" rtlCol="0" anchor="ctr">
            <a:normAutofit/>
          </a:bodyPr>
          <a:lstStyle/>
          <a:p>
            <a:pPr marL="0" indent="0">
              <a:buNone/>
            </a:pPr>
            <a:r>
              <a:rPr lang="en-US" sz="3200" b="1" dirty="0">
                <a:solidFill>
                  <a:srgbClr val="0B1F33"/>
                </a:solidFill>
                <a:latin typeface="Aptos Display" pitchFamily="34" charset="0"/>
                <a:ea typeface="Aptos Display" pitchFamily="34" charset="-122"/>
                <a:cs typeface="Aptos Display" pitchFamily="34" charset="-120"/>
              </a:rPr>
              <a:t>Semester VIII Final Project Presentation</a:t>
            </a:r>
            <a:endParaRPr lang="en-US" sz="3200" dirty="0"/>
          </a:p>
        </p:txBody>
      </p:sp>
      <p:sp>
        <p:nvSpPr>
          <p:cNvPr id="6" name="Text 4"/>
          <p:cNvSpPr/>
          <p:nvPr/>
        </p:nvSpPr>
        <p:spPr>
          <a:xfrm>
            <a:off x="960120" y="2377440"/>
            <a:ext cx="10241280" cy="1051560"/>
          </a:xfrm>
          <a:prstGeom prst="rect">
            <a:avLst/>
          </a:prstGeom>
          <a:noFill/>
          <a:ln/>
        </p:spPr>
        <p:txBody>
          <a:bodyPr wrap="square" lIns="0" tIns="0" rIns="0" bIns="0" rtlCol="0" anchor="ctr">
            <a:normAutofit/>
          </a:bodyPr>
          <a:lstStyle/>
          <a:p>
            <a:pPr marL="0" indent="0">
              <a:buNone/>
            </a:pPr>
            <a:r>
              <a:rPr lang="en-US" sz="3200" b="1" dirty="0">
                <a:solidFill>
                  <a:srgbClr val="0B1F33"/>
                </a:solidFill>
                <a:latin typeface="Aptos Display" pitchFamily="34" charset="0"/>
                <a:ea typeface="Aptos Display" pitchFamily="34" charset="-122"/>
                <a:cs typeface="Aptos Display" pitchFamily="34" charset="-120"/>
              </a:rPr>
              <a:t>Project Title: AI Based Career Guidance</a:t>
            </a:r>
            <a:endParaRPr lang="en-US" sz="3200" dirty="0"/>
          </a:p>
          <a:p>
            <a:pPr marL="0" indent="0">
              <a:buNone/>
            </a:pPr>
            <a:r>
              <a:rPr lang="en-US" sz="3200" b="1" dirty="0">
                <a:solidFill>
                  <a:srgbClr val="0B1F33"/>
                </a:solidFill>
                <a:latin typeface="Aptos Display" pitchFamily="34" charset="0"/>
                <a:ea typeface="Aptos Display" pitchFamily="34" charset="-122"/>
                <a:cs typeface="Aptos Display" pitchFamily="34" charset="-120"/>
              </a:rPr>
              <a:t>System</a:t>
            </a:r>
            <a:endParaRPr lang="en-US" sz="3200" dirty="0"/>
          </a:p>
        </p:txBody>
      </p:sp>
      <p:sp>
        <p:nvSpPr>
          <p:cNvPr id="7" name="Shape 5"/>
          <p:cNvSpPr/>
          <p:nvPr/>
        </p:nvSpPr>
        <p:spPr>
          <a:xfrm>
            <a:off x="960120" y="3886200"/>
            <a:ext cx="5669280" cy="1325880"/>
          </a:xfrm>
          <a:prstGeom prst="roundRect">
            <a:avLst>
              <a:gd name="adj" fmla="val 5517"/>
            </a:avLst>
          </a:prstGeom>
          <a:solidFill>
            <a:srgbClr val="FFFFFF"/>
          </a:solidFill>
          <a:ln w="12700">
            <a:solidFill>
              <a:srgbClr val="E2E8F0"/>
            </a:solidFill>
            <a:prstDash val="solid"/>
          </a:ln>
          <a:effectLst>
            <a:outerShdw blurRad="12700" dist="50800" dir="2700000" algn="bl" rotWithShape="0">
              <a:srgbClr val="000000">
                <a:alpha val="10000"/>
              </a:srgbClr>
            </a:outerShdw>
          </a:effectLst>
        </p:spPr>
      </p:sp>
      <p:sp>
        <p:nvSpPr>
          <p:cNvPr id="8" name="Text 6"/>
          <p:cNvSpPr/>
          <p:nvPr/>
        </p:nvSpPr>
        <p:spPr>
          <a:xfrm>
            <a:off x="1234440" y="4041648"/>
            <a:ext cx="5120640" cy="960120"/>
          </a:xfrm>
          <a:prstGeom prst="rect">
            <a:avLst/>
          </a:prstGeom>
          <a:noFill/>
          <a:ln/>
        </p:spPr>
        <p:txBody>
          <a:bodyPr wrap="square" lIns="254" tIns="254" rIns="254" bIns="254" rtlCol="0" anchor="ctr">
            <a:normAutofit/>
          </a:bodyPr>
          <a:lstStyle/>
          <a:p>
            <a:pPr marL="0" indent="0">
              <a:buNone/>
            </a:pPr>
            <a:r>
              <a:rPr lang="en-US" sz="1500" b="1" dirty="0">
                <a:solidFill>
                  <a:srgbClr val="475569"/>
                </a:solidFill>
                <a:latin typeface="Aptos" pitchFamily="34" charset="0"/>
                <a:ea typeface="Aptos" pitchFamily="34" charset="-122"/>
                <a:cs typeface="Aptos" pitchFamily="34" charset="-120"/>
              </a:rPr>
              <a:t>Presented by : </a:t>
            </a:r>
            <a:r>
              <a:rPr lang="en-US" sz="1500" dirty="0">
                <a:solidFill>
                  <a:srgbClr val="475569"/>
                </a:solidFill>
                <a:latin typeface="Aptos" pitchFamily="34" charset="0"/>
                <a:ea typeface="Aptos" pitchFamily="34" charset="-122"/>
                <a:cs typeface="Aptos" pitchFamily="34" charset="-120"/>
              </a:rPr>
              <a:t>Rajashree Pati (E036)</a:t>
            </a:r>
            <a:endParaRPr lang="en-US" sz="1500" dirty="0"/>
          </a:p>
          <a:p>
            <a:pPr marL="0" indent="0">
              <a:buNone/>
            </a:pPr>
            <a:r>
              <a:rPr lang="en-US" sz="1500" dirty="0">
                <a:solidFill>
                  <a:srgbClr val="475569"/>
                </a:solidFill>
                <a:latin typeface="Aptos" pitchFamily="34" charset="0"/>
                <a:ea typeface="Aptos" pitchFamily="34" charset="-122"/>
                <a:cs typeface="Aptos" pitchFamily="34" charset="-120"/>
              </a:rPr>
              <a:t>Aishwarya Pimplikar (E037)</a:t>
            </a:r>
            <a:endParaRPr lang="en-US" sz="1500" dirty="0"/>
          </a:p>
          <a:p>
            <a:pPr marL="0" indent="0">
              <a:buNone/>
            </a:pPr>
            <a:r>
              <a:rPr lang="en-US" sz="1500" dirty="0">
                <a:solidFill>
                  <a:srgbClr val="475569"/>
                </a:solidFill>
                <a:latin typeface="Aptos" pitchFamily="34" charset="0"/>
                <a:ea typeface="Aptos" pitchFamily="34" charset="-122"/>
                <a:cs typeface="Aptos" pitchFamily="34" charset="-120"/>
              </a:rPr>
              <a:t>Amanpreet Singh (E052)</a:t>
            </a:r>
            <a:endParaRPr lang="en-US" sz="1500" dirty="0"/>
          </a:p>
          <a:p>
            <a:pPr marL="0" indent="0">
              <a:buNone/>
            </a:pPr>
            <a:r>
              <a:rPr lang="en-US" sz="1500" dirty="0">
                <a:solidFill>
                  <a:srgbClr val="475569"/>
                </a:solidFill>
                <a:latin typeface="Aptos" pitchFamily="34" charset="0"/>
                <a:ea typeface="Aptos" pitchFamily="34" charset="-122"/>
                <a:cs typeface="Aptos" pitchFamily="34" charset="-120"/>
              </a:rPr>
              <a:t>Arya Shah (E071)</a:t>
            </a:r>
            <a:endParaRPr lang="en-US" sz="1500" dirty="0"/>
          </a:p>
        </p:txBody>
      </p:sp>
      <p:sp>
        <p:nvSpPr>
          <p:cNvPr id="9" name="Shape 7"/>
          <p:cNvSpPr/>
          <p:nvPr/>
        </p:nvSpPr>
        <p:spPr>
          <a:xfrm>
            <a:off x="6903720" y="3886200"/>
            <a:ext cx="4114800" cy="1325880"/>
          </a:xfrm>
          <a:prstGeom prst="roundRect">
            <a:avLst>
              <a:gd name="adj" fmla="val 5517"/>
            </a:avLst>
          </a:prstGeom>
          <a:solidFill>
            <a:srgbClr val="ECFEFF"/>
          </a:solidFill>
          <a:ln w="12700">
            <a:solidFill>
              <a:srgbClr val="E2E8F0"/>
            </a:solidFill>
            <a:prstDash val="solid"/>
          </a:ln>
          <a:effectLst>
            <a:outerShdw blurRad="12700" dist="50800" dir="2700000" algn="bl" rotWithShape="0">
              <a:srgbClr val="000000">
                <a:alpha val="10000"/>
              </a:srgbClr>
            </a:outerShdw>
          </a:effectLst>
        </p:spPr>
      </p:sp>
      <p:sp>
        <p:nvSpPr>
          <p:cNvPr id="10" name="Text 8"/>
          <p:cNvSpPr/>
          <p:nvPr/>
        </p:nvSpPr>
        <p:spPr>
          <a:xfrm>
            <a:off x="7223760" y="4343400"/>
            <a:ext cx="3566160" cy="365760"/>
          </a:xfrm>
          <a:prstGeom prst="rect">
            <a:avLst/>
          </a:prstGeom>
          <a:noFill/>
          <a:ln/>
        </p:spPr>
        <p:txBody>
          <a:bodyPr wrap="square" lIns="254" tIns="254" rIns="254" bIns="254" rtlCol="0" anchor="ctr">
            <a:normAutofit fontScale="92500"/>
          </a:bodyPr>
          <a:lstStyle/>
          <a:p>
            <a:pPr marL="0" indent="0">
              <a:buNone/>
            </a:pPr>
            <a:r>
              <a:rPr lang="en-US" sz="1500" b="1" dirty="0">
                <a:solidFill>
                  <a:srgbClr val="475569"/>
                </a:solidFill>
                <a:latin typeface="Aptos" pitchFamily="34" charset="0"/>
                <a:ea typeface="Aptos" pitchFamily="34" charset="-122"/>
                <a:cs typeface="Aptos" pitchFamily="34" charset="-120"/>
              </a:rPr>
              <a:t>Under the guidance of : </a:t>
            </a:r>
            <a:r>
              <a:rPr lang="en-US" sz="1500" dirty="0">
                <a:solidFill>
                  <a:srgbClr val="475569"/>
                </a:solidFill>
                <a:latin typeface="Aptos" pitchFamily="34" charset="0"/>
                <a:ea typeface="Aptos" pitchFamily="34" charset="-122"/>
                <a:cs typeface="Aptos" pitchFamily="34" charset="-120"/>
              </a:rPr>
              <a:t>Dr. Shubha Puthran</a:t>
            </a:r>
            <a:endParaRPr lang="en-US" sz="1500" dirty="0"/>
          </a:p>
        </p:txBody>
      </p:sp>
      <p:sp>
        <p:nvSpPr>
          <p:cNvPr id="11" name="Text 9"/>
          <p:cNvSpPr/>
          <p:nvPr/>
        </p:nvSpPr>
        <p:spPr>
          <a:xfrm>
            <a:off x="11475720" y="6446520"/>
            <a:ext cx="320040" cy="182880"/>
          </a:xfrm>
          <a:prstGeom prst="rect">
            <a:avLst/>
          </a:prstGeom>
          <a:noFill/>
          <a:ln/>
        </p:spPr>
        <p:txBody>
          <a:bodyPr wrap="square" lIns="0" tIns="0" rIns="0" bIns="0" rtlCol="0" anchor="ctr"/>
          <a:lstStyle/>
          <a:p>
            <a:pPr marL="0" indent="0" algn="r">
              <a:buNone/>
            </a:pPr>
            <a:r>
              <a:rPr lang="en-US" sz="900" dirty="0">
                <a:solidFill>
                  <a:srgbClr val="64748B"/>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F766E"/>
          </a:solidFill>
          <a:ln w="12700">
            <a:solidFill>
              <a:srgbClr val="0F766E"/>
            </a:solidFill>
            <a:prstDash val="solid"/>
          </a:ln>
        </p:spPr>
      </p:sp>
      <p:sp>
        <p:nvSpPr>
          <p:cNvPr id="3" name="Shape 1"/>
          <p:cNvSpPr/>
          <p:nvPr/>
        </p:nvSpPr>
        <p:spPr>
          <a:xfrm>
            <a:off x="0" y="146304"/>
            <a:ext cx="12191695" cy="45720"/>
          </a:xfrm>
          <a:prstGeom prst="rect">
            <a:avLst/>
          </a:prstGeom>
          <a:solidFill>
            <a:srgbClr val="1E3A8A">
              <a:alpha val="80000"/>
            </a:srgbClr>
          </a:solidFill>
          <a:ln w="12700">
            <a:solidFill>
              <a:srgbClr val="1E3A8A">
                <a:alpha val="0"/>
              </a:srgbClr>
            </a:solidFill>
            <a:prstDash val="solid"/>
          </a:ln>
        </p:spPr>
      </p:sp>
      <p:sp>
        <p:nvSpPr>
          <p:cNvPr id="4" name="Text 2"/>
          <p:cNvSpPr/>
          <p:nvPr/>
        </p:nvSpPr>
        <p:spPr>
          <a:xfrm>
            <a:off x="502920" y="384048"/>
            <a:ext cx="11155680" cy="502920"/>
          </a:xfrm>
          <a:prstGeom prst="rect">
            <a:avLst/>
          </a:prstGeom>
          <a:noFill/>
          <a:ln/>
        </p:spPr>
        <p:txBody>
          <a:bodyPr wrap="square" lIns="0" tIns="0" rIns="0" bIns="0" rtlCol="0" anchor="ctr">
            <a:normAutofit/>
          </a:bodyPr>
          <a:lstStyle/>
          <a:p>
            <a:pPr marL="0" indent="0">
              <a:buNone/>
            </a:pPr>
            <a:r>
              <a:rPr lang="en-US" sz="3000" b="1" dirty="0">
                <a:solidFill>
                  <a:srgbClr val="0B1F33"/>
                </a:solidFill>
                <a:latin typeface="Aptos Display" pitchFamily="34" charset="0"/>
                <a:ea typeface="Aptos Display" pitchFamily="34" charset="-122"/>
                <a:cs typeface="Aptos Display" pitchFamily="34" charset="-120"/>
              </a:rPr>
              <a:t>Roadmap</a:t>
            </a:r>
            <a:endParaRPr lang="en-US" sz="3000" dirty="0"/>
          </a:p>
        </p:txBody>
      </p:sp>
      <p:sp>
        <p:nvSpPr>
          <p:cNvPr id="5" name="Shape 3"/>
          <p:cNvSpPr/>
          <p:nvPr/>
        </p:nvSpPr>
        <p:spPr>
          <a:xfrm>
            <a:off x="502920" y="960120"/>
            <a:ext cx="2103120" cy="0"/>
          </a:xfrm>
          <a:prstGeom prst="line">
            <a:avLst/>
          </a:prstGeom>
          <a:noFill/>
          <a:ln w="12700">
            <a:solidFill>
              <a:srgbClr val="14B8A6"/>
            </a:solidFill>
            <a:prstDash val="solid"/>
          </a:ln>
        </p:spPr>
      </p:sp>
      <p:sp>
        <p:nvSpPr>
          <p:cNvPr id="6" name="Text 4"/>
          <p:cNvSpPr/>
          <p:nvPr/>
        </p:nvSpPr>
        <p:spPr>
          <a:xfrm>
            <a:off x="11475720" y="6446520"/>
            <a:ext cx="320040" cy="182880"/>
          </a:xfrm>
          <a:prstGeom prst="rect">
            <a:avLst/>
          </a:prstGeom>
          <a:noFill/>
          <a:ln/>
        </p:spPr>
        <p:txBody>
          <a:bodyPr wrap="square" lIns="0" tIns="0" rIns="0" bIns="0" rtlCol="0" anchor="ctr"/>
          <a:lstStyle/>
          <a:p>
            <a:pPr marL="0" indent="0" algn="r">
              <a:buNone/>
            </a:pPr>
            <a:r>
              <a:rPr lang="en-US" sz="900" dirty="0">
                <a:solidFill>
                  <a:srgbClr val="64748B"/>
                </a:solidFill>
                <a:latin typeface="Aptos" pitchFamily="34" charset="0"/>
                <a:ea typeface="Aptos" pitchFamily="34" charset="-122"/>
                <a:cs typeface="Aptos" pitchFamily="34" charset="-120"/>
              </a:rPr>
              <a:t>2</a:t>
            </a:r>
            <a:endParaRPr lang="en-US" sz="900" dirty="0"/>
          </a:p>
        </p:txBody>
      </p:sp>
      <p:sp>
        <p:nvSpPr>
          <p:cNvPr id="7" name="Shape 5"/>
          <p:cNvSpPr/>
          <p:nvPr/>
        </p:nvSpPr>
        <p:spPr>
          <a:xfrm>
            <a:off x="822960" y="1325880"/>
            <a:ext cx="5074920" cy="4709160"/>
          </a:xfrm>
          <a:prstGeom prst="roundRect">
            <a:avLst>
              <a:gd name="adj" fmla="val 1553"/>
            </a:avLst>
          </a:prstGeom>
          <a:solidFill>
            <a:srgbClr val="FFFFFF"/>
          </a:solidFill>
          <a:ln w="12700">
            <a:solidFill>
              <a:srgbClr val="E2E8F0"/>
            </a:solidFill>
            <a:prstDash val="solid"/>
          </a:ln>
          <a:effectLst>
            <a:outerShdw blurRad="12700" dist="50800" dir="2700000" algn="bl" rotWithShape="0">
              <a:srgbClr val="000000">
                <a:alpha val="10000"/>
              </a:srgbClr>
            </a:outerShdw>
          </a:effectLst>
        </p:spPr>
      </p:sp>
      <p:sp>
        <p:nvSpPr>
          <p:cNvPr id="8" name="Shape 6"/>
          <p:cNvSpPr/>
          <p:nvPr/>
        </p:nvSpPr>
        <p:spPr>
          <a:xfrm>
            <a:off x="6309360" y="1325880"/>
            <a:ext cx="5074920" cy="4709160"/>
          </a:xfrm>
          <a:prstGeom prst="roundRect">
            <a:avLst>
              <a:gd name="adj" fmla="val 1553"/>
            </a:avLst>
          </a:prstGeom>
          <a:solidFill>
            <a:srgbClr val="FFFFFF"/>
          </a:solidFill>
          <a:ln w="12700">
            <a:solidFill>
              <a:srgbClr val="E2E8F0"/>
            </a:solidFill>
            <a:prstDash val="solid"/>
          </a:ln>
          <a:effectLst>
            <a:outerShdw blurRad="12700" dist="50800" dir="2700000" algn="bl" rotWithShape="0">
              <a:srgbClr val="000000">
                <a:alpha val="10000"/>
              </a:srgbClr>
            </a:outerShdw>
          </a:effectLst>
        </p:spPr>
      </p:sp>
      <p:sp>
        <p:nvSpPr>
          <p:cNvPr id="9" name="Shape 7"/>
          <p:cNvSpPr/>
          <p:nvPr/>
        </p:nvSpPr>
        <p:spPr>
          <a:xfrm>
            <a:off x="1143000" y="1664208"/>
            <a:ext cx="109728" cy="109728"/>
          </a:xfrm>
          <a:prstGeom prst="rect">
            <a:avLst/>
          </a:prstGeom>
          <a:solidFill>
            <a:srgbClr val="0F766E"/>
          </a:solidFill>
          <a:ln w="12700">
            <a:solidFill>
              <a:srgbClr val="0F766E"/>
            </a:solidFill>
            <a:prstDash val="solid"/>
          </a:ln>
        </p:spPr>
      </p:sp>
      <p:sp>
        <p:nvSpPr>
          <p:cNvPr id="10" name="Text 8"/>
          <p:cNvSpPr/>
          <p:nvPr/>
        </p:nvSpPr>
        <p:spPr>
          <a:xfrm>
            <a:off x="1399032" y="1600200"/>
            <a:ext cx="4297680" cy="320040"/>
          </a:xfrm>
          <a:prstGeom prst="rect">
            <a:avLst/>
          </a:prstGeom>
          <a:noFill/>
          <a:ln/>
        </p:spPr>
        <p:txBody>
          <a:bodyPr wrap="square" lIns="127" tIns="127" rIns="127" bIns="127" rtlCol="0" anchor="t">
            <a:normAutofit/>
          </a:bodyPr>
          <a:lstStyle/>
          <a:p>
            <a:pPr marL="0" indent="0">
              <a:buNone/>
            </a:pPr>
            <a:r>
              <a:rPr lang="en-US" sz="1800" dirty="0">
                <a:solidFill>
                  <a:srgbClr val="0B1F33"/>
                </a:solidFill>
                <a:latin typeface="Aptos" pitchFamily="34" charset="0"/>
                <a:ea typeface="Aptos" pitchFamily="34" charset="-122"/>
                <a:cs typeface="Aptos" pitchFamily="34" charset="-120"/>
              </a:rPr>
              <a:t>Introduction</a:t>
            </a:r>
            <a:endParaRPr lang="en-US" sz="1800" dirty="0"/>
          </a:p>
        </p:txBody>
      </p:sp>
      <p:sp>
        <p:nvSpPr>
          <p:cNvPr id="11" name="Shape 9"/>
          <p:cNvSpPr/>
          <p:nvPr/>
        </p:nvSpPr>
        <p:spPr>
          <a:xfrm>
            <a:off x="1143000" y="2322576"/>
            <a:ext cx="109728" cy="109728"/>
          </a:xfrm>
          <a:prstGeom prst="rect">
            <a:avLst/>
          </a:prstGeom>
          <a:solidFill>
            <a:srgbClr val="0F766E"/>
          </a:solidFill>
          <a:ln w="12700">
            <a:solidFill>
              <a:srgbClr val="0F766E"/>
            </a:solidFill>
            <a:prstDash val="solid"/>
          </a:ln>
        </p:spPr>
      </p:sp>
      <p:sp>
        <p:nvSpPr>
          <p:cNvPr id="12" name="Text 10"/>
          <p:cNvSpPr/>
          <p:nvPr/>
        </p:nvSpPr>
        <p:spPr>
          <a:xfrm>
            <a:off x="1399032" y="2258568"/>
            <a:ext cx="4297680" cy="320040"/>
          </a:xfrm>
          <a:prstGeom prst="rect">
            <a:avLst/>
          </a:prstGeom>
          <a:noFill/>
          <a:ln/>
        </p:spPr>
        <p:txBody>
          <a:bodyPr wrap="square" lIns="127" tIns="127" rIns="127" bIns="127" rtlCol="0" anchor="t">
            <a:normAutofit/>
          </a:bodyPr>
          <a:lstStyle/>
          <a:p>
            <a:pPr marL="0" indent="0">
              <a:buNone/>
            </a:pPr>
            <a:r>
              <a:rPr lang="en-US" sz="1800" dirty="0">
                <a:solidFill>
                  <a:srgbClr val="0B1F33"/>
                </a:solidFill>
                <a:latin typeface="Aptos" pitchFamily="34" charset="0"/>
                <a:ea typeface="Aptos" pitchFamily="34" charset="-122"/>
                <a:cs typeface="Aptos" pitchFamily="34" charset="-120"/>
              </a:rPr>
              <a:t>Problem definition</a:t>
            </a:r>
            <a:endParaRPr lang="en-US" sz="1800" dirty="0"/>
          </a:p>
        </p:txBody>
      </p:sp>
      <p:sp>
        <p:nvSpPr>
          <p:cNvPr id="13" name="Shape 11"/>
          <p:cNvSpPr/>
          <p:nvPr/>
        </p:nvSpPr>
        <p:spPr>
          <a:xfrm>
            <a:off x="1143000" y="2980944"/>
            <a:ext cx="109728" cy="109728"/>
          </a:xfrm>
          <a:prstGeom prst="rect">
            <a:avLst/>
          </a:prstGeom>
          <a:solidFill>
            <a:srgbClr val="0F766E"/>
          </a:solidFill>
          <a:ln w="12700">
            <a:solidFill>
              <a:srgbClr val="0F766E"/>
            </a:solidFill>
            <a:prstDash val="solid"/>
          </a:ln>
        </p:spPr>
      </p:sp>
      <p:sp>
        <p:nvSpPr>
          <p:cNvPr id="14" name="Text 12"/>
          <p:cNvSpPr/>
          <p:nvPr/>
        </p:nvSpPr>
        <p:spPr>
          <a:xfrm>
            <a:off x="1399032" y="2916936"/>
            <a:ext cx="4297680" cy="320040"/>
          </a:xfrm>
          <a:prstGeom prst="rect">
            <a:avLst/>
          </a:prstGeom>
          <a:noFill/>
          <a:ln/>
        </p:spPr>
        <p:txBody>
          <a:bodyPr wrap="square" lIns="127" tIns="127" rIns="127" bIns="127" rtlCol="0" anchor="t">
            <a:normAutofit/>
          </a:bodyPr>
          <a:lstStyle/>
          <a:p>
            <a:pPr marL="0" indent="0">
              <a:buNone/>
            </a:pPr>
            <a:r>
              <a:rPr lang="en-US" sz="1800" dirty="0">
                <a:solidFill>
                  <a:srgbClr val="0B1F33"/>
                </a:solidFill>
                <a:latin typeface="Aptos" pitchFamily="34" charset="0"/>
                <a:ea typeface="Aptos" pitchFamily="34" charset="-122"/>
                <a:cs typeface="Aptos" pitchFamily="34" charset="-120"/>
              </a:rPr>
              <a:t>Literature Survey</a:t>
            </a:r>
            <a:endParaRPr lang="en-US" sz="1800" dirty="0"/>
          </a:p>
        </p:txBody>
      </p:sp>
      <p:sp>
        <p:nvSpPr>
          <p:cNvPr id="15" name="Shape 13"/>
          <p:cNvSpPr/>
          <p:nvPr/>
        </p:nvSpPr>
        <p:spPr>
          <a:xfrm>
            <a:off x="1143000" y="3639312"/>
            <a:ext cx="109728" cy="109728"/>
          </a:xfrm>
          <a:prstGeom prst="rect">
            <a:avLst/>
          </a:prstGeom>
          <a:solidFill>
            <a:srgbClr val="0F766E"/>
          </a:solidFill>
          <a:ln w="12700">
            <a:solidFill>
              <a:srgbClr val="0F766E"/>
            </a:solidFill>
            <a:prstDash val="solid"/>
          </a:ln>
        </p:spPr>
      </p:sp>
      <p:sp>
        <p:nvSpPr>
          <p:cNvPr id="16" name="Text 14"/>
          <p:cNvSpPr/>
          <p:nvPr/>
        </p:nvSpPr>
        <p:spPr>
          <a:xfrm>
            <a:off x="1399032" y="3575304"/>
            <a:ext cx="4297680" cy="320040"/>
          </a:xfrm>
          <a:prstGeom prst="rect">
            <a:avLst/>
          </a:prstGeom>
          <a:noFill/>
          <a:ln/>
        </p:spPr>
        <p:txBody>
          <a:bodyPr wrap="square" lIns="127" tIns="127" rIns="127" bIns="127" rtlCol="0" anchor="t">
            <a:normAutofit/>
          </a:bodyPr>
          <a:lstStyle/>
          <a:p>
            <a:pPr marL="0" indent="0">
              <a:buNone/>
            </a:pPr>
            <a:r>
              <a:rPr lang="en-US" sz="1800" dirty="0">
                <a:solidFill>
                  <a:srgbClr val="0B1F33"/>
                </a:solidFill>
                <a:latin typeface="Aptos" pitchFamily="34" charset="0"/>
                <a:ea typeface="Aptos" pitchFamily="34" charset="-122"/>
                <a:cs typeface="Aptos" pitchFamily="34" charset="-120"/>
              </a:rPr>
              <a:t>Proposed System</a:t>
            </a:r>
            <a:endParaRPr lang="en-US" sz="1800" dirty="0"/>
          </a:p>
        </p:txBody>
      </p:sp>
      <p:sp>
        <p:nvSpPr>
          <p:cNvPr id="17" name="Shape 15"/>
          <p:cNvSpPr/>
          <p:nvPr/>
        </p:nvSpPr>
        <p:spPr>
          <a:xfrm>
            <a:off x="1143000" y="4297680"/>
            <a:ext cx="109728" cy="109728"/>
          </a:xfrm>
          <a:prstGeom prst="rect">
            <a:avLst/>
          </a:prstGeom>
          <a:solidFill>
            <a:srgbClr val="0F766E"/>
          </a:solidFill>
          <a:ln w="12700">
            <a:solidFill>
              <a:srgbClr val="0F766E"/>
            </a:solidFill>
            <a:prstDash val="solid"/>
          </a:ln>
        </p:spPr>
      </p:sp>
      <p:sp>
        <p:nvSpPr>
          <p:cNvPr id="18" name="Text 16"/>
          <p:cNvSpPr/>
          <p:nvPr/>
        </p:nvSpPr>
        <p:spPr>
          <a:xfrm>
            <a:off x="1399032" y="4233672"/>
            <a:ext cx="4297680" cy="320040"/>
          </a:xfrm>
          <a:prstGeom prst="rect">
            <a:avLst/>
          </a:prstGeom>
          <a:noFill/>
          <a:ln/>
        </p:spPr>
        <p:txBody>
          <a:bodyPr wrap="square" lIns="127" tIns="127" rIns="127" bIns="127" rtlCol="0" anchor="t">
            <a:normAutofit/>
          </a:bodyPr>
          <a:lstStyle/>
          <a:p>
            <a:pPr marL="0" indent="0">
              <a:buNone/>
            </a:pPr>
            <a:r>
              <a:rPr lang="en-US" sz="1800" dirty="0">
                <a:solidFill>
                  <a:srgbClr val="0B1F33"/>
                </a:solidFill>
                <a:latin typeface="Aptos" pitchFamily="34" charset="0"/>
                <a:ea typeface="Aptos" pitchFamily="34" charset="-122"/>
                <a:cs typeface="Aptos" pitchFamily="34" charset="-120"/>
              </a:rPr>
              <a:t>Dataset</a:t>
            </a:r>
            <a:endParaRPr lang="en-US" sz="1800" dirty="0"/>
          </a:p>
        </p:txBody>
      </p:sp>
      <p:sp>
        <p:nvSpPr>
          <p:cNvPr id="19" name="Shape 17"/>
          <p:cNvSpPr/>
          <p:nvPr/>
        </p:nvSpPr>
        <p:spPr>
          <a:xfrm>
            <a:off x="1143000" y="4956048"/>
            <a:ext cx="109728" cy="109728"/>
          </a:xfrm>
          <a:prstGeom prst="rect">
            <a:avLst/>
          </a:prstGeom>
          <a:solidFill>
            <a:srgbClr val="0F766E"/>
          </a:solidFill>
          <a:ln w="12700">
            <a:solidFill>
              <a:srgbClr val="0F766E"/>
            </a:solidFill>
            <a:prstDash val="solid"/>
          </a:ln>
        </p:spPr>
      </p:sp>
      <p:sp>
        <p:nvSpPr>
          <p:cNvPr id="20" name="Text 18"/>
          <p:cNvSpPr/>
          <p:nvPr/>
        </p:nvSpPr>
        <p:spPr>
          <a:xfrm>
            <a:off x="1399032" y="4892040"/>
            <a:ext cx="4297680" cy="320040"/>
          </a:xfrm>
          <a:prstGeom prst="rect">
            <a:avLst/>
          </a:prstGeom>
          <a:noFill/>
          <a:ln/>
        </p:spPr>
        <p:txBody>
          <a:bodyPr wrap="square" lIns="127" tIns="127" rIns="127" bIns="127" rtlCol="0" anchor="t">
            <a:normAutofit/>
          </a:bodyPr>
          <a:lstStyle/>
          <a:p>
            <a:pPr marL="0" indent="0">
              <a:buNone/>
            </a:pPr>
            <a:r>
              <a:rPr lang="en-US" sz="1800" dirty="0">
                <a:solidFill>
                  <a:srgbClr val="0B1F33"/>
                </a:solidFill>
                <a:latin typeface="Aptos" pitchFamily="34" charset="0"/>
                <a:ea typeface="Aptos" pitchFamily="34" charset="-122"/>
                <a:cs typeface="Aptos" pitchFamily="34" charset="-120"/>
              </a:rPr>
              <a:t>Design Diagrams</a:t>
            </a:r>
            <a:endParaRPr lang="en-US" sz="1800" dirty="0"/>
          </a:p>
        </p:txBody>
      </p:sp>
      <p:sp>
        <p:nvSpPr>
          <p:cNvPr id="21" name="Shape 19"/>
          <p:cNvSpPr/>
          <p:nvPr/>
        </p:nvSpPr>
        <p:spPr>
          <a:xfrm>
            <a:off x="6629400" y="1664208"/>
            <a:ext cx="109728" cy="109728"/>
          </a:xfrm>
          <a:prstGeom prst="rect">
            <a:avLst/>
          </a:prstGeom>
          <a:solidFill>
            <a:srgbClr val="0F766E"/>
          </a:solidFill>
          <a:ln w="12700">
            <a:solidFill>
              <a:srgbClr val="0F766E"/>
            </a:solidFill>
            <a:prstDash val="solid"/>
          </a:ln>
        </p:spPr>
      </p:sp>
      <p:sp>
        <p:nvSpPr>
          <p:cNvPr id="22" name="Text 20"/>
          <p:cNvSpPr/>
          <p:nvPr/>
        </p:nvSpPr>
        <p:spPr>
          <a:xfrm>
            <a:off x="6885432" y="1600200"/>
            <a:ext cx="4297680" cy="365760"/>
          </a:xfrm>
          <a:prstGeom prst="rect">
            <a:avLst/>
          </a:prstGeom>
          <a:noFill/>
          <a:ln/>
        </p:spPr>
        <p:txBody>
          <a:bodyPr wrap="square" lIns="127" tIns="127" rIns="127" bIns="127" rtlCol="0" anchor="t">
            <a:normAutofit/>
          </a:bodyPr>
          <a:lstStyle/>
          <a:p>
            <a:pPr marL="0" indent="0">
              <a:buNone/>
            </a:pPr>
            <a:r>
              <a:rPr lang="en-US" sz="1800" dirty="0">
                <a:solidFill>
                  <a:srgbClr val="0B1F33"/>
                </a:solidFill>
                <a:latin typeface="Aptos" pitchFamily="34" charset="0"/>
                <a:ea typeface="Aptos" pitchFamily="34" charset="-122"/>
                <a:cs typeface="Aptos" pitchFamily="34" charset="-120"/>
              </a:rPr>
              <a:t>Tech Stack</a:t>
            </a:r>
            <a:endParaRPr lang="en-US" sz="1800" dirty="0"/>
          </a:p>
        </p:txBody>
      </p:sp>
      <p:sp>
        <p:nvSpPr>
          <p:cNvPr id="23" name="Shape 21"/>
          <p:cNvSpPr/>
          <p:nvPr/>
        </p:nvSpPr>
        <p:spPr>
          <a:xfrm>
            <a:off x="6629400" y="2450592"/>
            <a:ext cx="109728" cy="109728"/>
          </a:xfrm>
          <a:prstGeom prst="rect">
            <a:avLst/>
          </a:prstGeom>
          <a:solidFill>
            <a:srgbClr val="0F766E"/>
          </a:solidFill>
          <a:ln w="12700">
            <a:solidFill>
              <a:srgbClr val="0F766E"/>
            </a:solidFill>
            <a:prstDash val="solid"/>
          </a:ln>
        </p:spPr>
      </p:sp>
      <p:sp>
        <p:nvSpPr>
          <p:cNvPr id="24" name="Text 22"/>
          <p:cNvSpPr/>
          <p:nvPr/>
        </p:nvSpPr>
        <p:spPr>
          <a:xfrm>
            <a:off x="6885432" y="2386584"/>
            <a:ext cx="4297680" cy="365760"/>
          </a:xfrm>
          <a:prstGeom prst="rect">
            <a:avLst/>
          </a:prstGeom>
          <a:noFill/>
          <a:ln/>
        </p:spPr>
        <p:txBody>
          <a:bodyPr wrap="square" lIns="127" tIns="127" rIns="127" bIns="127" rtlCol="0" anchor="t">
            <a:normAutofit/>
          </a:bodyPr>
          <a:lstStyle/>
          <a:p>
            <a:pPr marL="0" indent="0">
              <a:buNone/>
            </a:pPr>
            <a:r>
              <a:rPr lang="en-US" sz="1800" dirty="0">
                <a:solidFill>
                  <a:srgbClr val="0B1F33"/>
                </a:solidFill>
                <a:latin typeface="Aptos" pitchFamily="34" charset="0"/>
                <a:ea typeface="Aptos" pitchFamily="34" charset="-122"/>
                <a:cs typeface="Aptos" pitchFamily="34" charset="-120"/>
              </a:rPr>
              <a:t>Implementation and Result Discussion</a:t>
            </a:r>
            <a:endParaRPr lang="en-US" sz="1800" dirty="0"/>
          </a:p>
        </p:txBody>
      </p:sp>
      <p:sp>
        <p:nvSpPr>
          <p:cNvPr id="25" name="Shape 23"/>
          <p:cNvSpPr/>
          <p:nvPr/>
        </p:nvSpPr>
        <p:spPr>
          <a:xfrm>
            <a:off x="6629400" y="3236976"/>
            <a:ext cx="109728" cy="109728"/>
          </a:xfrm>
          <a:prstGeom prst="rect">
            <a:avLst/>
          </a:prstGeom>
          <a:solidFill>
            <a:srgbClr val="0F766E"/>
          </a:solidFill>
          <a:ln w="12700">
            <a:solidFill>
              <a:srgbClr val="0F766E"/>
            </a:solidFill>
            <a:prstDash val="solid"/>
          </a:ln>
        </p:spPr>
      </p:sp>
      <p:sp>
        <p:nvSpPr>
          <p:cNvPr id="26" name="Text 24"/>
          <p:cNvSpPr/>
          <p:nvPr/>
        </p:nvSpPr>
        <p:spPr>
          <a:xfrm>
            <a:off x="6885432" y="3172968"/>
            <a:ext cx="4297680" cy="365760"/>
          </a:xfrm>
          <a:prstGeom prst="rect">
            <a:avLst/>
          </a:prstGeom>
          <a:noFill/>
          <a:ln/>
        </p:spPr>
        <p:txBody>
          <a:bodyPr wrap="square" lIns="127" tIns="127" rIns="127" bIns="127" rtlCol="0" anchor="t">
            <a:normAutofit/>
          </a:bodyPr>
          <a:lstStyle/>
          <a:p>
            <a:pPr marL="0" indent="0">
              <a:buNone/>
            </a:pPr>
            <a:r>
              <a:rPr lang="en-US" sz="1800" dirty="0">
                <a:solidFill>
                  <a:srgbClr val="0B1F33"/>
                </a:solidFill>
                <a:latin typeface="Aptos" pitchFamily="34" charset="0"/>
                <a:ea typeface="Aptos" pitchFamily="34" charset="-122"/>
                <a:cs typeface="Aptos" pitchFamily="34" charset="-120"/>
              </a:rPr>
              <a:t>Model Inference Demonstrations</a:t>
            </a:r>
            <a:endParaRPr lang="en-US" sz="1800" dirty="0"/>
          </a:p>
        </p:txBody>
      </p:sp>
      <p:sp>
        <p:nvSpPr>
          <p:cNvPr id="27" name="Shape 25"/>
          <p:cNvSpPr/>
          <p:nvPr/>
        </p:nvSpPr>
        <p:spPr>
          <a:xfrm>
            <a:off x="6629400" y="4023360"/>
            <a:ext cx="109728" cy="109728"/>
          </a:xfrm>
          <a:prstGeom prst="rect">
            <a:avLst/>
          </a:prstGeom>
          <a:solidFill>
            <a:srgbClr val="0F766E"/>
          </a:solidFill>
          <a:ln w="12700">
            <a:solidFill>
              <a:srgbClr val="0F766E"/>
            </a:solidFill>
            <a:prstDash val="solid"/>
          </a:ln>
        </p:spPr>
      </p:sp>
      <p:sp>
        <p:nvSpPr>
          <p:cNvPr id="28" name="Text 26"/>
          <p:cNvSpPr/>
          <p:nvPr/>
        </p:nvSpPr>
        <p:spPr>
          <a:xfrm>
            <a:off x="6885432" y="3959352"/>
            <a:ext cx="4297680" cy="365760"/>
          </a:xfrm>
          <a:prstGeom prst="rect">
            <a:avLst/>
          </a:prstGeom>
          <a:noFill/>
          <a:ln/>
        </p:spPr>
        <p:txBody>
          <a:bodyPr wrap="square" lIns="127" tIns="127" rIns="127" bIns="127" rtlCol="0" anchor="t">
            <a:normAutofit/>
          </a:bodyPr>
          <a:lstStyle/>
          <a:p>
            <a:pPr marL="0" indent="0">
              <a:buNone/>
            </a:pPr>
            <a:r>
              <a:rPr lang="en-US" sz="1800" dirty="0">
                <a:solidFill>
                  <a:srgbClr val="0B1F33"/>
                </a:solidFill>
                <a:latin typeface="Aptos" pitchFamily="34" charset="0"/>
                <a:ea typeface="Aptos" pitchFamily="34" charset="-122"/>
                <a:cs typeface="Aptos" pitchFamily="34" charset="-120"/>
              </a:rPr>
              <a:t>Conclusion and Future Work</a:t>
            </a:r>
            <a:endParaRPr lang="en-US" sz="1800" dirty="0"/>
          </a:p>
        </p:txBody>
      </p:sp>
      <p:sp>
        <p:nvSpPr>
          <p:cNvPr id="29" name="Shape 27"/>
          <p:cNvSpPr/>
          <p:nvPr/>
        </p:nvSpPr>
        <p:spPr>
          <a:xfrm>
            <a:off x="6629400" y="4809744"/>
            <a:ext cx="109728" cy="109728"/>
          </a:xfrm>
          <a:prstGeom prst="rect">
            <a:avLst/>
          </a:prstGeom>
          <a:solidFill>
            <a:srgbClr val="0F766E"/>
          </a:solidFill>
          <a:ln w="12700">
            <a:solidFill>
              <a:srgbClr val="0F766E"/>
            </a:solidFill>
            <a:prstDash val="solid"/>
          </a:ln>
        </p:spPr>
      </p:sp>
      <p:sp>
        <p:nvSpPr>
          <p:cNvPr id="30" name="Text 28"/>
          <p:cNvSpPr/>
          <p:nvPr/>
        </p:nvSpPr>
        <p:spPr>
          <a:xfrm>
            <a:off x="6885432" y="4745736"/>
            <a:ext cx="4297680" cy="365760"/>
          </a:xfrm>
          <a:prstGeom prst="rect">
            <a:avLst/>
          </a:prstGeom>
          <a:noFill/>
          <a:ln/>
        </p:spPr>
        <p:txBody>
          <a:bodyPr wrap="square" lIns="127" tIns="127" rIns="127" bIns="127" rtlCol="0" anchor="t">
            <a:normAutofit/>
          </a:bodyPr>
          <a:lstStyle/>
          <a:p>
            <a:pPr marL="0" indent="0">
              <a:buNone/>
            </a:pPr>
            <a:r>
              <a:rPr lang="en-US" sz="1800" dirty="0">
                <a:solidFill>
                  <a:srgbClr val="0B1F33"/>
                </a:solidFill>
                <a:latin typeface="Aptos" pitchFamily="34" charset="0"/>
                <a:ea typeface="Aptos" pitchFamily="34" charset="-122"/>
                <a:cs typeface="Aptos" pitchFamily="34" charset="-120"/>
              </a:rPr>
              <a:t>References</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F766E"/>
          </a:solidFill>
          <a:ln w="12700">
            <a:solidFill>
              <a:srgbClr val="0F766E"/>
            </a:solidFill>
            <a:prstDash val="solid"/>
          </a:ln>
        </p:spPr>
      </p:sp>
      <p:sp>
        <p:nvSpPr>
          <p:cNvPr id="3" name="Shape 1"/>
          <p:cNvSpPr/>
          <p:nvPr/>
        </p:nvSpPr>
        <p:spPr>
          <a:xfrm>
            <a:off x="0" y="146304"/>
            <a:ext cx="12191695" cy="45720"/>
          </a:xfrm>
          <a:prstGeom prst="rect">
            <a:avLst/>
          </a:prstGeom>
          <a:solidFill>
            <a:srgbClr val="1E3A8A">
              <a:alpha val="80000"/>
            </a:srgbClr>
          </a:solidFill>
          <a:ln w="12700">
            <a:solidFill>
              <a:srgbClr val="1E3A8A">
                <a:alpha val="0"/>
              </a:srgbClr>
            </a:solidFill>
            <a:prstDash val="solid"/>
          </a:ln>
        </p:spPr>
      </p:sp>
      <p:sp>
        <p:nvSpPr>
          <p:cNvPr id="4" name="Text 2"/>
          <p:cNvSpPr/>
          <p:nvPr/>
        </p:nvSpPr>
        <p:spPr>
          <a:xfrm>
            <a:off x="502920" y="384048"/>
            <a:ext cx="11155680" cy="502920"/>
          </a:xfrm>
          <a:prstGeom prst="rect">
            <a:avLst/>
          </a:prstGeom>
          <a:noFill/>
          <a:ln/>
        </p:spPr>
        <p:txBody>
          <a:bodyPr wrap="square" lIns="0" tIns="0" rIns="0" bIns="0" rtlCol="0" anchor="ctr">
            <a:normAutofit/>
          </a:bodyPr>
          <a:lstStyle/>
          <a:p>
            <a:pPr marL="0" indent="0">
              <a:buNone/>
            </a:pPr>
            <a:r>
              <a:rPr lang="en-US" sz="3000" b="1" dirty="0">
                <a:solidFill>
                  <a:srgbClr val="0B1F33"/>
                </a:solidFill>
                <a:latin typeface="Aptos Display" pitchFamily="34" charset="0"/>
                <a:ea typeface="Aptos Display" pitchFamily="34" charset="-122"/>
                <a:cs typeface="Aptos Display" pitchFamily="34" charset="-120"/>
              </a:rPr>
              <a:t>Introduction</a:t>
            </a:r>
            <a:endParaRPr lang="en-US" sz="3000" dirty="0"/>
          </a:p>
        </p:txBody>
      </p:sp>
      <p:sp>
        <p:nvSpPr>
          <p:cNvPr id="5" name="Shape 3"/>
          <p:cNvSpPr/>
          <p:nvPr/>
        </p:nvSpPr>
        <p:spPr>
          <a:xfrm>
            <a:off x="502920" y="960120"/>
            <a:ext cx="2103120" cy="0"/>
          </a:xfrm>
          <a:prstGeom prst="line">
            <a:avLst/>
          </a:prstGeom>
          <a:noFill/>
          <a:ln w="12700">
            <a:solidFill>
              <a:srgbClr val="14B8A6"/>
            </a:solidFill>
            <a:prstDash val="solid"/>
          </a:ln>
        </p:spPr>
      </p:sp>
      <p:sp>
        <p:nvSpPr>
          <p:cNvPr id="6" name="Text 4"/>
          <p:cNvSpPr/>
          <p:nvPr/>
        </p:nvSpPr>
        <p:spPr>
          <a:xfrm>
            <a:off x="11475720" y="6446520"/>
            <a:ext cx="320040" cy="182880"/>
          </a:xfrm>
          <a:prstGeom prst="rect">
            <a:avLst/>
          </a:prstGeom>
          <a:noFill/>
          <a:ln/>
        </p:spPr>
        <p:txBody>
          <a:bodyPr wrap="square" lIns="0" tIns="0" rIns="0" bIns="0" rtlCol="0" anchor="ctr"/>
          <a:lstStyle/>
          <a:p>
            <a:pPr marL="0" indent="0" algn="r">
              <a:buNone/>
            </a:pPr>
            <a:r>
              <a:rPr lang="en-US" sz="900" dirty="0">
                <a:solidFill>
                  <a:srgbClr val="64748B"/>
                </a:solidFill>
                <a:latin typeface="Aptos" pitchFamily="34" charset="0"/>
                <a:ea typeface="Aptos" pitchFamily="34" charset="-122"/>
                <a:cs typeface="Aptos" pitchFamily="34" charset="-120"/>
              </a:rPr>
              <a:t>3</a:t>
            </a:r>
            <a:endParaRPr lang="en-US" sz="900" dirty="0"/>
          </a:p>
        </p:txBody>
      </p:sp>
      <p:sp>
        <p:nvSpPr>
          <p:cNvPr id="7" name="Shape 5"/>
          <p:cNvSpPr/>
          <p:nvPr/>
        </p:nvSpPr>
        <p:spPr>
          <a:xfrm>
            <a:off x="685800" y="1234440"/>
            <a:ext cx="10881360" cy="4983480"/>
          </a:xfrm>
          <a:prstGeom prst="roundRect">
            <a:avLst>
              <a:gd name="adj" fmla="val 1468"/>
            </a:avLst>
          </a:prstGeom>
          <a:solidFill>
            <a:srgbClr val="FFFFFF"/>
          </a:solidFill>
          <a:ln w="12700">
            <a:solidFill>
              <a:srgbClr val="E2E8F0"/>
            </a:solidFill>
            <a:prstDash val="solid"/>
          </a:ln>
          <a:effectLst>
            <a:outerShdw blurRad="12700" dist="50800" dir="2700000" algn="bl" rotWithShape="0">
              <a:srgbClr val="000000">
                <a:alpha val="10000"/>
              </a:srgbClr>
            </a:outerShdw>
          </a:effectLst>
        </p:spPr>
      </p:sp>
      <p:sp>
        <p:nvSpPr>
          <p:cNvPr id="8" name="Shape 6"/>
          <p:cNvSpPr/>
          <p:nvPr/>
        </p:nvSpPr>
        <p:spPr>
          <a:xfrm>
            <a:off x="960120" y="1618488"/>
            <a:ext cx="109728" cy="109728"/>
          </a:xfrm>
          <a:prstGeom prst="rect">
            <a:avLst/>
          </a:prstGeom>
          <a:solidFill>
            <a:srgbClr val="0F766E"/>
          </a:solidFill>
          <a:ln w="12700">
            <a:solidFill>
              <a:srgbClr val="0F766E"/>
            </a:solidFill>
            <a:prstDash val="solid"/>
          </a:ln>
        </p:spPr>
      </p:sp>
      <p:sp>
        <p:nvSpPr>
          <p:cNvPr id="9" name="Text 7"/>
          <p:cNvSpPr/>
          <p:nvPr/>
        </p:nvSpPr>
        <p:spPr>
          <a:xfrm>
            <a:off x="1216152" y="1554480"/>
            <a:ext cx="9966960" cy="749808"/>
          </a:xfrm>
          <a:prstGeom prst="rect">
            <a:avLst/>
          </a:prstGeom>
          <a:noFill/>
          <a:ln/>
        </p:spPr>
        <p:txBody>
          <a:bodyPr wrap="square" lIns="127" tIns="127" rIns="127" bIns="127" rtlCol="0" anchor="t">
            <a:normAutofit/>
          </a:bodyPr>
          <a:lstStyle/>
          <a:p>
            <a:pPr marL="0" indent="0">
              <a:buNone/>
            </a:pPr>
            <a:r>
              <a:rPr lang="en-US" sz="1550" dirty="0">
                <a:solidFill>
                  <a:srgbClr val="0B1F33"/>
                </a:solidFill>
                <a:latin typeface="Aptos" pitchFamily="34" charset="0"/>
                <a:ea typeface="Aptos" pitchFamily="34" charset="-122"/>
                <a:cs typeface="Aptos" pitchFamily="34" charset="-120"/>
              </a:rPr>
              <a:t>With rapid growth of internet, there has been a huge amount of information being made available to the user which often leads to an information overload and thus needs to be organized efficiently.</a:t>
            </a:r>
            <a:endParaRPr lang="en-US" sz="1550" dirty="0"/>
          </a:p>
        </p:txBody>
      </p:sp>
      <p:sp>
        <p:nvSpPr>
          <p:cNvPr id="10" name="Shape 8"/>
          <p:cNvSpPr/>
          <p:nvPr/>
        </p:nvSpPr>
        <p:spPr>
          <a:xfrm>
            <a:off x="960120" y="2734056"/>
            <a:ext cx="109728" cy="109728"/>
          </a:xfrm>
          <a:prstGeom prst="rect">
            <a:avLst/>
          </a:prstGeom>
          <a:solidFill>
            <a:srgbClr val="0F766E"/>
          </a:solidFill>
          <a:ln w="12700">
            <a:solidFill>
              <a:srgbClr val="0F766E"/>
            </a:solidFill>
            <a:prstDash val="solid"/>
          </a:ln>
        </p:spPr>
      </p:sp>
      <p:sp>
        <p:nvSpPr>
          <p:cNvPr id="11" name="Text 9"/>
          <p:cNvSpPr/>
          <p:nvPr/>
        </p:nvSpPr>
        <p:spPr>
          <a:xfrm>
            <a:off x="1216152" y="2670048"/>
            <a:ext cx="9966960" cy="749808"/>
          </a:xfrm>
          <a:prstGeom prst="rect">
            <a:avLst/>
          </a:prstGeom>
          <a:noFill/>
          <a:ln/>
        </p:spPr>
        <p:txBody>
          <a:bodyPr wrap="square" lIns="127" tIns="127" rIns="127" bIns="127" rtlCol="0" anchor="t">
            <a:normAutofit/>
          </a:bodyPr>
          <a:lstStyle/>
          <a:p>
            <a:pPr marL="0" indent="0">
              <a:buNone/>
            </a:pPr>
            <a:r>
              <a:rPr lang="en-US" sz="1550" dirty="0">
                <a:solidFill>
                  <a:srgbClr val="0B1F33"/>
                </a:solidFill>
                <a:latin typeface="Aptos" pitchFamily="34" charset="0"/>
                <a:ea typeface="Aptos" pitchFamily="34" charset="-122"/>
                <a:cs typeface="Aptos" pitchFamily="34" charset="-120"/>
              </a:rPr>
              <a:t>Students often face a dilemma in deciding to choose a career in their life. There are several factors that influence the students when choosing their career path such as their personal aptitudes, educational achievements and their environment.</a:t>
            </a:r>
            <a:endParaRPr lang="en-US" sz="1550" dirty="0"/>
          </a:p>
        </p:txBody>
      </p:sp>
      <p:sp>
        <p:nvSpPr>
          <p:cNvPr id="12" name="Shape 10"/>
          <p:cNvSpPr/>
          <p:nvPr/>
        </p:nvSpPr>
        <p:spPr>
          <a:xfrm>
            <a:off x="960120" y="3849624"/>
            <a:ext cx="109728" cy="109728"/>
          </a:xfrm>
          <a:prstGeom prst="rect">
            <a:avLst/>
          </a:prstGeom>
          <a:solidFill>
            <a:srgbClr val="0F766E"/>
          </a:solidFill>
          <a:ln w="12700">
            <a:solidFill>
              <a:srgbClr val="0F766E"/>
            </a:solidFill>
            <a:prstDash val="solid"/>
          </a:ln>
        </p:spPr>
      </p:sp>
      <p:sp>
        <p:nvSpPr>
          <p:cNvPr id="13" name="Text 11"/>
          <p:cNvSpPr/>
          <p:nvPr/>
        </p:nvSpPr>
        <p:spPr>
          <a:xfrm>
            <a:off x="1216152" y="3785616"/>
            <a:ext cx="9966960" cy="749808"/>
          </a:xfrm>
          <a:prstGeom prst="rect">
            <a:avLst/>
          </a:prstGeom>
          <a:noFill/>
          <a:ln/>
        </p:spPr>
        <p:txBody>
          <a:bodyPr wrap="square" lIns="127" tIns="127" rIns="127" bIns="127" rtlCol="0" anchor="t">
            <a:normAutofit/>
          </a:bodyPr>
          <a:lstStyle/>
          <a:p>
            <a:pPr marL="0" indent="0">
              <a:buNone/>
            </a:pPr>
            <a:r>
              <a:rPr lang="en-US" sz="1550" dirty="0">
                <a:solidFill>
                  <a:srgbClr val="0B1F33"/>
                </a:solidFill>
                <a:latin typeface="Aptos" pitchFamily="34" charset="0"/>
                <a:ea typeface="Aptos" pitchFamily="34" charset="-122"/>
                <a:cs typeface="Aptos" pitchFamily="34" charset="-120"/>
              </a:rPr>
              <a:t>Students have always faced challenges when it comes to getting effective but free guidance with respect to career choices and advice, especially in developing or underdeveloped countries.</a:t>
            </a:r>
            <a:endParaRPr lang="en-US" sz="1550" dirty="0"/>
          </a:p>
        </p:txBody>
      </p:sp>
      <p:sp>
        <p:nvSpPr>
          <p:cNvPr id="14" name="Shape 12"/>
          <p:cNvSpPr/>
          <p:nvPr/>
        </p:nvSpPr>
        <p:spPr>
          <a:xfrm>
            <a:off x="960120" y="4965192"/>
            <a:ext cx="109728" cy="109728"/>
          </a:xfrm>
          <a:prstGeom prst="rect">
            <a:avLst/>
          </a:prstGeom>
          <a:solidFill>
            <a:srgbClr val="0F766E"/>
          </a:solidFill>
          <a:ln w="12700">
            <a:solidFill>
              <a:srgbClr val="0F766E"/>
            </a:solidFill>
            <a:prstDash val="solid"/>
          </a:ln>
        </p:spPr>
      </p:sp>
      <p:sp>
        <p:nvSpPr>
          <p:cNvPr id="15" name="Text 13"/>
          <p:cNvSpPr/>
          <p:nvPr/>
        </p:nvSpPr>
        <p:spPr>
          <a:xfrm>
            <a:off x="1216152" y="4901184"/>
            <a:ext cx="9966960" cy="749808"/>
          </a:xfrm>
          <a:prstGeom prst="rect">
            <a:avLst/>
          </a:prstGeom>
          <a:noFill/>
          <a:ln/>
        </p:spPr>
        <p:txBody>
          <a:bodyPr wrap="square" lIns="127" tIns="127" rIns="127" bIns="127" rtlCol="0" anchor="t">
            <a:normAutofit/>
          </a:bodyPr>
          <a:lstStyle/>
          <a:p>
            <a:pPr marL="0" indent="0">
              <a:buNone/>
            </a:pPr>
            <a:r>
              <a:rPr lang="en-US" sz="1550" dirty="0">
                <a:solidFill>
                  <a:srgbClr val="0B1F33"/>
                </a:solidFill>
                <a:latin typeface="Aptos" pitchFamily="34" charset="0"/>
                <a:ea typeface="Aptos" pitchFamily="34" charset="-122"/>
                <a:cs typeface="Aptos" pitchFamily="34" charset="-120"/>
              </a:rPr>
              <a:t>This large disparity leads to an increasing number of students, who lack the resources to network with other professionals in their dream career roles.</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F766E"/>
          </a:solidFill>
          <a:ln w="12700">
            <a:solidFill>
              <a:srgbClr val="0F766E"/>
            </a:solidFill>
            <a:prstDash val="solid"/>
          </a:ln>
        </p:spPr>
      </p:sp>
      <p:sp>
        <p:nvSpPr>
          <p:cNvPr id="3" name="Shape 1"/>
          <p:cNvSpPr/>
          <p:nvPr/>
        </p:nvSpPr>
        <p:spPr>
          <a:xfrm>
            <a:off x="0" y="146304"/>
            <a:ext cx="12191695" cy="45720"/>
          </a:xfrm>
          <a:prstGeom prst="rect">
            <a:avLst/>
          </a:prstGeom>
          <a:solidFill>
            <a:srgbClr val="1E3A8A">
              <a:alpha val="80000"/>
            </a:srgbClr>
          </a:solidFill>
          <a:ln w="12700">
            <a:solidFill>
              <a:srgbClr val="1E3A8A">
                <a:alpha val="0"/>
              </a:srgbClr>
            </a:solidFill>
            <a:prstDash val="solid"/>
          </a:ln>
        </p:spPr>
      </p:sp>
      <p:sp>
        <p:nvSpPr>
          <p:cNvPr id="4" name="Text 2"/>
          <p:cNvSpPr/>
          <p:nvPr/>
        </p:nvSpPr>
        <p:spPr>
          <a:xfrm>
            <a:off x="502920" y="384048"/>
            <a:ext cx="11155680" cy="502920"/>
          </a:xfrm>
          <a:prstGeom prst="rect">
            <a:avLst/>
          </a:prstGeom>
          <a:noFill/>
          <a:ln/>
        </p:spPr>
        <p:txBody>
          <a:bodyPr wrap="square" lIns="0" tIns="0" rIns="0" bIns="0" rtlCol="0" anchor="ctr">
            <a:normAutofit/>
          </a:bodyPr>
          <a:lstStyle/>
          <a:p>
            <a:pPr marL="0" indent="0">
              <a:buNone/>
            </a:pPr>
            <a:r>
              <a:rPr lang="en-US" sz="3000" b="1" dirty="0">
                <a:solidFill>
                  <a:srgbClr val="0B1F33"/>
                </a:solidFill>
                <a:latin typeface="Aptos Display" pitchFamily="34" charset="0"/>
                <a:ea typeface="Aptos Display" pitchFamily="34" charset="-122"/>
                <a:cs typeface="Aptos Display" pitchFamily="34" charset="-120"/>
              </a:rPr>
              <a:t>Problem Definition</a:t>
            </a:r>
            <a:endParaRPr lang="en-US" sz="3000" dirty="0"/>
          </a:p>
        </p:txBody>
      </p:sp>
      <p:sp>
        <p:nvSpPr>
          <p:cNvPr id="5" name="Shape 3"/>
          <p:cNvSpPr/>
          <p:nvPr/>
        </p:nvSpPr>
        <p:spPr>
          <a:xfrm>
            <a:off x="502920" y="960120"/>
            <a:ext cx="2103120" cy="0"/>
          </a:xfrm>
          <a:prstGeom prst="line">
            <a:avLst/>
          </a:prstGeom>
          <a:noFill/>
          <a:ln w="12700">
            <a:solidFill>
              <a:srgbClr val="14B8A6"/>
            </a:solidFill>
            <a:prstDash val="solid"/>
          </a:ln>
        </p:spPr>
      </p:sp>
      <p:sp>
        <p:nvSpPr>
          <p:cNvPr id="6" name="Text 4"/>
          <p:cNvSpPr/>
          <p:nvPr/>
        </p:nvSpPr>
        <p:spPr>
          <a:xfrm>
            <a:off x="11475720" y="6446520"/>
            <a:ext cx="320040" cy="182880"/>
          </a:xfrm>
          <a:prstGeom prst="rect">
            <a:avLst/>
          </a:prstGeom>
          <a:noFill/>
          <a:ln/>
        </p:spPr>
        <p:txBody>
          <a:bodyPr wrap="square" lIns="0" tIns="0" rIns="0" bIns="0" rtlCol="0" anchor="ctr"/>
          <a:lstStyle/>
          <a:p>
            <a:pPr marL="0" indent="0" algn="r">
              <a:buNone/>
            </a:pPr>
            <a:r>
              <a:rPr lang="en-US" sz="900" dirty="0">
                <a:solidFill>
                  <a:srgbClr val="64748B"/>
                </a:solidFill>
                <a:latin typeface="Aptos" pitchFamily="34" charset="0"/>
                <a:ea typeface="Aptos" pitchFamily="34" charset="-122"/>
                <a:cs typeface="Aptos" pitchFamily="34" charset="-120"/>
              </a:rPr>
              <a:t>4</a:t>
            </a:r>
            <a:endParaRPr lang="en-US" sz="900" dirty="0"/>
          </a:p>
        </p:txBody>
      </p:sp>
      <p:sp>
        <p:nvSpPr>
          <p:cNvPr id="7" name="Shape 5"/>
          <p:cNvSpPr/>
          <p:nvPr/>
        </p:nvSpPr>
        <p:spPr>
          <a:xfrm>
            <a:off x="685800" y="1234440"/>
            <a:ext cx="10881360" cy="5074920"/>
          </a:xfrm>
          <a:prstGeom prst="roundRect">
            <a:avLst>
              <a:gd name="adj" fmla="val 1441"/>
            </a:avLst>
          </a:prstGeom>
          <a:solidFill>
            <a:srgbClr val="FFFFFF"/>
          </a:solidFill>
          <a:ln w="12700">
            <a:solidFill>
              <a:srgbClr val="E2E8F0"/>
            </a:solidFill>
            <a:prstDash val="solid"/>
          </a:ln>
          <a:effectLst>
            <a:outerShdw blurRad="12700" dist="50800" dir="2700000" algn="bl" rotWithShape="0">
              <a:srgbClr val="000000">
                <a:alpha val="10000"/>
              </a:srgbClr>
            </a:outerShdw>
          </a:effectLst>
        </p:spPr>
      </p:sp>
      <p:sp>
        <p:nvSpPr>
          <p:cNvPr id="8" name="Shape 6"/>
          <p:cNvSpPr/>
          <p:nvPr/>
        </p:nvSpPr>
        <p:spPr>
          <a:xfrm>
            <a:off x="960120" y="1636776"/>
            <a:ext cx="109728" cy="109728"/>
          </a:xfrm>
          <a:prstGeom prst="rect">
            <a:avLst/>
          </a:prstGeom>
          <a:solidFill>
            <a:srgbClr val="0F766E"/>
          </a:solidFill>
          <a:ln w="12700">
            <a:solidFill>
              <a:srgbClr val="0F766E"/>
            </a:solidFill>
            <a:prstDash val="solid"/>
          </a:ln>
        </p:spPr>
      </p:sp>
      <p:sp>
        <p:nvSpPr>
          <p:cNvPr id="9" name="Text 7"/>
          <p:cNvSpPr/>
          <p:nvPr/>
        </p:nvSpPr>
        <p:spPr>
          <a:xfrm>
            <a:off x="1216152" y="1572768"/>
            <a:ext cx="10012680" cy="594360"/>
          </a:xfrm>
          <a:prstGeom prst="rect">
            <a:avLst/>
          </a:prstGeom>
          <a:noFill/>
          <a:ln/>
        </p:spPr>
        <p:txBody>
          <a:bodyPr wrap="square" lIns="127" tIns="127" rIns="127" bIns="127" rtlCol="0" anchor="t">
            <a:normAutofit/>
          </a:bodyPr>
          <a:lstStyle/>
          <a:p>
            <a:pPr marL="0" indent="0">
              <a:buNone/>
            </a:pPr>
            <a:r>
              <a:rPr lang="en-US" sz="1550" dirty="0">
                <a:solidFill>
                  <a:srgbClr val="0B1F33"/>
                </a:solidFill>
                <a:latin typeface="Aptos" pitchFamily="34" charset="0"/>
                <a:ea typeface="Aptos" pitchFamily="34" charset="-122"/>
                <a:cs typeface="Aptos" pitchFamily="34" charset="-120"/>
              </a:rPr>
              <a:t>Apart form proficiency skills in various domains and concepts of Computer Science, a candidate’s psychological traits also played an important role in predicting their career.</a:t>
            </a:r>
            <a:endParaRPr lang="en-US" sz="1550" dirty="0"/>
          </a:p>
        </p:txBody>
      </p:sp>
      <p:sp>
        <p:nvSpPr>
          <p:cNvPr id="10" name="Shape 8"/>
          <p:cNvSpPr/>
          <p:nvPr/>
        </p:nvSpPr>
        <p:spPr>
          <a:xfrm>
            <a:off x="960120" y="2395728"/>
            <a:ext cx="109728" cy="109728"/>
          </a:xfrm>
          <a:prstGeom prst="rect">
            <a:avLst/>
          </a:prstGeom>
          <a:solidFill>
            <a:srgbClr val="0F766E"/>
          </a:solidFill>
          <a:ln w="12700">
            <a:solidFill>
              <a:srgbClr val="0F766E"/>
            </a:solidFill>
            <a:prstDash val="solid"/>
          </a:ln>
        </p:spPr>
      </p:sp>
      <p:sp>
        <p:nvSpPr>
          <p:cNvPr id="11" name="Text 9"/>
          <p:cNvSpPr/>
          <p:nvPr/>
        </p:nvSpPr>
        <p:spPr>
          <a:xfrm>
            <a:off x="1216152" y="2331720"/>
            <a:ext cx="10012680" cy="502920"/>
          </a:xfrm>
          <a:prstGeom prst="rect">
            <a:avLst/>
          </a:prstGeom>
          <a:noFill/>
          <a:ln/>
        </p:spPr>
        <p:txBody>
          <a:bodyPr wrap="square" lIns="127" tIns="127" rIns="127" bIns="127" rtlCol="0" anchor="t">
            <a:normAutofit/>
          </a:bodyPr>
          <a:lstStyle/>
          <a:p>
            <a:pPr marL="0" indent="0">
              <a:buNone/>
            </a:pPr>
            <a:r>
              <a:rPr lang="en-US" sz="1550" dirty="0">
                <a:solidFill>
                  <a:srgbClr val="0B1F33"/>
                </a:solidFill>
                <a:latin typeface="Aptos" pitchFamily="34" charset="0"/>
                <a:ea typeface="Aptos" pitchFamily="34" charset="-122"/>
                <a:cs typeface="Aptos" pitchFamily="34" charset="-120"/>
              </a:rPr>
              <a:t>With sufficient literature reviewed and individual datasets obtained, we form our problem definition as:</a:t>
            </a:r>
            <a:endParaRPr lang="en-US" sz="1550" dirty="0"/>
          </a:p>
        </p:txBody>
      </p:sp>
      <p:sp>
        <p:nvSpPr>
          <p:cNvPr id="12" name="Shape 10"/>
          <p:cNvSpPr/>
          <p:nvPr/>
        </p:nvSpPr>
        <p:spPr>
          <a:xfrm>
            <a:off x="1143000" y="3337560"/>
            <a:ext cx="9875520" cy="1325880"/>
          </a:xfrm>
          <a:prstGeom prst="roundRect">
            <a:avLst>
              <a:gd name="adj" fmla="val 5517"/>
            </a:avLst>
          </a:prstGeom>
          <a:solidFill>
            <a:srgbClr val="EEF6FF"/>
          </a:solidFill>
          <a:ln w="12700">
            <a:solidFill>
              <a:srgbClr val="BFDBFE"/>
            </a:solidFill>
            <a:prstDash val="solid"/>
          </a:ln>
        </p:spPr>
      </p:sp>
      <p:sp>
        <p:nvSpPr>
          <p:cNvPr id="13" name="Text 11"/>
          <p:cNvSpPr/>
          <p:nvPr/>
        </p:nvSpPr>
        <p:spPr>
          <a:xfrm>
            <a:off x="1417320" y="3538728"/>
            <a:ext cx="9326880" cy="914400"/>
          </a:xfrm>
          <a:prstGeom prst="rect">
            <a:avLst/>
          </a:prstGeom>
          <a:noFill/>
          <a:ln/>
        </p:spPr>
        <p:txBody>
          <a:bodyPr wrap="square" lIns="0" tIns="0" rIns="0" bIns="0" rtlCol="0" anchor="ctr">
            <a:normAutofit/>
          </a:bodyPr>
          <a:lstStyle/>
          <a:p>
            <a:pPr marL="0" indent="0" algn="ctr">
              <a:buNone/>
            </a:pPr>
            <a:r>
              <a:rPr lang="en-US" sz="1800" b="1" i="1" dirty="0">
                <a:solidFill>
                  <a:srgbClr val="0B1F33"/>
                </a:solidFill>
                <a:latin typeface="Aptos" pitchFamily="34" charset="0"/>
                <a:ea typeface="Aptos" pitchFamily="34" charset="-122"/>
                <a:cs typeface="Aptos" pitchFamily="34" charset="-120"/>
              </a:rPr>
              <a:t>“To combine datasets of psychological traits and proficiency in technological skills</a:t>
            </a:r>
            <a:endParaRPr lang="en-US" sz="1800" dirty="0"/>
          </a:p>
          <a:p>
            <a:pPr marL="0" indent="0" algn="ctr">
              <a:buNone/>
            </a:pPr>
            <a:r>
              <a:rPr lang="en-US" sz="1800" b="1" i="1" dirty="0">
                <a:solidFill>
                  <a:srgbClr val="0B1F33"/>
                </a:solidFill>
                <a:latin typeface="Aptos" pitchFamily="34" charset="0"/>
                <a:ea typeface="Aptos" pitchFamily="34" charset="-122"/>
                <a:cs typeface="Aptos" pitchFamily="34" charset="-120"/>
              </a:rPr>
              <a:t>and apply Machine Learning models to predict the career of an individual in the field</a:t>
            </a:r>
            <a:endParaRPr lang="en-US" sz="1800" dirty="0"/>
          </a:p>
          <a:p>
            <a:pPr marL="0" indent="0" algn="ctr">
              <a:buNone/>
            </a:pPr>
            <a:r>
              <a:rPr lang="en-US" sz="1800" b="1" i="1" dirty="0">
                <a:solidFill>
                  <a:srgbClr val="0B1F33"/>
                </a:solidFill>
                <a:latin typeface="Aptos" pitchFamily="34" charset="0"/>
                <a:ea typeface="Aptos" pitchFamily="34" charset="-122"/>
                <a:cs typeface="Aptos" pitchFamily="34" charset="-120"/>
              </a:rPr>
              <a:t>of Computer Science delivered through an interactive frontend.”</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F766E"/>
          </a:solidFill>
          <a:ln w="12700">
            <a:solidFill>
              <a:srgbClr val="0F766E"/>
            </a:solidFill>
            <a:prstDash val="solid"/>
          </a:ln>
        </p:spPr>
      </p:sp>
      <p:sp>
        <p:nvSpPr>
          <p:cNvPr id="3" name="Shape 1"/>
          <p:cNvSpPr/>
          <p:nvPr/>
        </p:nvSpPr>
        <p:spPr>
          <a:xfrm>
            <a:off x="0" y="146304"/>
            <a:ext cx="12191695" cy="45720"/>
          </a:xfrm>
          <a:prstGeom prst="rect">
            <a:avLst/>
          </a:prstGeom>
          <a:solidFill>
            <a:srgbClr val="1E3A8A">
              <a:alpha val="80000"/>
            </a:srgbClr>
          </a:solidFill>
          <a:ln w="12700">
            <a:solidFill>
              <a:srgbClr val="1E3A8A">
                <a:alpha val="0"/>
              </a:srgbClr>
            </a:solidFill>
            <a:prstDash val="solid"/>
          </a:ln>
        </p:spPr>
      </p:sp>
      <p:sp>
        <p:nvSpPr>
          <p:cNvPr id="4" name="Text 2"/>
          <p:cNvSpPr/>
          <p:nvPr/>
        </p:nvSpPr>
        <p:spPr>
          <a:xfrm>
            <a:off x="502920" y="384048"/>
            <a:ext cx="11155680" cy="502920"/>
          </a:xfrm>
          <a:prstGeom prst="rect">
            <a:avLst/>
          </a:prstGeom>
          <a:noFill/>
          <a:ln/>
        </p:spPr>
        <p:txBody>
          <a:bodyPr wrap="square" lIns="0" tIns="0" rIns="0" bIns="0" rtlCol="0" anchor="ctr">
            <a:normAutofit/>
          </a:bodyPr>
          <a:lstStyle/>
          <a:p>
            <a:pPr marL="0" indent="0">
              <a:buNone/>
            </a:pPr>
            <a:r>
              <a:rPr lang="en-US" sz="2800" b="1" dirty="0">
                <a:solidFill>
                  <a:srgbClr val="0B1F33"/>
                </a:solidFill>
                <a:latin typeface="Aptos Display" pitchFamily="34" charset="0"/>
                <a:ea typeface="Aptos Display" pitchFamily="34" charset="-122"/>
                <a:cs typeface="Aptos Display" pitchFamily="34" charset="-120"/>
              </a:rPr>
              <a:t>Literature Survey</a:t>
            </a:r>
            <a:endParaRPr lang="en-US" sz="2800" dirty="0"/>
          </a:p>
        </p:txBody>
      </p:sp>
      <p:sp>
        <p:nvSpPr>
          <p:cNvPr id="5" name="Shape 3"/>
          <p:cNvSpPr/>
          <p:nvPr/>
        </p:nvSpPr>
        <p:spPr>
          <a:xfrm>
            <a:off x="502920" y="960120"/>
            <a:ext cx="2103120" cy="0"/>
          </a:xfrm>
          <a:prstGeom prst="line">
            <a:avLst/>
          </a:prstGeom>
          <a:noFill/>
          <a:ln w="12700">
            <a:solidFill>
              <a:srgbClr val="14B8A6"/>
            </a:solidFill>
            <a:prstDash val="solid"/>
          </a:ln>
        </p:spPr>
      </p:sp>
      <p:sp>
        <p:nvSpPr>
          <p:cNvPr id="6" name="Text 4"/>
          <p:cNvSpPr/>
          <p:nvPr/>
        </p:nvSpPr>
        <p:spPr>
          <a:xfrm>
            <a:off x="11475720" y="6446520"/>
            <a:ext cx="320040" cy="182880"/>
          </a:xfrm>
          <a:prstGeom prst="rect">
            <a:avLst/>
          </a:prstGeom>
          <a:noFill/>
          <a:ln/>
        </p:spPr>
        <p:txBody>
          <a:bodyPr wrap="square" lIns="0" tIns="0" rIns="0" bIns="0" rtlCol="0" anchor="ctr"/>
          <a:lstStyle/>
          <a:p>
            <a:pPr marL="0" indent="0" algn="r">
              <a:buNone/>
            </a:pPr>
            <a:r>
              <a:rPr lang="en-US" sz="900" dirty="0">
                <a:solidFill>
                  <a:srgbClr val="64748B"/>
                </a:solidFill>
                <a:latin typeface="Aptos" pitchFamily="34" charset="0"/>
                <a:ea typeface="Aptos" pitchFamily="34" charset="-122"/>
                <a:cs typeface="Aptos" pitchFamily="34" charset="-120"/>
              </a:rPr>
              <a:t>5</a:t>
            </a:r>
            <a:endParaRPr lang="en-US" sz="900" dirty="0"/>
          </a:p>
        </p:txBody>
      </p:sp>
      <p:graphicFrame>
        <p:nvGraphicFramePr>
          <p:cNvPr id="7" name="Table 0"/>
          <p:cNvGraphicFramePr>
            <a:graphicFrameLocks noGrp="1"/>
          </p:cNvGraphicFramePr>
          <p:nvPr>
            <p:extLst>
              <p:ext uri="{D42A27DB-BD31-4B8C-83A1-F6EECF244321}">
                <p14:modId xmlns:p14="http://schemas.microsoft.com/office/powerpoint/2010/main" val="832703066"/>
              </p:ext>
            </p:extLst>
          </p:nvPr>
        </p:nvGraphicFramePr>
        <p:xfrm>
          <a:off x="320040" y="1097280"/>
          <a:ext cx="11539728" cy="5355336"/>
        </p:xfrm>
        <a:graphic>
          <a:graphicData uri="http://schemas.openxmlformats.org/drawingml/2006/table">
            <a:tbl>
              <a:tblPr/>
              <a:tblGrid>
                <a:gridCol w="1828800">
                  <a:extLst>
                    <a:ext uri="{9D8B030D-6E8A-4147-A177-3AD203B41FA5}">
                      <a16:colId xmlns:a16="http://schemas.microsoft.com/office/drawing/2014/main" val="20000"/>
                    </a:ext>
                  </a:extLst>
                </a:gridCol>
                <a:gridCol w="5257800">
                  <a:extLst>
                    <a:ext uri="{9D8B030D-6E8A-4147-A177-3AD203B41FA5}">
                      <a16:colId xmlns:a16="http://schemas.microsoft.com/office/drawing/2014/main" val="20001"/>
                    </a:ext>
                  </a:extLst>
                </a:gridCol>
                <a:gridCol w="4453128">
                  <a:extLst>
                    <a:ext uri="{9D8B030D-6E8A-4147-A177-3AD203B41FA5}">
                      <a16:colId xmlns:a16="http://schemas.microsoft.com/office/drawing/2014/main" val="20002"/>
                    </a:ext>
                  </a:extLst>
                </a:gridCol>
              </a:tblGrid>
              <a:tr h="411480">
                <a:tc>
                  <a:txBody>
                    <a:bodyPr/>
                    <a:lstStyle/>
                    <a:p>
                      <a:pPr marL="0" indent="0" algn="ctr">
                        <a:buNone/>
                      </a:pPr>
                      <a:r>
                        <a:rPr lang="en-US" sz="1400" b="1" dirty="0">
                          <a:solidFill>
                            <a:srgbClr val="FFFFFF"/>
                          </a:solidFill>
                          <a:latin typeface="Aptos" pitchFamily="34" charset="0"/>
                          <a:ea typeface="Aptos" pitchFamily="34" charset="-122"/>
                          <a:cs typeface="Aptos" pitchFamily="34" charset="-120"/>
                        </a:rPr>
                        <a:t>Approaches</a:t>
                      </a:r>
                      <a:endParaRPr lang="en-US" sz="1400" dirty="0">
                        <a:latin typeface="Aptos" charset="0"/>
                        <a:ea typeface="Aptos" charset="0"/>
                        <a:cs typeface="Aptos" charset="0"/>
                      </a:endParaRPr>
                    </a:p>
                  </a:txBody>
                  <a:tcPr marL="64008" marR="64008" marT="64008" marB="64008">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1E3A8A"/>
                    </a:solidFill>
                  </a:tcPr>
                </a:tc>
                <a:tc>
                  <a:txBody>
                    <a:bodyPr/>
                    <a:lstStyle/>
                    <a:p>
                      <a:pPr marL="0" indent="0" algn="ctr">
                        <a:buNone/>
                      </a:pPr>
                      <a:r>
                        <a:rPr lang="en-US" sz="1400" b="1" dirty="0">
                          <a:solidFill>
                            <a:srgbClr val="FFFFFF"/>
                          </a:solidFill>
                          <a:latin typeface="Aptos" pitchFamily="34" charset="0"/>
                          <a:ea typeface="Aptos" pitchFamily="34" charset="-122"/>
                          <a:cs typeface="Aptos" pitchFamily="34" charset="-120"/>
                        </a:rPr>
                        <a:t>Advantages</a:t>
                      </a:r>
                      <a:endParaRPr lang="en-US" sz="1400" dirty="0">
                        <a:latin typeface="Aptos" charset="0"/>
                        <a:ea typeface="Aptos" charset="0"/>
                        <a:cs typeface="Aptos" charset="0"/>
                      </a:endParaRPr>
                    </a:p>
                  </a:txBody>
                  <a:tcPr marL="64008" marR="64008" marT="64008" marB="64008">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1E3A8A"/>
                    </a:solidFill>
                  </a:tcPr>
                </a:tc>
                <a:tc>
                  <a:txBody>
                    <a:bodyPr/>
                    <a:lstStyle/>
                    <a:p>
                      <a:pPr marL="0" indent="0" algn="ctr">
                        <a:buNone/>
                      </a:pPr>
                      <a:r>
                        <a:rPr lang="en-US" sz="1400" b="1" dirty="0">
                          <a:solidFill>
                            <a:srgbClr val="FFFFFF"/>
                          </a:solidFill>
                          <a:latin typeface="Aptos" pitchFamily="34" charset="0"/>
                          <a:ea typeface="Aptos" pitchFamily="34" charset="-122"/>
                          <a:cs typeface="Aptos" pitchFamily="34" charset="-120"/>
                        </a:rPr>
                        <a:t>Disadvantages</a:t>
                      </a:r>
                      <a:endParaRPr lang="en-US" sz="1400" dirty="0">
                        <a:latin typeface="Aptos" charset="0"/>
                        <a:ea typeface="Aptos" charset="0"/>
                        <a:cs typeface="Aptos" charset="0"/>
                      </a:endParaRPr>
                    </a:p>
                  </a:txBody>
                  <a:tcPr marL="64008" marR="64008" marT="64008" marB="64008">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solidFill>
                      <a:srgbClr val="1E3A8A"/>
                    </a:solidFill>
                  </a:tcPr>
                </a:tc>
                <a:extLst>
                  <a:ext uri="{0D108BD9-81ED-4DB2-BD59-A6C34878D82A}">
                    <a16:rowId xmlns:a16="http://schemas.microsoft.com/office/drawing/2014/main" val="10000"/>
                  </a:ext>
                </a:extLst>
              </a:tr>
              <a:tr h="932688">
                <a:tc>
                  <a:txBody>
                    <a:bodyPr/>
                    <a:lstStyle/>
                    <a:p>
                      <a:pPr marL="0" indent="0">
                        <a:buNone/>
                      </a:pPr>
                      <a:r>
                        <a:rPr lang="en-US" sz="1400" dirty="0">
                          <a:solidFill>
                            <a:srgbClr val="0B1F33"/>
                          </a:solidFill>
                          <a:latin typeface="Aptos" pitchFamily="34" charset="0"/>
                          <a:ea typeface="Aptos" pitchFamily="34" charset="-122"/>
                          <a:cs typeface="Aptos" pitchFamily="34" charset="-120"/>
                        </a:rPr>
                        <a:t>Data Mining &amp;</a:t>
                      </a:r>
                      <a:endParaRPr lang="en-US" sz="1400" dirty="0">
                        <a:latin typeface="Aptos" charset="0"/>
                        <a:ea typeface="Aptos" charset="0"/>
                        <a:cs typeface="Aptos" charset="0"/>
                      </a:endParaRPr>
                    </a:p>
                    <a:p>
                      <a:pPr marL="0" indent="0">
                        <a:buNone/>
                      </a:pPr>
                      <a:r>
                        <a:rPr lang="en-US" sz="1400" dirty="0">
                          <a:solidFill>
                            <a:srgbClr val="0B1F33"/>
                          </a:solidFill>
                          <a:latin typeface="Aptos" pitchFamily="34" charset="0"/>
                          <a:ea typeface="Aptos" pitchFamily="34" charset="-122"/>
                          <a:cs typeface="Aptos" pitchFamily="34" charset="-120"/>
                        </a:rPr>
                        <a:t>Machine Learning</a:t>
                      </a:r>
                      <a:endParaRPr lang="en-US" sz="1400" dirty="0">
                        <a:latin typeface="Aptos" charset="0"/>
                        <a:ea typeface="Aptos" charset="0"/>
                        <a:cs typeface="Aptos" charset="0"/>
                      </a:endParaRPr>
                    </a:p>
                  </a:txBody>
                  <a:tcPr marL="64008" marR="64008" marT="64008" marB="64008">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tcPr>
                </a:tc>
                <a:tc>
                  <a:txBody>
                    <a:bodyPr/>
                    <a:lstStyle/>
                    <a:p>
                      <a:pPr marL="0" indent="0">
                        <a:buNone/>
                      </a:pPr>
                      <a:r>
                        <a:rPr lang="en-US" sz="1400" dirty="0">
                          <a:solidFill>
                            <a:srgbClr val="0B1F33"/>
                          </a:solidFill>
                          <a:latin typeface="Aptos" pitchFamily="34" charset="0"/>
                          <a:ea typeface="Aptos" pitchFamily="34" charset="-122"/>
                          <a:cs typeface="Aptos" pitchFamily="34" charset="-120"/>
                        </a:rPr>
                        <a:t>• When it is exposed to new data, it changes to accommodate the new data points.</a:t>
                      </a:r>
                      <a:endParaRPr lang="en-US" sz="1400" dirty="0">
                        <a:latin typeface="Aptos" charset="0"/>
                        <a:ea typeface="Aptos" charset="0"/>
                        <a:cs typeface="Aptos" charset="0"/>
                      </a:endParaRPr>
                    </a:p>
                    <a:p>
                      <a:pPr marL="0" indent="0">
                        <a:buNone/>
                      </a:pPr>
                      <a:r>
                        <a:rPr lang="en-US" sz="1400" dirty="0">
                          <a:solidFill>
                            <a:srgbClr val="0B1F33"/>
                          </a:solidFill>
                          <a:latin typeface="Aptos" pitchFamily="34" charset="0"/>
                          <a:ea typeface="Aptos" pitchFamily="34" charset="-122"/>
                          <a:cs typeface="Aptos" pitchFamily="34" charset="-120"/>
                        </a:rPr>
                        <a:t>• Handling multi-dimensional data</a:t>
                      </a:r>
                      <a:endParaRPr lang="en-US" sz="1400" dirty="0">
                        <a:latin typeface="Aptos" charset="0"/>
                        <a:ea typeface="Aptos" charset="0"/>
                        <a:cs typeface="Aptos" charset="0"/>
                      </a:endParaRPr>
                    </a:p>
                    <a:p>
                      <a:pPr marL="0" indent="0">
                        <a:buNone/>
                      </a:pPr>
                      <a:r>
                        <a:rPr lang="en-US" sz="1400" dirty="0">
                          <a:solidFill>
                            <a:srgbClr val="0B1F33"/>
                          </a:solidFill>
                          <a:latin typeface="Aptos" pitchFamily="34" charset="0"/>
                          <a:ea typeface="Aptos" pitchFamily="34" charset="-122"/>
                          <a:cs typeface="Aptos" pitchFamily="34" charset="-120"/>
                        </a:rPr>
                        <a:t>• Automated process</a:t>
                      </a:r>
                      <a:endParaRPr lang="en-US" sz="1400" dirty="0">
                        <a:latin typeface="Aptos" charset="0"/>
                        <a:ea typeface="Aptos" charset="0"/>
                        <a:cs typeface="Aptos" charset="0"/>
                      </a:endParaRPr>
                    </a:p>
                  </a:txBody>
                  <a:tcPr marL="64008" marR="64008" marT="64008" marB="64008">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tcPr>
                </a:tc>
                <a:tc>
                  <a:txBody>
                    <a:bodyPr/>
                    <a:lstStyle/>
                    <a:p>
                      <a:pPr marL="0" indent="0">
                        <a:buNone/>
                      </a:pPr>
                      <a:r>
                        <a:rPr lang="en-US" sz="1400" dirty="0">
                          <a:solidFill>
                            <a:srgbClr val="0B1F33"/>
                          </a:solidFill>
                          <a:latin typeface="Aptos" pitchFamily="34" charset="0"/>
                          <a:ea typeface="Aptos" pitchFamily="34" charset="-122"/>
                          <a:cs typeface="Aptos" pitchFamily="34" charset="-120"/>
                        </a:rPr>
                        <a:t>• Requires sufficient annotated dataset.</a:t>
                      </a:r>
                      <a:endParaRPr lang="en-US" sz="1400" dirty="0">
                        <a:latin typeface="Aptos" charset="0"/>
                        <a:ea typeface="Aptos" charset="0"/>
                        <a:cs typeface="Aptos" charset="0"/>
                      </a:endParaRPr>
                    </a:p>
                  </a:txBody>
                  <a:tcPr marL="64008" marR="64008" marT="64008" marB="64008">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1"/>
                  </a:ext>
                </a:extLst>
              </a:tr>
              <a:tr h="877824">
                <a:tc>
                  <a:txBody>
                    <a:bodyPr/>
                    <a:lstStyle/>
                    <a:p>
                      <a:pPr marL="0" indent="0">
                        <a:buNone/>
                      </a:pPr>
                      <a:r>
                        <a:rPr lang="en-US" sz="1400" dirty="0">
                          <a:solidFill>
                            <a:srgbClr val="0B1F33"/>
                          </a:solidFill>
                          <a:latin typeface="Aptos" pitchFamily="34" charset="0"/>
                          <a:ea typeface="Aptos" pitchFamily="34" charset="-122"/>
                          <a:cs typeface="Aptos" pitchFamily="34" charset="-120"/>
                        </a:rPr>
                        <a:t>Recommendation</a:t>
                      </a:r>
                      <a:endParaRPr lang="en-US" sz="1400" dirty="0">
                        <a:latin typeface="Aptos" charset="0"/>
                        <a:ea typeface="Aptos" charset="0"/>
                        <a:cs typeface="Aptos" charset="0"/>
                      </a:endParaRPr>
                    </a:p>
                    <a:p>
                      <a:pPr marL="0" indent="0">
                        <a:buNone/>
                      </a:pPr>
                      <a:r>
                        <a:rPr lang="en-US" sz="1400" dirty="0">
                          <a:solidFill>
                            <a:srgbClr val="0B1F33"/>
                          </a:solidFill>
                          <a:latin typeface="Aptos" pitchFamily="34" charset="0"/>
                          <a:ea typeface="Aptos" pitchFamily="34" charset="-122"/>
                          <a:cs typeface="Aptos" pitchFamily="34" charset="-120"/>
                        </a:rPr>
                        <a:t>System</a:t>
                      </a:r>
                      <a:endParaRPr lang="en-US" sz="1400" dirty="0">
                        <a:latin typeface="Aptos" charset="0"/>
                        <a:ea typeface="Aptos" charset="0"/>
                        <a:cs typeface="Aptos" charset="0"/>
                      </a:endParaRPr>
                    </a:p>
                  </a:txBody>
                  <a:tcPr marL="64008" marR="64008" marT="64008" marB="64008">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tcPr>
                </a:tc>
                <a:tc>
                  <a:txBody>
                    <a:bodyPr/>
                    <a:lstStyle/>
                    <a:p>
                      <a:pPr marL="0" indent="0">
                        <a:buNone/>
                      </a:pPr>
                      <a:r>
                        <a:rPr lang="en-US" sz="1400" dirty="0">
                          <a:solidFill>
                            <a:srgbClr val="0B1F33"/>
                          </a:solidFill>
                          <a:latin typeface="Aptos" pitchFamily="34" charset="0"/>
                          <a:ea typeface="Aptos" pitchFamily="34" charset="-122"/>
                          <a:cs typeface="Aptos" pitchFamily="34" charset="-120"/>
                        </a:rPr>
                        <a:t>• Does not require specific domain knowledge</a:t>
                      </a:r>
                      <a:endParaRPr lang="en-US" sz="1400" dirty="0">
                        <a:latin typeface="Aptos" charset="0"/>
                        <a:ea typeface="Aptos" charset="0"/>
                        <a:cs typeface="Aptos" charset="0"/>
                      </a:endParaRPr>
                    </a:p>
                    <a:p>
                      <a:pPr marL="0" indent="0">
                        <a:buNone/>
                      </a:pPr>
                      <a:r>
                        <a:rPr lang="en-US" sz="1400" dirty="0">
                          <a:solidFill>
                            <a:srgbClr val="0B1F33"/>
                          </a:solidFill>
                          <a:latin typeface="Aptos" pitchFamily="34" charset="0"/>
                          <a:ea typeface="Aptos" pitchFamily="34" charset="-122"/>
                          <a:cs typeface="Aptos" pitchFamily="34" charset="-120"/>
                        </a:rPr>
                        <a:t>• Recommendations given not in an isolated sense but based on similar users interest too</a:t>
                      </a:r>
                      <a:endParaRPr lang="en-US" sz="1400" dirty="0">
                        <a:latin typeface="Aptos" charset="0"/>
                        <a:ea typeface="Aptos" charset="0"/>
                        <a:cs typeface="Aptos" charset="0"/>
                      </a:endParaRPr>
                    </a:p>
                  </a:txBody>
                  <a:tcPr marL="64008" marR="64008" marT="64008" marB="64008">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tcPr>
                </a:tc>
                <a:tc>
                  <a:txBody>
                    <a:bodyPr/>
                    <a:lstStyle/>
                    <a:p>
                      <a:pPr marL="0" indent="0">
                        <a:buNone/>
                      </a:pPr>
                      <a:r>
                        <a:rPr lang="en-US" sz="1400" dirty="0">
                          <a:solidFill>
                            <a:srgbClr val="0B1F33"/>
                          </a:solidFill>
                          <a:latin typeface="Aptos" pitchFamily="34" charset="0"/>
                          <a:ea typeface="Aptos" pitchFamily="34" charset="-122"/>
                          <a:cs typeface="Aptos" pitchFamily="34" charset="-120"/>
                        </a:rPr>
                        <a:t>• Scalability</a:t>
                      </a:r>
                      <a:endParaRPr lang="en-US" sz="1400" dirty="0">
                        <a:latin typeface="Aptos" charset="0"/>
                        <a:ea typeface="Aptos" charset="0"/>
                        <a:cs typeface="Aptos" charset="0"/>
                      </a:endParaRPr>
                    </a:p>
                    <a:p>
                      <a:pPr marL="0" indent="0">
                        <a:buNone/>
                      </a:pPr>
                      <a:r>
                        <a:rPr lang="en-US" sz="1400" dirty="0">
                          <a:solidFill>
                            <a:srgbClr val="0B1F33"/>
                          </a:solidFill>
                          <a:latin typeface="Aptos" pitchFamily="34" charset="0"/>
                          <a:ea typeface="Aptos" pitchFamily="34" charset="-122"/>
                          <a:cs typeface="Aptos" pitchFamily="34" charset="-120"/>
                        </a:rPr>
                        <a:t>• Limited choice of algorithms</a:t>
                      </a:r>
                      <a:endParaRPr lang="en-US" sz="1400" dirty="0">
                        <a:latin typeface="Aptos" charset="0"/>
                        <a:ea typeface="Aptos" charset="0"/>
                        <a:cs typeface="Aptos" charset="0"/>
                      </a:endParaRPr>
                    </a:p>
                    <a:p>
                      <a:pPr marL="0" indent="0">
                        <a:buNone/>
                      </a:pPr>
                      <a:r>
                        <a:rPr lang="en-US" sz="1400" dirty="0">
                          <a:solidFill>
                            <a:srgbClr val="0B1F33"/>
                          </a:solidFill>
                          <a:latin typeface="Aptos" pitchFamily="34" charset="0"/>
                          <a:ea typeface="Aptos" pitchFamily="34" charset="-122"/>
                          <a:cs typeface="Aptos" pitchFamily="34" charset="-120"/>
                        </a:rPr>
                        <a:t>• Limited adaptability to changing</a:t>
                      </a:r>
                      <a:endParaRPr lang="en-US" sz="1400" dirty="0">
                        <a:latin typeface="Aptos" charset="0"/>
                        <a:ea typeface="Aptos" charset="0"/>
                        <a:cs typeface="Aptos" charset="0"/>
                      </a:endParaRPr>
                    </a:p>
                  </a:txBody>
                  <a:tcPr marL="64008" marR="64008" marT="64008" marB="64008">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2"/>
                  </a:ext>
                </a:extLst>
              </a:tr>
              <a:tr h="1051560">
                <a:tc>
                  <a:txBody>
                    <a:bodyPr/>
                    <a:lstStyle/>
                    <a:p>
                      <a:pPr marL="0" indent="0">
                        <a:buNone/>
                      </a:pPr>
                      <a:r>
                        <a:rPr lang="en-US" sz="1400" dirty="0">
                          <a:solidFill>
                            <a:srgbClr val="0B1F33"/>
                          </a:solidFill>
                          <a:latin typeface="Aptos" pitchFamily="34" charset="0"/>
                          <a:ea typeface="Aptos" pitchFamily="34" charset="-122"/>
                          <a:cs typeface="Aptos" pitchFamily="34" charset="-120"/>
                        </a:rPr>
                        <a:t>Expert Systems and</a:t>
                      </a:r>
                      <a:endParaRPr lang="en-US" sz="1400" dirty="0">
                        <a:latin typeface="Aptos" charset="0"/>
                        <a:ea typeface="Aptos" charset="0"/>
                        <a:cs typeface="Aptos" charset="0"/>
                      </a:endParaRPr>
                    </a:p>
                    <a:p>
                      <a:pPr marL="0" indent="0">
                        <a:buNone/>
                      </a:pPr>
                      <a:r>
                        <a:rPr lang="en-US" sz="1400" dirty="0">
                          <a:solidFill>
                            <a:srgbClr val="0B1F33"/>
                          </a:solidFill>
                          <a:latin typeface="Aptos" pitchFamily="34" charset="0"/>
                          <a:ea typeface="Aptos" pitchFamily="34" charset="-122"/>
                          <a:cs typeface="Aptos" pitchFamily="34" charset="-120"/>
                        </a:rPr>
                        <a:t>Fuzzy Logic</a:t>
                      </a:r>
                      <a:endParaRPr lang="en-US" sz="1400" dirty="0">
                        <a:latin typeface="Aptos" charset="0"/>
                        <a:ea typeface="Aptos" charset="0"/>
                        <a:cs typeface="Aptos" charset="0"/>
                      </a:endParaRPr>
                    </a:p>
                  </a:txBody>
                  <a:tcPr marL="64008" marR="64008" marT="64008" marB="64008">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tcPr>
                </a:tc>
                <a:tc>
                  <a:txBody>
                    <a:bodyPr/>
                    <a:lstStyle/>
                    <a:p>
                      <a:pPr marL="0" indent="0">
                        <a:buNone/>
                      </a:pPr>
                      <a:r>
                        <a:rPr lang="en-US" sz="1400" dirty="0">
                          <a:solidFill>
                            <a:srgbClr val="0B1F33"/>
                          </a:solidFill>
                          <a:latin typeface="Aptos" pitchFamily="34" charset="0"/>
                          <a:ea typeface="Aptos" pitchFamily="34" charset="-122"/>
                          <a:cs typeface="Aptos" pitchFamily="34" charset="-120"/>
                        </a:rPr>
                        <a:t>• Make things more efficient by reducing the time needed to solve problems</a:t>
                      </a:r>
                      <a:endParaRPr lang="en-US" sz="1400" dirty="0">
                        <a:latin typeface="Aptos" charset="0"/>
                        <a:ea typeface="Aptos" charset="0"/>
                        <a:cs typeface="Aptos" charset="0"/>
                      </a:endParaRPr>
                    </a:p>
                    <a:p>
                      <a:pPr marL="0" indent="0">
                        <a:buNone/>
                      </a:pPr>
                      <a:r>
                        <a:rPr lang="en-US" sz="1400" dirty="0">
                          <a:solidFill>
                            <a:srgbClr val="0B1F33"/>
                          </a:solidFill>
                          <a:latin typeface="Aptos" pitchFamily="34" charset="0"/>
                          <a:ea typeface="Aptos" pitchFamily="34" charset="-122"/>
                          <a:cs typeface="Aptos" pitchFamily="34" charset="-120"/>
                        </a:rPr>
                        <a:t>• These systems are able to accommodate several types of inputs including vague, distorted or imprecise data.</a:t>
                      </a:r>
                      <a:endParaRPr lang="en-US" sz="1400" dirty="0">
                        <a:latin typeface="Aptos" charset="0"/>
                        <a:ea typeface="Aptos" charset="0"/>
                        <a:cs typeface="Aptos" charset="0"/>
                      </a:endParaRPr>
                    </a:p>
                  </a:txBody>
                  <a:tcPr marL="64008" marR="64008" marT="64008" marB="64008">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tcPr>
                </a:tc>
                <a:tc>
                  <a:txBody>
                    <a:bodyPr/>
                    <a:lstStyle/>
                    <a:p>
                      <a:pPr marL="0" indent="0">
                        <a:buNone/>
                      </a:pPr>
                      <a:r>
                        <a:rPr lang="en-US" sz="1400" dirty="0">
                          <a:solidFill>
                            <a:srgbClr val="0B1F33"/>
                          </a:solidFill>
                          <a:latin typeface="Aptos" pitchFamily="34" charset="0"/>
                          <a:ea typeface="Aptos" pitchFamily="34" charset="-122"/>
                          <a:cs typeface="Aptos" pitchFamily="34" charset="-120"/>
                        </a:rPr>
                        <a:t>• Dependant on human knowledge</a:t>
                      </a:r>
                      <a:endParaRPr lang="en-US" sz="1400" dirty="0">
                        <a:latin typeface="Aptos" charset="0"/>
                        <a:ea typeface="Aptos" charset="0"/>
                        <a:cs typeface="Aptos" charset="0"/>
                      </a:endParaRPr>
                    </a:p>
                    <a:p>
                      <a:pPr marL="0" indent="0">
                        <a:buNone/>
                      </a:pPr>
                      <a:r>
                        <a:rPr lang="en-US" sz="1400" dirty="0">
                          <a:solidFill>
                            <a:srgbClr val="0B1F33"/>
                          </a:solidFill>
                          <a:latin typeface="Aptos" pitchFamily="34" charset="0"/>
                          <a:ea typeface="Aptos" pitchFamily="34" charset="-122"/>
                          <a:cs typeface="Aptos" pitchFamily="34" charset="-120"/>
                        </a:rPr>
                        <a:t>• Regular updates required</a:t>
                      </a:r>
                      <a:endParaRPr lang="en-US" sz="1400" dirty="0">
                        <a:latin typeface="Aptos" charset="0"/>
                        <a:ea typeface="Aptos" charset="0"/>
                        <a:cs typeface="Aptos" charset="0"/>
                      </a:endParaRPr>
                    </a:p>
                  </a:txBody>
                  <a:tcPr marL="64008" marR="64008" marT="64008" marB="64008">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3"/>
                  </a:ext>
                </a:extLst>
              </a:tr>
              <a:tr h="1051560">
                <a:tc>
                  <a:txBody>
                    <a:bodyPr/>
                    <a:lstStyle/>
                    <a:p>
                      <a:pPr marL="0" indent="0">
                        <a:buNone/>
                      </a:pPr>
                      <a:r>
                        <a:rPr lang="en-US" sz="1400" dirty="0">
                          <a:solidFill>
                            <a:srgbClr val="0B1F33"/>
                          </a:solidFill>
                          <a:latin typeface="Aptos" pitchFamily="34" charset="0"/>
                          <a:ea typeface="Aptos" pitchFamily="34" charset="-122"/>
                          <a:cs typeface="Aptos" pitchFamily="34" charset="-120"/>
                        </a:rPr>
                        <a:t>Reinforcement</a:t>
                      </a:r>
                      <a:endParaRPr lang="en-US" sz="1400" dirty="0">
                        <a:latin typeface="Aptos" charset="0"/>
                        <a:ea typeface="Aptos" charset="0"/>
                        <a:cs typeface="Aptos" charset="0"/>
                      </a:endParaRPr>
                    </a:p>
                    <a:p>
                      <a:pPr marL="0" indent="0">
                        <a:buNone/>
                      </a:pPr>
                      <a:r>
                        <a:rPr lang="en-US" sz="1400" dirty="0">
                          <a:solidFill>
                            <a:srgbClr val="0B1F33"/>
                          </a:solidFill>
                          <a:latin typeface="Aptos" pitchFamily="34" charset="0"/>
                          <a:ea typeface="Aptos" pitchFamily="34" charset="-122"/>
                          <a:cs typeface="Aptos" pitchFamily="34" charset="-120"/>
                        </a:rPr>
                        <a:t>Learning</a:t>
                      </a:r>
                      <a:endParaRPr lang="en-US" sz="1400" dirty="0">
                        <a:latin typeface="Aptos" charset="0"/>
                        <a:ea typeface="Aptos" charset="0"/>
                        <a:cs typeface="Aptos" charset="0"/>
                      </a:endParaRPr>
                    </a:p>
                  </a:txBody>
                  <a:tcPr marL="64008" marR="64008" marT="64008" marB="64008">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tcPr>
                </a:tc>
                <a:tc>
                  <a:txBody>
                    <a:bodyPr/>
                    <a:lstStyle/>
                    <a:p>
                      <a:pPr marL="0" indent="0">
                        <a:buNone/>
                      </a:pPr>
                      <a:r>
                        <a:rPr lang="en-US" sz="1400" dirty="0">
                          <a:solidFill>
                            <a:srgbClr val="0B1F33"/>
                          </a:solidFill>
                          <a:latin typeface="Aptos" pitchFamily="34" charset="0"/>
                          <a:ea typeface="Aptos" pitchFamily="34" charset="-122"/>
                          <a:cs typeface="Aptos" pitchFamily="34" charset="-120"/>
                        </a:rPr>
                        <a:t>• The model can correct the errors that occurred during the training process.</a:t>
                      </a:r>
                      <a:endParaRPr lang="en-US" sz="1400" dirty="0">
                        <a:latin typeface="Aptos" charset="0"/>
                        <a:ea typeface="Aptos" charset="0"/>
                        <a:cs typeface="Aptos" charset="0"/>
                      </a:endParaRPr>
                    </a:p>
                    <a:p>
                      <a:pPr marL="0" indent="0">
                        <a:buNone/>
                      </a:pPr>
                      <a:r>
                        <a:rPr lang="en-US" sz="1400" dirty="0">
                          <a:solidFill>
                            <a:srgbClr val="0B1F33"/>
                          </a:solidFill>
                          <a:latin typeface="Aptos" pitchFamily="34" charset="0"/>
                          <a:ea typeface="Aptos" pitchFamily="34" charset="-122"/>
                          <a:cs typeface="Aptos" pitchFamily="34" charset="-120"/>
                        </a:rPr>
                        <a:t>• Reinforcement learning is Adaptable, it adapts to new environments automatically on the fly.</a:t>
                      </a:r>
                      <a:endParaRPr lang="en-US" sz="1400" dirty="0">
                        <a:latin typeface="Aptos" charset="0"/>
                        <a:ea typeface="Aptos" charset="0"/>
                        <a:cs typeface="Aptos" charset="0"/>
                      </a:endParaRPr>
                    </a:p>
                  </a:txBody>
                  <a:tcPr marL="64008" marR="64008" marT="64008" marB="64008">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tcPr>
                </a:tc>
                <a:tc>
                  <a:txBody>
                    <a:bodyPr/>
                    <a:lstStyle/>
                    <a:p>
                      <a:pPr marL="0" indent="0">
                        <a:buNone/>
                      </a:pPr>
                      <a:r>
                        <a:rPr lang="en-US" sz="1400" dirty="0">
                          <a:solidFill>
                            <a:srgbClr val="0B1F33"/>
                          </a:solidFill>
                          <a:latin typeface="Aptos" pitchFamily="34" charset="0"/>
                          <a:ea typeface="Aptos" pitchFamily="34" charset="-122"/>
                          <a:cs typeface="Aptos" pitchFamily="34" charset="-120"/>
                        </a:rPr>
                        <a:t>• Wrongly assumes world to be markovian.</a:t>
                      </a:r>
                      <a:endParaRPr lang="en-US" sz="1400" dirty="0">
                        <a:latin typeface="Aptos" charset="0"/>
                        <a:ea typeface="Aptos" charset="0"/>
                        <a:cs typeface="Aptos" charset="0"/>
                      </a:endParaRPr>
                    </a:p>
                    <a:p>
                      <a:pPr marL="0" indent="0">
                        <a:buNone/>
                      </a:pPr>
                      <a:r>
                        <a:rPr lang="en-US" sz="1400" dirty="0">
                          <a:solidFill>
                            <a:srgbClr val="0B1F33"/>
                          </a:solidFill>
                          <a:latin typeface="Aptos" pitchFamily="34" charset="0"/>
                          <a:ea typeface="Aptos" pitchFamily="34" charset="-122"/>
                          <a:cs typeface="Aptos" pitchFamily="34" charset="-120"/>
                        </a:rPr>
                        <a:t>• Need for large amount of data.</a:t>
                      </a:r>
                      <a:endParaRPr lang="en-US" sz="1400" dirty="0">
                        <a:latin typeface="Aptos" charset="0"/>
                        <a:ea typeface="Aptos" charset="0"/>
                        <a:cs typeface="Aptos" charset="0"/>
                      </a:endParaRPr>
                    </a:p>
                    <a:p>
                      <a:pPr marL="0" indent="0">
                        <a:buNone/>
                      </a:pPr>
                      <a:r>
                        <a:rPr lang="en-US" sz="1400" dirty="0">
                          <a:solidFill>
                            <a:srgbClr val="0B1F33"/>
                          </a:solidFill>
                          <a:latin typeface="Aptos" pitchFamily="34" charset="0"/>
                          <a:ea typeface="Aptos" pitchFamily="34" charset="-122"/>
                          <a:cs typeface="Aptos" pitchFamily="34" charset="-120"/>
                        </a:rPr>
                        <a:t>• Not suitable for problem statement.</a:t>
                      </a:r>
                      <a:endParaRPr lang="en-US" sz="1400" dirty="0">
                        <a:latin typeface="Aptos" charset="0"/>
                        <a:ea typeface="Aptos" charset="0"/>
                        <a:cs typeface="Aptos" charset="0"/>
                      </a:endParaRPr>
                    </a:p>
                  </a:txBody>
                  <a:tcPr marL="64008" marR="64008" marT="64008" marB="64008">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4"/>
                  </a:ext>
                </a:extLst>
              </a:tr>
              <a:tr h="960120">
                <a:tc>
                  <a:txBody>
                    <a:bodyPr/>
                    <a:lstStyle/>
                    <a:p>
                      <a:pPr marL="0" indent="0">
                        <a:buNone/>
                      </a:pPr>
                      <a:r>
                        <a:rPr lang="en-US" sz="1400" dirty="0">
                          <a:solidFill>
                            <a:srgbClr val="0B1F33"/>
                          </a:solidFill>
                          <a:latin typeface="Aptos" pitchFamily="34" charset="0"/>
                          <a:ea typeface="Aptos" pitchFamily="34" charset="-122"/>
                          <a:cs typeface="Aptos" pitchFamily="34" charset="-120"/>
                        </a:rPr>
                        <a:t>NLP &amp; Chatbot</a:t>
                      </a:r>
                      <a:endParaRPr lang="en-US" sz="1400" dirty="0">
                        <a:latin typeface="Aptos" charset="0"/>
                        <a:ea typeface="Aptos" charset="0"/>
                        <a:cs typeface="Aptos" charset="0"/>
                      </a:endParaRPr>
                    </a:p>
                  </a:txBody>
                  <a:tcPr marL="64008" marR="64008" marT="64008" marB="64008">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tcPr>
                </a:tc>
                <a:tc>
                  <a:txBody>
                    <a:bodyPr/>
                    <a:lstStyle/>
                    <a:p>
                      <a:pPr marL="0" indent="0">
                        <a:buNone/>
                      </a:pPr>
                      <a:r>
                        <a:rPr lang="en-US" sz="1400" dirty="0">
                          <a:solidFill>
                            <a:srgbClr val="0B1F33"/>
                          </a:solidFill>
                          <a:latin typeface="Aptos" pitchFamily="34" charset="0"/>
                          <a:ea typeface="Aptos" pitchFamily="34" charset="-122"/>
                          <a:cs typeface="Aptos" pitchFamily="34" charset="-120"/>
                        </a:rPr>
                        <a:t>• NLP tools help to analyze customer feedback on the go, which helps to continuously upgrade the model.</a:t>
                      </a:r>
                      <a:endParaRPr lang="en-US" sz="1400" dirty="0">
                        <a:latin typeface="Aptos" charset="0"/>
                        <a:ea typeface="Aptos" charset="0"/>
                        <a:cs typeface="Aptos" charset="0"/>
                      </a:endParaRPr>
                    </a:p>
                    <a:p>
                      <a:pPr marL="0" indent="0">
                        <a:buNone/>
                      </a:pPr>
                      <a:r>
                        <a:rPr lang="en-US" sz="1400" dirty="0">
                          <a:solidFill>
                            <a:srgbClr val="0B1F33"/>
                          </a:solidFill>
                          <a:latin typeface="Aptos" pitchFamily="34" charset="0"/>
                          <a:ea typeface="Aptos" pitchFamily="34" charset="-122"/>
                          <a:cs typeface="Aptos" pitchFamily="34" charset="-120"/>
                        </a:rPr>
                        <a:t>• Works good where the model involves scanning candidates’ cv for recommendation</a:t>
                      </a:r>
                      <a:endParaRPr lang="en-US" sz="1400" dirty="0">
                        <a:latin typeface="Aptos" charset="0"/>
                        <a:ea typeface="Aptos" charset="0"/>
                        <a:cs typeface="Aptos" charset="0"/>
                      </a:endParaRPr>
                    </a:p>
                  </a:txBody>
                  <a:tcPr marL="64008" marR="64008" marT="64008" marB="64008">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tcPr>
                </a:tc>
                <a:tc>
                  <a:txBody>
                    <a:bodyPr/>
                    <a:lstStyle/>
                    <a:p>
                      <a:pPr marL="0" indent="0">
                        <a:buNone/>
                      </a:pPr>
                      <a:r>
                        <a:rPr lang="en-US" sz="1400" dirty="0">
                          <a:solidFill>
                            <a:srgbClr val="0B1F33"/>
                          </a:solidFill>
                          <a:latin typeface="Aptos" pitchFamily="34" charset="0"/>
                          <a:ea typeface="Aptos" pitchFamily="34" charset="-122"/>
                          <a:cs typeface="Aptos" pitchFamily="34" charset="-120"/>
                        </a:rPr>
                        <a:t>• Constant maintenance</a:t>
                      </a:r>
                      <a:endParaRPr lang="en-US" sz="1400" dirty="0">
                        <a:latin typeface="Aptos" charset="0"/>
                        <a:ea typeface="Aptos" charset="0"/>
                        <a:cs typeface="Aptos" charset="0"/>
                      </a:endParaRPr>
                    </a:p>
                    <a:p>
                      <a:pPr marL="0" indent="0">
                        <a:buNone/>
                      </a:pPr>
                      <a:r>
                        <a:rPr lang="en-US" sz="1400" dirty="0">
                          <a:solidFill>
                            <a:srgbClr val="0B1F33"/>
                          </a:solidFill>
                          <a:latin typeface="Aptos" pitchFamily="34" charset="0"/>
                          <a:ea typeface="Aptos" pitchFamily="34" charset="-122"/>
                          <a:cs typeface="Aptos" pitchFamily="34" charset="-120"/>
                        </a:rPr>
                        <a:t>• Complex programming</a:t>
                      </a:r>
                      <a:endParaRPr lang="en-US" sz="1400" dirty="0">
                        <a:latin typeface="Aptos" charset="0"/>
                        <a:ea typeface="Aptos" charset="0"/>
                        <a:cs typeface="Aptos" charset="0"/>
                      </a:endParaRPr>
                    </a:p>
                  </a:txBody>
                  <a:tcPr marL="64008" marR="64008" marT="64008" marB="64008">
                    <a:lnL w="10160" cap="flat" cmpd="sng" algn="ctr">
                      <a:solidFill>
                        <a:srgbClr val="CBD5E1"/>
                      </a:solidFill>
                      <a:prstDash val="solid"/>
                      <a:round/>
                      <a:headEnd type="none" w="med" len="med"/>
                      <a:tailEnd type="none" w="med" len="med"/>
                    </a:lnL>
                    <a:lnR w="10160" cap="flat" cmpd="sng" algn="ctr">
                      <a:solidFill>
                        <a:srgbClr val="CBD5E1"/>
                      </a:solidFill>
                      <a:prstDash val="solid"/>
                      <a:round/>
                      <a:headEnd type="none" w="med" len="med"/>
                      <a:tailEnd type="none" w="med" len="med"/>
                    </a:lnR>
                    <a:lnT w="10160" cap="flat" cmpd="sng" algn="ctr">
                      <a:solidFill>
                        <a:srgbClr val="CBD5E1"/>
                      </a:solidFill>
                      <a:prstDash val="solid"/>
                      <a:round/>
                      <a:headEnd type="none" w="med" len="med"/>
                      <a:tailEnd type="none" w="med" len="med"/>
                    </a:lnT>
                    <a:lnB w="1016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F766E"/>
          </a:solidFill>
          <a:ln w="12700">
            <a:solidFill>
              <a:srgbClr val="0F766E"/>
            </a:solidFill>
            <a:prstDash val="solid"/>
          </a:ln>
        </p:spPr>
      </p:sp>
      <p:sp>
        <p:nvSpPr>
          <p:cNvPr id="3" name="Shape 1"/>
          <p:cNvSpPr/>
          <p:nvPr/>
        </p:nvSpPr>
        <p:spPr>
          <a:xfrm>
            <a:off x="0" y="146304"/>
            <a:ext cx="12191695" cy="45720"/>
          </a:xfrm>
          <a:prstGeom prst="rect">
            <a:avLst/>
          </a:prstGeom>
          <a:solidFill>
            <a:srgbClr val="1E3A8A">
              <a:alpha val="80000"/>
            </a:srgbClr>
          </a:solidFill>
          <a:ln w="12700">
            <a:solidFill>
              <a:srgbClr val="1E3A8A">
                <a:alpha val="0"/>
              </a:srgbClr>
            </a:solidFill>
            <a:prstDash val="solid"/>
          </a:ln>
        </p:spPr>
      </p:sp>
      <p:sp>
        <p:nvSpPr>
          <p:cNvPr id="4" name="Text 2"/>
          <p:cNvSpPr/>
          <p:nvPr/>
        </p:nvSpPr>
        <p:spPr>
          <a:xfrm>
            <a:off x="502920" y="384048"/>
            <a:ext cx="11155680" cy="502920"/>
          </a:xfrm>
          <a:prstGeom prst="rect">
            <a:avLst/>
          </a:prstGeom>
          <a:noFill/>
          <a:ln/>
        </p:spPr>
        <p:txBody>
          <a:bodyPr wrap="square" lIns="0" tIns="0" rIns="0" bIns="0" rtlCol="0" anchor="ctr">
            <a:normAutofit/>
          </a:bodyPr>
          <a:lstStyle/>
          <a:p>
            <a:pPr marL="0" indent="0">
              <a:buNone/>
            </a:pPr>
            <a:r>
              <a:rPr lang="en-US" sz="3000" b="1" dirty="0">
                <a:solidFill>
                  <a:srgbClr val="0B1F33"/>
                </a:solidFill>
                <a:latin typeface="Aptos Display" pitchFamily="34" charset="0"/>
                <a:ea typeface="Aptos Display" pitchFamily="34" charset="-122"/>
                <a:cs typeface="Aptos Display" pitchFamily="34" charset="-120"/>
              </a:rPr>
              <a:t>Proposed System</a:t>
            </a:r>
            <a:endParaRPr lang="en-US" sz="3000" dirty="0"/>
          </a:p>
        </p:txBody>
      </p:sp>
      <p:sp>
        <p:nvSpPr>
          <p:cNvPr id="5" name="Shape 3"/>
          <p:cNvSpPr/>
          <p:nvPr/>
        </p:nvSpPr>
        <p:spPr>
          <a:xfrm>
            <a:off x="502920" y="960120"/>
            <a:ext cx="2103120" cy="0"/>
          </a:xfrm>
          <a:prstGeom prst="line">
            <a:avLst/>
          </a:prstGeom>
          <a:noFill/>
          <a:ln w="12700">
            <a:solidFill>
              <a:srgbClr val="14B8A6"/>
            </a:solidFill>
            <a:prstDash val="solid"/>
          </a:ln>
        </p:spPr>
      </p:sp>
      <p:sp>
        <p:nvSpPr>
          <p:cNvPr id="6" name="Text 4"/>
          <p:cNvSpPr/>
          <p:nvPr/>
        </p:nvSpPr>
        <p:spPr>
          <a:xfrm>
            <a:off x="11475720" y="6446520"/>
            <a:ext cx="320040" cy="182880"/>
          </a:xfrm>
          <a:prstGeom prst="rect">
            <a:avLst/>
          </a:prstGeom>
          <a:noFill/>
          <a:ln/>
        </p:spPr>
        <p:txBody>
          <a:bodyPr wrap="square" lIns="0" tIns="0" rIns="0" bIns="0" rtlCol="0" anchor="ctr"/>
          <a:lstStyle/>
          <a:p>
            <a:pPr marL="0" indent="0" algn="r">
              <a:buNone/>
            </a:pPr>
            <a:r>
              <a:rPr lang="en-US" sz="900" dirty="0">
                <a:solidFill>
                  <a:srgbClr val="64748B"/>
                </a:solidFill>
                <a:latin typeface="Aptos" pitchFamily="34" charset="0"/>
                <a:ea typeface="Aptos" pitchFamily="34" charset="-122"/>
                <a:cs typeface="Aptos" pitchFamily="34" charset="-120"/>
              </a:rPr>
              <a:t>6</a:t>
            </a:r>
            <a:endParaRPr lang="en-US" sz="900" dirty="0"/>
          </a:p>
        </p:txBody>
      </p:sp>
      <p:sp>
        <p:nvSpPr>
          <p:cNvPr id="7" name="Shape 5"/>
          <p:cNvSpPr/>
          <p:nvPr/>
        </p:nvSpPr>
        <p:spPr>
          <a:xfrm>
            <a:off x="658368" y="1207008"/>
            <a:ext cx="10927080" cy="3429000"/>
          </a:xfrm>
          <a:prstGeom prst="roundRect">
            <a:avLst>
              <a:gd name="adj" fmla="val 2133"/>
            </a:avLst>
          </a:prstGeom>
          <a:solidFill>
            <a:srgbClr val="FFFFFF"/>
          </a:solidFill>
          <a:ln w="12700">
            <a:solidFill>
              <a:srgbClr val="E2E8F0"/>
            </a:solidFill>
            <a:prstDash val="solid"/>
          </a:ln>
          <a:effectLst>
            <a:outerShdw blurRad="12700" dist="50800" dir="2700000" algn="bl" rotWithShape="0">
              <a:srgbClr val="000000">
                <a:alpha val="10000"/>
              </a:srgbClr>
            </a:outerShdw>
          </a:effectLst>
        </p:spPr>
      </p:sp>
      <p:sp>
        <p:nvSpPr>
          <p:cNvPr id="8" name="Shape 6"/>
          <p:cNvSpPr/>
          <p:nvPr/>
        </p:nvSpPr>
        <p:spPr>
          <a:xfrm>
            <a:off x="914400" y="1572768"/>
            <a:ext cx="109728" cy="109728"/>
          </a:xfrm>
          <a:prstGeom prst="rect">
            <a:avLst/>
          </a:prstGeom>
          <a:solidFill>
            <a:srgbClr val="0F766E"/>
          </a:solidFill>
          <a:ln w="12700">
            <a:solidFill>
              <a:srgbClr val="0F766E"/>
            </a:solidFill>
            <a:prstDash val="solid"/>
          </a:ln>
        </p:spPr>
      </p:sp>
      <p:sp>
        <p:nvSpPr>
          <p:cNvPr id="9" name="Text 7"/>
          <p:cNvSpPr/>
          <p:nvPr/>
        </p:nvSpPr>
        <p:spPr>
          <a:xfrm>
            <a:off x="1170432" y="1508760"/>
            <a:ext cx="10058400" cy="1051560"/>
          </a:xfrm>
          <a:prstGeom prst="rect">
            <a:avLst/>
          </a:prstGeom>
          <a:noFill/>
          <a:ln/>
        </p:spPr>
        <p:txBody>
          <a:bodyPr wrap="square" lIns="127" tIns="127" rIns="127" bIns="127" rtlCol="0" anchor="t">
            <a:normAutofit/>
          </a:bodyPr>
          <a:lstStyle/>
          <a:p>
            <a:pPr marL="0" indent="0">
              <a:buNone/>
            </a:pPr>
            <a:r>
              <a:rPr lang="en-US" sz="1440" dirty="0">
                <a:solidFill>
                  <a:srgbClr val="0B1F33"/>
                </a:solidFill>
                <a:latin typeface="Aptos" pitchFamily="34" charset="0"/>
                <a:ea typeface="Aptos" pitchFamily="34" charset="-122"/>
                <a:cs typeface="Aptos" pitchFamily="34" charset="-120"/>
              </a:rPr>
              <a:t>The system will have a user-interface to allow for smooth user interaction with the recommendation model. The different components of the UI will include a questionnaire, the result page with the result of the recommendation model and detailed career profiles/description pages that will be connected with the backend.</a:t>
            </a:r>
            <a:endParaRPr lang="en-US" sz="1440" dirty="0"/>
          </a:p>
        </p:txBody>
      </p:sp>
      <p:sp>
        <p:nvSpPr>
          <p:cNvPr id="10" name="Shape 8"/>
          <p:cNvSpPr/>
          <p:nvPr/>
        </p:nvSpPr>
        <p:spPr>
          <a:xfrm>
            <a:off x="914400" y="2807208"/>
            <a:ext cx="109728" cy="109728"/>
          </a:xfrm>
          <a:prstGeom prst="rect">
            <a:avLst/>
          </a:prstGeom>
          <a:solidFill>
            <a:srgbClr val="0F766E"/>
          </a:solidFill>
          <a:ln w="12700">
            <a:solidFill>
              <a:srgbClr val="0F766E"/>
            </a:solidFill>
            <a:prstDash val="solid"/>
          </a:ln>
        </p:spPr>
      </p:sp>
      <p:sp>
        <p:nvSpPr>
          <p:cNvPr id="11" name="Text 9"/>
          <p:cNvSpPr/>
          <p:nvPr/>
        </p:nvSpPr>
        <p:spPr>
          <a:xfrm>
            <a:off x="1170432" y="2743200"/>
            <a:ext cx="10058400" cy="1417320"/>
          </a:xfrm>
          <a:prstGeom prst="rect">
            <a:avLst/>
          </a:prstGeom>
          <a:noFill/>
          <a:ln/>
        </p:spPr>
        <p:txBody>
          <a:bodyPr wrap="square" lIns="127" tIns="127" rIns="127" bIns="127" rtlCol="0" anchor="t">
            <a:normAutofit/>
          </a:bodyPr>
          <a:lstStyle/>
          <a:p>
            <a:pPr marL="0" indent="0">
              <a:buNone/>
            </a:pPr>
            <a:r>
              <a:rPr lang="en-US" sz="1440" dirty="0">
                <a:solidFill>
                  <a:srgbClr val="0B1F33"/>
                </a:solidFill>
                <a:latin typeface="Aptos" pitchFamily="34" charset="0"/>
                <a:ea typeface="Aptos" pitchFamily="34" charset="-122"/>
                <a:cs typeface="Aptos" pitchFamily="34" charset="-120"/>
              </a:rPr>
              <a:t>The methodology adopted to carry out the implementation follows the machine learning pipeline approach starting from problem definition, dataset creation, dataset selection, data preprocessing, feature selection, implementation of various algorithms, choosing the best performing model, packaging the model and deploying the same in a user interface.</a:t>
            </a:r>
            <a:endParaRPr lang="en-US" sz="1440" dirty="0"/>
          </a:p>
        </p:txBody>
      </p:sp>
      <p:sp>
        <p:nvSpPr>
          <p:cNvPr id="12" name="Shape 10"/>
          <p:cNvSpPr/>
          <p:nvPr/>
        </p:nvSpPr>
        <p:spPr>
          <a:xfrm>
            <a:off x="777240" y="5138928"/>
            <a:ext cx="1335024" cy="658368"/>
          </a:xfrm>
          <a:prstGeom prst="roundRect">
            <a:avLst>
              <a:gd name="adj" fmla="val 11111"/>
            </a:avLst>
          </a:prstGeom>
          <a:solidFill>
            <a:srgbClr val="B91C1C"/>
          </a:solidFill>
          <a:ln w="12700">
            <a:solidFill>
              <a:srgbClr val="FFFFFF"/>
            </a:solidFill>
            <a:prstDash val="solid"/>
          </a:ln>
        </p:spPr>
      </p:sp>
      <p:sp>
        <p:nvSpPr>
          <p:cNvPr id="13" name="Text 11"/>
          <p:cNvSpPr/>
          <p:nvPr/>
        </p:nvSpPr>
        <p:spPr>
          <a:xfrm>
            <a:off x="822960" y="5212080"/>
            <a:ext cx="1243584" cy="475488"/>
          </a:xfrm>
          <a:prstGeom prst="rect">
            <a:avLst/>
          </a:prstGeom>
          <a:noFill/>
          <a:ln/>
        </p:spPr>
        <p:txBody>
          <a:bodyPr wrap="square" lIns="0" tIns="0" rIns="0" bIns="0" rtlCol="0" anchor="ctr">
            <a:normAutofit/>
          </a:bodyPr>
          <a:lstStyle/>
          <a:p>
            <a:pPr marL="0" indent="0" algn="ctr">
              <a:buNone/>
            </a:pPr>
            <a:r>
              <a:rPr lang="en-US" sz="1020" b="1" dirty="0">
                <a:solidFill>
                  <a:srgbClr val="FFFFFF"/>
                </a:solidFill>
                <a:latin typeface="Aptos" pitchFamily="34" charset="0"/>
                <a:ea typeface="Aptos" pitchFamily="34" charset="-122"/>
                <a:cs typeface="Aptos" pitchFamily="34" charset="-120"/>
              </a:rPr>
              <a:t>Problem</a:t>
            </a:r>
            <a:endParaRPr lang="en-US" sz="1020" dirty="0"/>
          </a:p>
          <a:p>
            <a:pPr marL="0" indent="0" algn="ctr">
              <a:buNone/>
            </a:pPr>
            <a:r>
              <a:rPr lang="en-US" sz="1020" b="1" dirty="0">
                <a:solidFill>
                  <a:srgbClr val="FFFFFF"/>
                </a:solidFill>
                <a:latin typeface="Aptos" pitchFamily="34" charset="0"/>
                <a:ea typeface="Aptos" pitchFamily="34" charset="-122"/>
                <a:cs typeface="Aptos" pitchFamily="34" charset="-120"/>
              </a:rPr>
              <a:t>Definition</a:t>
            </a:r>
            <a:endParaRPr lang="en-US" sz="1020" dirty="0"/>
          </a:p>
        </p:txBody>
      </p:sp>
      <p:sp>
        <p:nvSpPr>
          <p:cNvPr id="14" name="Shape 12"/>
          <p:cNvSpPr/>
          <p:nvPr/>
        </p:nvSpPr>
        <p:spPr>
          <a:xfrm>
            <a:off x="2139696" y="5468112"/>
            <a:ext cx="128016" cy="0"/>
          </a:xfrm>
          <a:prstGeom prst="line">
            <a:avLst/>
          </a:prstGeom>
          <a:noFill/>
          <a:ln w="12700">
            <a:solidFill>
              <a:srgbClr val="64748B"/>
            </a:solidFill>
            <a:prstDash val="solid"/>
            <a:headEnd type="none"/>
            <a:tailEnd type="triangle"/>
          </a:ln>
        </p:spPr>
      </p:sp>
      <p:sp>
        <p:nvSpPr>
          <p:cNvPr id="15" name="Shape 13"/>
          <p:cNvSpPr/>
          <p:nvPr/>
        </p:nvSpPr>
        <p:spPr>
          <a:xfrm>
            <a:off x="2295144" y="5138928"/>
            <a:ext cx="1335024" cy="658368"/>
          </a:xfrm>
          <a:prstGeom prst="roundRect">
            <a:avLst>
              <a:gd name="adj" fmla="val 11111"/>
            </a:avLst>
          </a:prstGeom>
          <a:solidFill>
            <a:srgbClr val="84CC16"/>
          </a:solidFill>
          <a:ln w="12700">
            <a:solidFill>
              <a:srgbClr val="FFFFFF"/>
            </a:solidFill>
            <a:prstDash val="solid"/>
          </a:ln>
        </p:spPr>
      </p:sp>
      <p:sp>
        <p:nvSpPr>
          <p:cNvPr id="16" name="Text 14"/>
          <p:cNvSpPr/>
          <p:nvPr/>
        </p:nvSpPr>
        <p:spPr>
          <a:xfrm>
            <a:off x="2340864" y="5212080"/>
            <a:ext cx="1243584" cy="475488"/>
          </a:xfrm>
          <a:prstGeom prst="rect">
            <a:avLst/>
          </a:prstGeom>
          <a:noFill/>
          <a:ln/>
        </p:spPr>
        <p:txBody>
          <a:bodyPr wrap="square" lIns="0" tIns="0" rIns="0" bIns="0" rtlCol="0" anchor="ctr">
            <a:normAutofit/>
          </a:bodyPr>
          <a:lstStyle/>
          <a:p>
            <a:pPr marL="0" indent="0" algn="ctr">
              <a:buNone/>
            </a:pPr>
            <a:r>
              <a:rPr lang="en-US" sz="1020" b="1" dirty="0">
                <a:solidFill>
                  <a:srgbClr val="FFFFFF"/>
                </a:solidFill>
                <a:latin typeface="Aptos" pitchFamily="34" charset="0"/>
                <a:ea typeface="Aptos" pitchFamily="34" charset="-122"/>
                <a:cs typeface="Aptos" pitchFamily="34" charset="-120"/>
              </a:rPr>
              <a:t>Dataset</a:t>
            </a:r>
            <a:endParaRPr lang="en-US" sz="1020" dirty="0"/>
          </a:p>
          <a:p>
            <a:pPr marL="0" indent="0" algn="ctr">
              <a:buNone/>
            </a:pPr>
            <a:r>
              <a:rPr lang="en-US" sz="1020" b="1" dirty="0">
                <a:solidFill>
                  <a:srgbClr val="FFFFFF"/>
                </a:solidFill>
                <a:latin typeface="Aptos" pitchFamily="34" charset="0"/>
                <a:ea typeface="Aptos" pitchFamily="34" charset="-122"/>
                <a:cs typeface="Aptos" pitchFamily="34" charset="-120"/>
              </a:rPr>
              <a:t>Selection</a:t>
            </a:r>
            <a:endParaRPr lang="en-US" sz="1020" dirty="0"/>
          </a:p>
        </p:txBody>
      </p:sp>
      <p:sp>
        <p:nvSpPr>
          <p:cNvPr id="17" name="Shape 15"/>
          <p:cNvSpPr/>
          <p:nvPr/>
        </p:nvSpPr>
        <p:spPr>
          <a:xfrm>
            <a:off x="3657600" y="5468112"/>
            <a:ext cx="128016" cy="0"/>
          </a:xfrm>
          <a:prstGeom prst="line">
            <a:avLst/>
          </a:prstGeom>
          <a:noFill/>
          <a:ln w="12700">
            <a:solidFill>
              <a:srgbClr val="64748B"/>
            </a:solidFill>
            <a:prstDash val="solid"/>
            <a:headEnd type="none"/>
            <a:tailEnd type="triangle"/>
          </a:ln>
        </p:spPr>
      </p:sp>
      <p:sp>
        <p:nvSpPr>
          <p:cNvPr id="18" name="Shape 16"/>
          <p:cNvSpPr/>
          <p:nvPr/>
        </p:nvSpPr>
        <p:spPr>
          <a:xfrm>
            <a:off x="3813048" y="5138928"/>
            <a:ext cx="1335024" cy="658368"/>
          </a:xfrm>
          <a:prstGeom prst="roundRect">
            <a:avLst>
              <a:gd name="adj" fmla="val 11111"/>
            </a:avLst>
          </a:prstGeom>
          <a:solidFill>
            <a:srgbClr val="7C3AED"/>
          </a:solidFill>
          <a:ln w="12700">
            <a:solidFill>
              <a:srgbClr val="FFFFFF"/>
            </a:solidFill>
            <a:prstDash val="solid"/>
          </a:ln>
        </p:spPr>
      </p:sp>
      <p:sp>
        <p:nvSpPr>
          <p:cNvPr id="19" name="Text 17"/>
          <p:cNvSpPr/>
          <p:nvPr/>
        </p:nvSpPr>
        <p:spPr>
          <a:xfrm>
            <a:off x="3858768" y="5212080"/>
            <a:ext cx="1243584" cy="475488"/>
          </a:xfrm>
          <a:prstGeom prst="rect">
            <a:avLst/>
          </a:prstGeom>
          <a:noFill/>
          <a:ln/>
        </p:spPr>
        <p:txBody>
          <a:bodyPr wrap="square" lIns="0" tIns="0" rIns="0" bIns="0" rtlCol="0" anchor="ctr">
            <a:normAutofit/>
          </a:bodyPr>
          <a:lstStyle/>
          <a:p>
            <a:pPr marL="0" indent="0" algn="ctr">
              <a:buNone/>
            </a:pPr>
            <a:r>
              <a:rPr lang="en-US" sz="1020" b="1" dirty="0">
                <a:solidFill>
                  <a:srgbClr val="FFFFFF"/>
                </a:solidFill>
                <a:latin typeface="Aptos" pitchFamily="34" charset="0"/>
                <a:ea typeface="Aptos" pitchFamily="34" charset="-122"/>
                <a:cs typeface="Aptos" pitchFamily="34" charset="-120"/>
              </a:rPr>
              <a:t>Data</a:t>
            </a:r>
            <a:endParaRPr lang="en-US" sz="1020" dirty="0"/>
          </a:p>
          <a:p>
            <a:pPr marL="0" indent="0" algn="ctr">
              <a:buNone/>
            </a:pPr>
            <a:r>
              <a:rPr lang="en-US" sz="1020" b="1" dirty="0">
                <a:solidFill>
                  <a:srgbClr val="FFFFFF"/>
                </a:solidFill>
                <a:latin typeface="Aptos" pitchFamily="34" charset="0"/>
                <a:ea typeface="Aptos" pitchFamily="34" charset="-122"/>
                <a:cs typeface="Aptos" pitchFamily="34" charset="-120"/>
              </a:rPr>
              <a:t>Preprocessing</a:t>
            </a:r>
            <a:endParaRPr lang="en-US" sz="1020" dirty="0"/>
          </a:p>
        </p:txBody>
      </p:sp>
      <p:sp>
        <p:nvSpPr>
          <p:cNvPr id="20" name="Shape 18"/>
          <p:cNvSpPr/>
          <p:nvPr/>
        </p:nvSpPr>
        <p:spPr>
          <a:xfrm>
            <a:off x="5175504" y="5468112"/>
            <a:ext cx="128016" cy="0"/>
          </a:xfrm>
          <a:prstGeom prst="line">
            <a:avLst/>
          </a:prstGeom>
          <a:noFill/>
          <a:ln w="12700">
            <a:solidFill>
              <a:srgbClr val="64748B"/>
            </a:solidFill>
            <a:prstDash val="solid"/>
            <a:headEnd type="none"/>
            <a:tailEnd type="triangle"/>
          </a:ln>
        </p:spPr>
      </p:sp>
      <p:sp>
        <p:nvSpPr>
          <p:cNvPr id="21" name="Shape 19"/>
          <p:cNvSpPr/>
          <p:nvPr/>
        </p:nvSpPr>
        <p:spPr>
          <a:xfrm>
            <a:off x="5330952" y="5138928"/>
            <a:ext cx="1335024" cy="658368"/>
          </a:xfrm>
          <a:prstGeom prst="roundRect">
            <a:avLst>
              <a:gd name="adj" fmla="val 11111"/>
            </a:avLst>
          </a:prstGeom>
          <a:solidFill>
            <a:srgbClr val="06B6D4"/>
          </a:solidFill>
          <a:ln w="12700">
            <a:solidFill>
              <a:srgbClr val="FFFFFF"/>
            </a:solidFill>
            <a:prstDash val="solid"/>
          </a:ln>
        </p:spPr>
      </p:sp>
      <p:sp>
        <p:nvSpPr>
          <p:cNvPr id="22" name="Text 20"/>
          <p:cNvSpPr/>
          <p:nvPr/>
        </p:nvSpPr>
        <p:spPr>
          <a:xfrm>
            <a:off x="5376672" y="5212080"/>
            <a:ext cx="1243584" cy="475488"/>
          </a:xfrm>
          <a:prstGeom prst="rect">
            <a:avLst/>
          </a:prstGeom>
          <a:noFill/>
          <a:ln/>
        </p:spPr>
        <p:txBody>
          <a:bodyPr wrap="square" lIns="0" tIns="0" rIns="0" bIns="0" rtlCol="0" anchor="ctr">
            <a:normAutofit/>
          </a:bodyPr>
          <a:lstStyle/>
          <a:p>
            <a:pPr marL="0" indent="0" algn="ctr">
              <a:buNone/>
            </a:pPr>
            <a:r>
              <a:rPr lang="en-US" sz="1020" b="1" dirty="0">
                <a:solidFill>
                  <a:srgbClr val="FFFFFF"/>
                </a:solidFill>
                <a:latin typeface="Aptos" pitchFamily="34" charset="0"/>
                <a:ea typeface="Aptos" pitchFamily="34" charset="-122"/>
                <a:cs typeface="Aptos" pitchFamily="34" charset="-120"/>
              </a:rPr>
              <a:t>Feature</a:t>
            </a:r>
            <a:endParaRPr lang="en-US" sz="1020" dirty="0"/>
          </a:p>
          <a:p>
            <a:pPr marL="0" indent="0" algn="ctr">
              <a:buNone/>
            </a:pPr>
            <a:r>
              <a:rPr lang="en-US" sz="1020" b="1" dirty="0">
                <a:solidFill>
                  <a:srgbClr val="FFFFFF"/>
                </a:solidFill>
                <a:latin typeface="Aptos" pitchFamily="34" charset="0"/>
                <a:ea typeface="Aptos" pitchFamily="34" charset="-122"/>
                <a:cs typeface="Aptos" pitchFamily="34" charset="-120"/>
              </a:rPr>
              <a:t>Selection</a:t>
            </a:r>
            <a:endParaRPr lang="en-US" sz="1020" dirty="0"/>
          </a:p>
        </p:txBody>
      </p:sp>
      <p:sp>
        <p:nvSpPr>
          <p:cNvPr id="23" name="Shape 21"/>
          <p:cNvSpPr/>
          <p:nvPr/>
        </p:nvSpPr>
        <p:spPr>
          <a:xfrm>
            <a:off x="6693408" y="5468112"/>
            <a:ext cx="128016" cy="0"/>
          </a:xfrm>
          <a:prstGeom prst="line">
            <a:avLst/>
          </a:prstGeom>
          <a:noFill/>
          <a:ln w="12700">
            <a:solidFill>
              <a:srgbClr val="64748B"/>
            </a:solidFill>
            <a:prstDash val="solid"/>
            <a:headEnd type="none"/>
            <a:tailEnd type="triangle"/>
          </a:ln>
        </p:spPr>
      </p:sp>
      <p:sp>
        <p:nvSpPr>
          <p:cNvPr id="24" name="Shape 22"/>
          <p:cNvSpPr/>
          <p:nvPr/>
        </p:nvSpPr>
        <p:spPr>
          <a:xfrm>
            <a:off x="6848856" y="5138928"/>
            <a:ext cx="1335024" cy="658368"/>
          </a:xfrm>
          <a:prstGeom prst="roundRect">
            <a:avLst>
              <a:gd name="adj" fmla="val 11111"/>
            </a:avLst>
          </a:prstGeom>
          <a:solidFill>
            <a:srgbClr val="F97316"/>
          </a:solidFill>
          <a:ln w="12700">
            <a:solidFill>
              <a:srgbClr val="FFFFFF"/>
            </a:solidFill>
            <a:prstDash val="solid"/>
          </a:ln>
        </p:spPr>
      </p:sp>
      <p:sp>
        <p:nvSpPr>
          <p:cNvPr id="25" name="Text 23"/>
          <p:cNvSpPr/>
          <p:nvPr/>
        </p:nvSpPr>
        <p:spPr>
          <a:xfrm>
            <a:off x="6894576" y="5212080"/>
            <a:ext cx="1243584" cy="475488"/>
          </a:xfrm>
          <a:prstGeom prst="rect">
            <a:avLst/>
          </a:prstGeom>
          <a:noFill/>
          <a:ln/>
        </p:spPr>
        <p:txBody>
          <a:bodyPr wrap="square" lIns="0" tIns="0" rIns="0" bIns="0" rtlCol="0" anchor="ctr">
            <a:normAutofit/>
          </a:bodyPr>
          <a:lstStyle/>
          <a:p>
            <a:pPr marL="0" indent="0" algn="ctr">
              <a:buNone/>
            </a:pPr>
            <a:r>
              <a:rPr lang="en-US" sz="1020" b="1" dirty="0">
                <a:solidFill>
                  <a:srgbClr val="FFFFFF"/>
                </a:solidFill>
                <a:latin typeface="Aptos" pitchFamily="34" charset="0"/>
                <a:ea typeface="Aptos" pitchFamily="34" charset="-122"/>
                <a:cs typeface="Aptos" pitchFamily="34" charset="-120"/>
              </a:rPr>
              <a:t>Modelling</a:t>
            </a:r>
            <a:endParaRPr lang="en-US" sz="1020" dirty="0"/>
          </a:p>
          <a:p>
            <a:pPr marL="0" indent="0" algn="ctr">
              <a:buNone/>
            </a:pPr>
            <a:r>
              <a:rPr lang="en-US" sz="1020" b="1" dirty="0">
                <a:solidFill>
                  <a:srgbClr val="FFFFFF"/>
                </a:solidFill>
                <a:latin typeface="Aptos" pitchFamily="34" charset="0"/>
                <a:ea typeface="Aptos" pitchFamily="34" charset="-122"/>
                <a:cs typeface="Aptos" pitchFamily="34" charset="-120"/>
              </a:rPr>
              <a:t>various</a:t>
            </a:r>
            <a:endParaRPr lang="en-US" sz="1020" dirty="0"/>
          </a:p>
          <a:p>
            <a:pPr marL="0" indent="0" algn="ctr">
              <a:buNone/>
            </a:pPr>
            <a:r>
              <a:rPr lang="en-US" sz="1020" b="1" dirty="0">
                <a:solidFill>
                  <a:srgbClr val="FFFFFF"/>
                </a:solidFill>
                <a:latin typeface="Aptos" pitchFamily="34" charset="0"/>
                <a:ea typeface="Aptos" pitchFamily="34" charset="-122"/>
                <a:cs typeface="Aptos" pitchFamily="34" charset="-120"/>
              </a:rPr>
              <a:t>algorithms</a:t>
            </a:r>
            <a:endParaRPr lang="en-US" sz="1020" dirty="0"/>
          </a:p>
        </p:txBody>
      </p:sp>
      <p:sp>
        <p:nvSpPr>
          <p:cNvPr id="26" name="Shape 24"/>
          <p:cNvSpPr/>
          <p:nvPr/>
        </p:nvSpPr>
        <p:spPr>
          <a:xfrm>
            <a:off x="8211312" y="5468112"/>
            <a:ext cx="128016" cy="0"/>
          </a:xfrm>
          <a:prstGeom prst="line">
            <a:avLst/>
          </a:prstGeom>
          <a:noFill/>
          <a:ln w="12700">
            <a:solidFill>
              <a:srgbClr val="64748B"/>
            </a:solidFill>
            <a:prstDash val="solid"/>
            <a:headEnd type="none"/>
            <a:tailEnd type="triangle"/>
          </a:ln>
        </p:spPr>
      </p:sp>
      <p:sp>
        <p:nvSpPr>
          <p:cNvPr id="27" name="Shape 25"/>
          <p:cNvSpPr/>
          <p:nvPr/>
        </p:nvSpPr>
        <p:spPr>
          <a:xfrm>
            <a:off x="8366760" y="5138928"/>
            <a:ext cx="1335024" cy="658368"/>
          </a:xfrm>
          <a:prstGeom prst="roundRect">
            <a:avLst>
              <a:gd name="adj" fmla="val 11111"/>
            </a:avLst>
          </a:prstGeom>
          <a:solidFill>
            <a:srgbClr val="B91C1C"/>
          </a:solidFill>
          <a:ln w="12700">
            <a:solidFill>
              <a:srgbClr val="FFFFFF"/>
            </a:solidFill>
            <a:prstDash val="solid"/>
          </a:ln>
        </p:spPr>
      </p:sp>
      <p:sp>
        <p:nvSpPr>
          <p:cNvPr id="28" name="Text 26"/>
          <p:cNvSpPr/>
          <p:nvPr/>
        </p:nvSpPr>
        <p:spPr>
          <a:xfrm>
            <a:off x="8412480" y="5212080"/>
            <a:ext cx="1243584" cy="475488"/>
          </a:xfrm>
          <a:prstGeom prst="rect">
            <a:avLst/>
          </a:prstGeom>
          <a:noFill/>
          <a:ln/>
        </p:spPr>
        <p:txBody>
          <a:bodyPr wrap="square" lIns="0" tIns="0" rIns="0" bIns="0" rtlCol="0" anchor="ctr">
            <a:normAutofit/>
          </a:bodyPr>
          <a:lstStyle/>
          <a:p>
            <a:pPr marL="0" indent="0" algn="ctr">
              <a:buNone/>
            </a:pPr>
            <a:r>
              <a:rPr lang="en-US" sz="1020" b="1" dirty="0">
                <a:solidFill>
                  <a:srgbClr val="FFFFFF"/>
                </a:solidFill>
                <a:latin typeface="Aptos" pitchFamily="34" charset="0"/>
                <a:ea typeface="Aptos" pitchFamily="34" charset="-122"/>
                <a:cs typeface="Aptos" pitchFamily="34" charset="-120"/>
              </a:rPr>
              <a:t>Hyper-</a:t>
            </a:r>
            <a:endParaRPr lang="en-US" sz="1020" dirty="0"/>
          </a:p>
          <a:p>
            <a:pPr marL="0" indent="0" algn="ctr">
              <a:buNone/>
            </a:pPr>
            <a:r>
              <a:rPr lang="en-US" sz="1020" b="1" dirty="0">
                <a:solidFill>
                  <a:srgbClr val="FFFFFF"/>
                </a:solidFill>
                <a:latin typeface="Aptos" pitchFamily="34" charset="0"/>
                <a:ea typeface="Aptos" pitchFamily="34" charset="-122"/>
                <a:cs typeface="Aptos" pitchFamily="34" charset="-120"/>
              </a:rPr>
              <a:t>parameter</a:t>
            </a:r>
            <a:endParaRPr lang="en-US" sz="1020" dirty="0"/>
          </a:p>
          <a:p>
            <a:pPr marL="0" indent="0" algn="ctr">
              <a:buNone/>
            </a:pPr>
            <a:r>
              <a:rPr lang="en-US" sz="1020" b="1" dirty="0">
                <a:solidFill>
                  <a:srgbClr val="FFFFFF"/>
                </a:solidFill>
                <a:latin typeface="Aptos" pitchFamily="34" charset="0"/>
                <a:ea typeface="Aptos" pitchFamily="34" charset="-122"/>
                <a:cs typeface="Aptos" pitchFamily="34" charset="-120"/>
              </a:rPr>
              <a:t>Tuning</a:t>
            </a:r>
            <a:endParaRPr lang="en-US" sz="1020" dirty="0"/>
          </a:p>
        </p:txBody>
      </p:sp>
      <p:sp>
        <p:nvSpPr>
          <p:cNvPr id="29" name="Shape 27"/>
          <p:cNvSpPr/>
          <p:nvPr/>
        </p:nvSpPr>
        <p:spPr>
          <a:xfrm>
            <a:off x="9729216" y="5468112"/>
            <a:ext cx="128016" cy="0"/>
          </a:xfrm>
          <a:prstGeom prst="line">
            <a:avLst/>
          </a:prstGeom>
          <a:noFill/>
          <a:ln w="12700">
            <a:solidFill>
              <a:srgbClr val="64748B"/>
            </a:solidFill>
            <a:prstDash val="solid"/>
            <a:headEnd type="none"/>
            <a:tailEnd type="triangle"/>
          </a:ln>
        </p:spPr>
      </p:sp>
      <p:sp>
        <p:nvSpPr>
          <p:cNvPr id="30" name="Shape 28"/>
          <p:cNvSpPr/>
          <p:nvPr/>
        </p:nvSpPr>
        <p:spPr>
          <a:xfrm>
            <a:off x="9884664" y="5138928"/>
            <a:ext cx="1335024" cy="658368"/>
          </a:xfrm>
          <a:prstGeom prst="roundRect">
            <a:avLst>
              <a:gd name="adj" fmla="val 11111"/>
            </a:avLst>
          </a:prstGeom>
          <a:solidFill>
            <a:srgbClr val="84CC16"/>
          </a:solidFill>
          <a:ln w="12700">
            <a:solidFill>
              <a:srgbClr val="FFFFFF"/>
            </a:solidFill>
            <a:prstDash val="solid"/>
          </a:ln>
        </p:spPr>
      </p:sp>
      <p:sp>
        <p:nvSpPr>
          <p:cNvPr id="31" name="Text 29"/>
          <p:cNvSpPr/>
          <p:nvPr/>
        </p:nvSpPr>
        <p:spPr>
          <a:xfrm>
            <a:off x="9930384" y="5212080"/>
            <a:ext cx="1243584" cy="475488"/>
          </a:xfrm>
          <a:prstGeom prst="rect">
            <a:avLst/>
          </a:prstGeom>
          <a:noFill/>
          <a:ln/>
        </p:spPr>
        <p:txBody>
          <a:bodyPr wrap="square" lIns="0" tIns="0" rIns="0" bIns="0" rtlCol="0" anchor="ctr">
            <a:normAutofit/>
          </a:bodyPr>
          <a:lstStyle/>
          <a:p>
            <a:pPr marL="0" indent="0" algn="ctr">
              <a:buNone/>
            </a:pPr>
            <a:r>
              <a:rPr lang="en-US" sz="1020" b="1" dirty="0">
                <a:solidFill>
                  <a:srgbClr val="FFFFFF"/>
                </a:solidFill>
                <a:latin typeface="Aptos" pitchFamily="34" charset="0"/>
                <a:ea typeface="Aptos" pitchFamily="34" charset="-122"/>
                <a:cs typeface="Aptos" pitchFamily="34" charset="-120"/>
              </a:rPr>
              <a:t>Choose</a:t>
            </a:r>
            <a:endParaRPr lang="en-US" sz="1020" dirty="0"/>
          </a:p>
          <a:p>
            <a:pPr marL="0" indent="0" algn="ctr">
              <a:buNone/>
            </a:pPr>
            <a:r>
              <a:rPr lang="en-US" sz="1020" b="1" dirty="0">
                <a:solidFill>
                  <a:srgbClr val="FFFFFF"/>
                </a:solidFill>
                <a:latin typeface="Aptos" pitchFamily="34" charset="0"/>
                <a:ea typeface="Aptos" pitchFamily="34" charset="-122"/>
                <a:cs typeface="Aptos" pitchFamily="34" charset="-120"/>
              </a:rPr>
              <a:t>best model</a:t>
            </a:r>
            <a:endParaRPr lang="en-US" sz="10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F766E"/>
          </a:solidFill>
          <a:ln w="12700">
            <a:solidFill>
              <a:srgbClr val="0F766E"/>
            </a:solidFill>
            <a:prstDash val="solid"/>
          </a:ln>
        </p:spPr>
      </p:sp>
      <p:sp>
        <p:nvSpPr>
          <p:cNvPr id="3" name="Shape 1"/>
          <p:cNvSpPr/>
          <p:nvPr/>
        </p:nvSpPr>
        <p:spPr>
          <a:xfrm>
            <a:off x="0" y="146304"/>
            <a:ext cx="12191695" cy="45720"/>
          </a:xfrm>
          <a:prstGeom prst="rect">
            <a:avLst/>
          </a:prstGeom>
          <a:solidFill>
            <a:srgbClr val="1E3A8A">
              <a:alpha val="80000"/>
            </a:srgbClr>
          </a:solidFill>
          <a:ln w="12700">
            <a:solidFill>
              <a:srgbClr val="1E3A8A">
                <a:alpha val="0"/>
              </a:srgbClr>
            </a:solidFill>
            <a:prstDash val="solid"/>
          </a:ln>
        </p:spPr>
      </p:sp>
      <p:sp>
        <p:nvSpPr>
          <p:cNvPr id="4" name="Text 2"/>
          <p:cNvSpPr/>
          <p:nvPr/>
        </p:nvSpPr>
        <p:spPr>
          <a:xfrm>
            <a:off x="502920" y="384048"/>
            <a:ext cx="11155680" cy="502920"/>
          </a:xfrm>
          <a:prstGeom prst="rect">
            <a:avLst/>
          </a:prstGeom>
          <a:noFill/>
          <a:ln/>
        </p:spPr>
        <p:txBody>
          <a:bodyPr wrap="square" lIns="0" tIns="0" rIns="0" bIns="0" rtlCol="0" anchor="ctr">
            <a:normAutofit/>
          </a:bodyPr>
          <a:lstStyle/>
          <a:p>
            <a:pPr marL="0" indent="0">
              <a:buNone/>
            </a:pPr>
            <a:r>
              <a:rPr lang="en-US" sz="3000" b="1" dirty="0">
                <a:solidFill>
                  <a:srgbClr val="0B1F33"/>
                </a:solidFill>
                <a:latin typeface="Aptos Display" pitchFamily="34" charset="0"/>
                <a:ea typeface="Aptos Display" pitchFamily="34" charset="-122"/>
                <a:cs typeface="Aptos Display" pitchFamily="34" charset="-120"/>
              </a:rPr>
              <a:t>Dataset</a:t>
            </a:r>
            <a:endParaRPr lang="en-US" sz="3000" dirty="0"/>
          </a:p>
        </p:txBody>
      </p:sp>
      <p:sp>
        <p:nvSpPr>
          <p:cNvPr id="5" name="Shape 3"/>
          <p:cNvSpPr/>
          <p:nvPr/>
        </p:nvSpPr>
        <p:spPr>
          <a:xfrm>
            <a:off x="502920" y="960120"/>
            <a:ext cx="2103120" cy="0"/>
          </a:xfrm>
          <a:prstGeom prst="line">
            <a:avLst/>
          </a:prstGeom>
          <a:noFill/>
          <a:ln w="12700">
            <a:solidFill>
              <a:srgbClr val="14B8A6"/>
            </a:solidFill>
            <a:prstDash val="solid"/>
          </a:ln>
        </p:spPr>
      </p:sp>
      <p:sp>
        <p:nvSpPr>
          <p:cNvPr id="6" name="Text 4"/>
          <p:cNvSpPr/>
          <p:nvPr/>
        </p:nvSpPr>
        <p:spPr>
          <a:xfrm>
            <a:off x="11475720" y="6446520"/>
            <a:ext cx="320040" cy="182880"/>
          </a:xfrm>
          <a:prstGeom prst="rect">
            <a:avLst/>
          </a:prstGeom>
          <a:noFill/>
          <a:ln/>
        </p:spPr>
        <p:txBody>
          <a:bodyPr wrap="square" lIns="0" tIns="0" rIns="0" bIns="0" rtlCol="0" anchor="ctr"/>
          <a:lstStyle/>
          <a:p>
            <a:pPr marL="0" indent="0" algn="r">
              <a:buNone/>
            </a:pPr>
            <a:r>
              <a:rPr lang="en-US" sz="900" dirty="0">
                <a:solidFill>
                  <a:srgbClr val="64748B"/>
                </a:solidFill>
                <a:latin typeface="Aptos" pitchFamily="34" charset="0"/>
                <a:ea typeface="Aptos" pitchFamily="34" charset="-122"/>
                <a:cs typeface="Aptos" pitchFamily="34" charset="-120"/>
              </a:rPr>
              <a:t>7</a:t>
            </a:r>
            <a:endParaRPr lang="en-US" sz="900" dirty="0"/>
          </a:p>
        </p:txBody>
      </p:sp>
      <p:sp>
        <p:nvSpPr>
          <p:cNvPr id="7" name="Shape 5"/>
          <p:cNvSpPr/>
          <p:nvPr/>
        </p:nvSpPr>
        <p:spPr>
          <a:xfrm>
            <a:off x="594360" y="1234440"/>
            <a:ext cx="5394960" cy="5166360"/>
          </a:xfrm>
          <a:prstGeom prst="roundRect">
            <a:avLst>
              <a:gd name="adj" fmla="val 1416"/>
            </a:avLst>
          </a:prstGeom>
          <a:solidFill>
            <a:srgbClr val="FFFFFF"/>
          </a:solidFill>
          <a:ln w="12700">
            <a:solidFill>
              <a:srgbClr val="E2E8F0"/>
            </a:solidFill>
            <a:prstDash val="solid"/>
          </a:ln>
          <a:effectLst>
            <a:outerShdw blurRad="12700" dist="50800" dir="2700000" algn="bl" rotWithShape="0">
              <a:srgbClr val="000000">
                <a:alpha val="10000"/>
              </a:srgbClr>
            </a:outerShdw>
          </a:effectLst>
        </p:spPr>
      </p:sp>
      <p:sp>
        <p:nvSpPr>
          <p:cNvPr id="8" name="Shape 6"/>
          <p:cNvSpPr/>
          <p:nvPr/>
        </p:nvSpPr>
        <p:spPr>
          <a:xfrm>
            <a:off x="6217920" y="1234440"/>
            <a:ext cx="5394960" cy="5166360"/>
          </a:xfrm>
          <a:prstGeom prst="roundRect">
            <a:avLst>
              <a:gd name="adj" fmla="val 1416"/>
            </a:avLst>
          </a:prstGeom>
          <a:solidFill>
            <a:srgbClr val="FFFFFF"/>
          </a:solidFill>
          <a:ln w="12700">
            <a:solidFill>
              <a:srgbClr val="E2E8F0"/>
            </a:solidFill>
            <a:prstDash val="solid"/>
          </a:ln>
          <a:effectLst>
            <a:outerShdw blurRad="12700" dist="50800" dir="2700000" algn="bl" rotWithShape="0">
              <a:srgbClr val="000000">
                <a:alpha val="10000"/>
              </a:srgbClr>
            </a:outerShdw>
          </a:effectLst>
        </p:spPr>
      </p:sp>
      <p:sp>
        <p:nvSpPr>
          <p:cNvPr id="9" name="Text 7"/>
          <p:cNvSpPr/>
          <p:nvPr/>
        </p:nvSpPr>
        <p:spPr>
          <a:xfrm>
            <a:off x="868680" y="1481328"/>
            <a:ext cx="4800600" cy="320040"/>
          </a:xfrm>
          <a:prstGeom prst="rect">
            <a:avLst/>
          </a:prstGeom>
          <a:noFill/>
          <a:ln/>
        </p:spPr>
        <p:txBody>
          <a:bodyPr wrap="square" lIns="0" tIns="0" rIns="0" bIns="0" rtlCol="0" anchor="ctr"/>
          <a:lstStyle/>
          <a:p>
            <a:pPr marL="0" indent="0" algn="ctr">
              <a:buNone/>
            </a:pPr>
            <a:r>
              <a:rPr lang="en-US" sz="1800" b="1" u="sng" dirty="0">
                <a:solidFill>
                  <a:srgbClr val="0B1F33"/>
                </a:solidFill>
                <a:latin typeface="Aptos" pitchFamily="34" charset="0"/>
                <a:ea typeface="Aptos" pitchFamily="34" charset="-122"/>
                <a:cs typeface="Aptos" pitchFamily="34" charset="-120"/>
              </a:rPr>
              <a:t>Dataset A: Skills &amp; Proficiency</a:t>
            </a:r>
            <a:endParaRPr lang="en-US" sz="1800" dirty="0"/>
          </a:p>
        </p:txBody>
      </p:sp>
      <p:sp>
        <p:nvSpPr>
          <p:cNvPr id="10" name="Text 8"/>
          <p:cNvSpPr/>
          <p:nvPr/>
        </p:nvSpPr>
        <p:spPr>
          <a:xfrm>
            <a:off x="6492240" y="1481328"/>
            <a:ext cx="4800600" cy="320040"/>
          </a:xfrm>
          <a:prstGeom prst="rect">
            <a:avLst/>
          </a:prstGeom>
          <a:noFill/>
          <a:ln/>
        </p:spPr>
        <p:txBody>
          <a:bodyPr wrap="square" lIns="0" tIns="0" rIns="0" bIns="0" rtlCol="0" anchor="ctr"/>
          <a:lstStyle/>
          <a:p>
            <a:pPr marL="0" indent="0" algn="ctr">
              <a:buNone/>
            </a:pPr>
            <a:r>
              <a:rPr lang="en-US" sz="1800" b="1" u="sng" dirty="0">
                <a:solidFill>
                  <a:srgbClr val="0B1F33"/>
                </a:solidFill>
                <a:latin typeface="Aptos" pitchFamily="34" charset="0"/>
                <a:ea typeface="Aptos" pitchFamily="34" charset="-122"/>
                <a:cs typeface="Aptos" pitchFamily="34" charset="-120"/>
              </a:rPr>
              <a:t>Dataset B: Personality Traits</a:t>
            </a:r>
            <a:endParaRPr lang="en-US" sz="1800" dirty="0"/>
          </a:p>
        </p:txBody>
      </p:sp>
      <p:sp>
        <p:nvSpPr>
          <p:cNvPr id="11" name="Text 9"/>
          <p:cNvSpPr/>
          <p:nvPr/>
        </p:nvSpPr>
        <p:spPr>
          <a:xfrm>
            <a:off x="868680" y="2057400"/>
            <a:ext cx="4800600" cy="3886200"/>
          </a:xfrm>
          <a:prstGeom prst="rect">
            <a:avLst/>
          </a:prstGeom>
          <a:noFill/>
          <a:ln/>
        </p:spPr>
        <p:txBody>
          <a:bodyPr wrap="square" lIns="635" tIns="635" rIns="635" bIns="635" rtlCol="0" anchor="t">
            <a:normAutofit/>
          </a:bodyPr>
          <a:lstStyle/>
          <a:p>
            <a:pPr marL="0" indent="0">
              <a:lnSpc>
                <a:spcPct val="150000"/>
              </a:lnSpc>
              <a:buNone/>
            </a:pPr>
            <a:r>
              <a:rPr lang="en-US" sz="1500" dirty="0">
                <a:solidFill>
                  <a:srgbClr val="0B1F33"/>
                </a:solidFill>
                <a:latin typeface="Aptos" pitchFamily="34" charset="0"/>
                <a:ea typeface="Aptos" pitchFamily="34" charset="-122"/>
                <a:cs typeface="Aptos" pitchFamily="34" charset="-120"/>
              </a:rPr>
              <a:t>1. Dataset Collection: Dataset with 18 columns</a:t>
            </a:r>
            <a:endParaRPr lang="en-US" sz="1500" dirty="0"/>
          </a:p>
          <a:p>
            <a:pPr marL="0" indent="0">
              <a:lnSpc>
                <a:spcPct val="150000"/>
              </a:lnSpc>
              <a:buNone/>
            </a:pPr>
            <a:r>
              <a:rPr lang="en-US" sz="1500" dirty="0">
                <a:solidFill>
                  <a:srgbClr val="0B1F33"/>
                </a:solidFill>
                <a:latin typeface="Aptos" pitchFamily="34" charset="0"/>
                <a:ea typeface="Aptos" pitchFamily="34" charset="-122"/>
                <a:cs typeface="Aptos" pitchFamily="34" charset="-120"/>
              </a:rPr>
              <a:t>2. Data Preprocessing: Removal of null values, dropping missing rows and normalizing the dataset.</a:t>
            </a:r>
            <a:endParaRPr lang="en-US" sz="1500" dirty="0"/>
          </a:p>
          <a:p>
            <a:pPr marL="0" indent="0">
              <a:lnSpc>
                <a:spcPct val="150000"/>
              </a:lnSpc>
              <a:buNone/>
            </a:pPr>
            <a:r>
              <a:rPr lang="en-US" sz="1500" dirty="0">
                <a:solidFill>
                  <a:srgbClr val="0B1F33"/>
                </a:solidFill>
                <a:latin typeface="Aptos" pitchFamily="34" charset="0"/>
                <a:ea typeface="Aptos" pitchFamily="34" charset="-122"/>
                <a:cs typeface="Aptos" pitchFamily="34" charset="-120"/>
              </a:rPr>
              <a:t>3. Label Encoding: Replace the categorical labels with numeric values. This dataset has 7 classes, hence there are 7 labels (1-7).</a:t>
            </a:r>
            <a:endParaRPr lang="en-US" sz="1500" dirty="0"/>
          </a:p>
          <a:p>
            <a:pPr marL="0" indent="0">
              <a:lnSpc>
                <a:spcPct val="150000"/>
              </a:lnSpc>
              <a:buNone/>
            </a:pPr>
            <a:r>
              <a:rPr lang="en-US" sz="1500" dirty="0">
                <a:solidFill>
                  <a:srgbClr val="0B1F33"/>
                </a:solidFill>
                <a:latin typeface="Aptos" pitchFamily="34" charset="0"/>
                <a:ea typeface="Aptos" pitchFamily="34" charset="-122"/>
                <a:cs typeface="Aptos" pitchFamily="34" charset="-120"/>
              </a:rPr>
              <a:t>4. Feature Selection: Feature selection not required. All 17 features used.</a:t>
            </a:r>
            <a:endParaRPr lang="en-US" sz="1500" dirty="0"/>
          </a:p>
        </p:txBody>
      </p:sp>
      <p:sp>
        <p:nvSpPr>
          <p:cNvPr id="12" name="Text 10"/>
          <p:cNvSpPr/>
          <p:nvPr/>
        </p:nvSpPr>
        <p:spPr>
          <a:xfrm>
            <a:off x="6492240" y="2057400"/>
            <a:ext cx="4800600" cy="3886200"/>
          </a:xfrm>
          <a:prstGeom prst="rect">
            <a:avLst/>
          </a:prstGeom>
          <a:noFill/>
          <a:ln/>
        </p:spPr>
        <p:txBody>
          <a:bodyPr wrap="square" lIns="635" tIns="635" rIns="635" bIns="635" rtlCol="0" anchor="t">
            <a:normAutofit/>
          </a:bodyPr>
          <a:lstStyle/>
          <a:p>
            <a:pPr marL="0" indent="0">
              <a:lnSpc>
                <a:spcPct val="150000"/>
              </a:lnSpc>
              <a:buNone/>
            </a:pPr>
            <a:r>
              <a:rPr lang="en-US" sz="1500" dirty="0">
                <a:solidFill>
                  <a:srgbClr val="0B1F33"/>
                </a:solidFill>
                <a:latin typeface="Aptos" pitchFamily="34" charset="0"/>
                <a:ea typeface="Aptos" pitchFamily="34" charset="-122"/>
                <a:cs typeface="Aptos" pitchFamily="34" charset="-120"/>
              </a:rPr>
              <a:t>1. Dataset Collection: Dataset with 11 columns: 10 independent variables, 1 dependent variable.</a:t>
            </a:r>
            <a:endParaRPr lang="en-US" sz="1500" dirty="0"/>
          </a:p>
          <a:p>
            <a:pPr marL="0" indent="0">
              <a:lnSpc>
                <a:spcPct val="150000"/>
              </a:lnSpc>
              <a:buNone/>
            </a:pPr>
            <a:r>
              <a:rPr lang="en-US" sz="1500" dirty="0">
                <a:solidFill>
                  <a:srgbClr val="0B1F33"/>
                </a:solidFill>
                <a:latin typeface="Aptos" pitchFamily="34" charset="0"/>
                <a:ea typeface="Aptos" pitchFamily="34" charset="-122"/>
                <a:cs typeface="Aptos" pitchFamily="34" charset="-120"/>
              </a:rPr>
              <a:t>2. Data Preprocessing: Removal of null values, dropping missing rows and normalizing the dataset. Keeping only roles relevant to the field of computer science.</a:t>
            </a:r>
            <a:endParaRPr lang="en-US" sz="1500" dirty="0"/>
          </a:p>
          <a:p>
            <a:pPr marL="0" indent="0">
              <a:lnSpc>
                <a:spcPct val="150000"/>
              </a:lnSpc>
              <a:buNone/>
            </a:pPr>
            <a:r>
              <a:rPr lang="en-US" sz="1500" dirty="0">
                <a:solidFill>
                  <a:srgbClr val="0B1F33"/>
                </a:solidFill>
                <a:latin typeface="Aptos" pitchFamily="34" charset="0"/>
                <a:ea typeface="Aptos" pitchFamily="34" charset="-122"/>
                <a:cs typeface="Aptos" pitchFamily="34" charset="-120"/>
              </a:rPr>
              <a:t>3. Dataset Mapping: Replace the predictor variable roles with those in the skill proficiency dataset.</a:t>
            </a:r>
            <a:endParaRPr lang="en-US" sz="1500" dirty="0"/>
          </a:p>
          <a:p>
            <a:pPr marL="0" indent="0">
              <a:lnSpc>
                <a:spcPct val="150000"/>
              </a:lnSpc>
              <a:buNone/>
            </a:pPr>
            <a:r>
              <a:rPr lang="en-US" sz="1500" dirty="0">
                <a:solidFill>
                  <a:srgbClr val="0B1F33"/>
                </a:solidFill>
                <a:latin typeface="Aptos" pitchFamily="34" charset="0"/>
                <a:ea typeface="Aptos" pitchFamily="34" charset="-122"/>
                <a:cs typeface="Aptos" pitchFamily="34" charset="-120"/>
              </a:rPr>
              <a:t>4. Feature Selection: Feature selection not required. All 10 features used.</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F766E"/>
          </a:solidFill>
          <a:ln w="12700">
            <a:solidFill>
              <a:srgbClr val="0F766E"/>
            </a:solidFill>
            <a:prstDash val="solid"/>
          </a:ln>
        </p:spPr>
      </p:sp>
      <p:sp>
        <p:nvSpPr>
          <p:cNvPr id="3" name="Shape 1"/>
          <p:cNvSpPr/>
          <p:nvPr/>
        </p:nvSpPr>
        <p:spPr>
          <a:xfrm>
            <a:off x="0" y="146304"/>
            <a:ext cx="12191695" cy="45720"/>
          </a:xfrm>
          <a:prstGeom prst="rect">
            <a:avLst/>
          </a:prstGeom>
          <a:solidFill>
            <a:srgbClr val="1E3A8A">
              <a:alpha val="80000"/>
            </a:srgbClr>
          </a:solidFill>
          <a:ln w="12700">
            <a:solidFill>
              <a:srgbClr val="1E3A8A">
                <a:alpha val="0"/>
              </a:srgbClr>
            </a:solidFill>
            <a:prstDash val="solid"/>
          </a:ln>
        </p:spPr>
      </p:sp>
      <p:sp>
        <p:nvSpPr>
          <p:cNvPr id="4" name="Text 2"/>
          <p:cNvSpPr/>
          <p:nvPr/>
        </p:nvSpPr>
        <p:spPr>
          <a:xfrm>
            <a:off x="502920" y="384048"/>
            <a:ext cx="11155680" cy="502920"/>
          </a:xfrm>
          <a:prstGeom prst="rect">
            <a:avLst/>
          </a:prstGeom>
          <a:noFill/>
          <a:ln/>
        </p:spPr>
        <p:txBody>
          <a:bodyPr wrap="square" lIns="0" tIns="0" rIns="0" bIns="0" rtlCol="0" anchor="ctr">
            <a:normAutofit/>
          </a:bodyPr>
          <a:lstStyle/>
          <a:p>
            <a:pPr marL="0" indent="0">
              <a:buNone/>
            </a:pPr>
            <a:r>
              <a:rPr lang="en-US" sz="3000" b="1" dirty="0">
                <a:solidFill>
                  <a:srgbClr val="0B1F33"/>
                </a:solidFill>
                <a:latin typeface="Aptos Display" pitchFamily="34" charset="0"/>
                <a:ea typeface="Aptos Display" pitchFamily="34" charset="-122"/>
                <a:cs typeface="Aptos Display" pitchFamily="34" charset="-120"/>
              </a:rPr>
              <a:t>Dataset Mapping</a:t>
            </a:r>
            <a:endParaRPr lang="en-US" sz="3000" dirty="0"/>
          </a:p>
        </p:txBody>
      </p:sp>
      <p:sp>
        <p:nvSpPr>
          <p:cNvPr id="5" name="Shape 3"/>
          <p:cNvSpPr/>
          <p:nvPr/>
        </p:nvSpPr>
        <p:spPr>
          <a:xfrm>
            <a:off x="502920" y="960120"/>
            <a:ext cx="2103120" cy="0"/>
          </a:xfrm>
          <a:prstGeom prst="line">
            <a:avLst/>
          </a:prstGeom>
          <a:noFill/>
          <a:ln w="12700">
            <a:solidFill>
              <a:srgbClr val="14B8A6"/>
            </a:solidFill>
            <a:prstDash val="solid"/>
          </a:ln>
        </p:spPr>
      </p:sp>
      <p:sp>
        <p:nvSpPr>
          <p:cNvPr id="6" name="Text 4"/>
          <p:cNvSpPr/>
          <p:nvPr/>
        </p:nvSpPr>
        <p:spPr>
          <a:xfrm>
            <a:off x="11475720" y="6446520"/>
            <a:ext cx="320040" cy="182880"/>
          </a:xfrm>
          <a:prstGeom prst="rect">
            <a:avLst/>
          </a:prstGeom>
          <a:noFill/>
          <a:ln/>
        </p:spPr>
        <p:txBody>
          <a:bodyPr wrap="square" lIns="0" tIns="0" rIns="0" bIns="0" rtlCol="0" anchor="ctr"/>
          <a:lstStyle/>
          <a:p>
            <a:pPr marL="0" indent="0" algn="r">
              <a:buNone/>
            </a:pPr>
            <a:r>
              <a:rPr lang="en-US" sz="900" dirty="0">
                <a:solidFill>
                  <a:srgbClr val="64748B"/>
                </a:solidFill>
                <a:latin typeface="Aptos" pitchFamily="34" charset="0"/>
                <a:ea typeface="Aptos" pitchFamily="34" charset="-122"/>
                <a:cs typeface="Aptos" pitchFamily="34" charset="-120"/>
              </a:rPr>
              <a:t>8</a:t>
            </a:r>
            <a:endParaRPr lang="en-US" sz="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1691640" y="1124712"/>
          <a:ext cx="8823960" cy="5358384"/>
        </p:xfrm>
        <a:graphic>
          <a:graphicData uri="http://schemas.openxmlformats.org/drawingml/2006/table">
            <a:tbl>
              <a:tblPr/>
              <a:tblGrid>
                <a:gridCol w="4407408">
                  <a:extLst>
                    <a:ext uri="{9D8B030D-6E8A-4147-A177-3AD203B41FA5}">
                      <a16:colId xmlns:a16="http://schemas.microsoft.com/office/drawing/2014/main" val="20000"/>
                    </a:ext>
                  </a:extLst>
                </a:gridCol>
                <a:gridCol w="4416552">
                  <a:extLst>
                    <a:ext uri="{9D8B030D-6E8A-4147-A177-3AD203B41FA5}">
                      <a16:colId xmlns:a16="http://schemas.microsoft.com/office/drawing/2014/main" val="20001"/>
                    </a:ext>
                  </a:extLst>
                </a:gridCol>
              </a:tblGrid>
              <a:tr h="530352">
                <a:tc>
                  <a:txBody>
                    <a:bodyPr/>
                    <a:lstStyle/>
                    <a:p>
                      <a:pPr marL="0" indent="0" algn="ctr">
                        <a:buNone/>
                      </a:pPr>
                      <a:r>
                        <a:rPr lang="en-US" sz="1320" b="1" dirty="0">
                          <a:solidFill>
                            <a:srgbClr val="FFFFFF"/>
                          </a:solidFill>
                          <a:latin typeface="Aptos" pitchFamily="34" charset="0"/>
                          <a:ea typeface="Aptos" pitchFamily="34" charset="-122"/>
                          <a:cs typeface="Aptos" pitchFamily="34" charset="-120"/>
                        </a:rPr>
                        <a:t>Role as in the Personality Dataset</a:t>
                      </a:r>
                      <a:endParaRPr lang="en-US" sz="1320" dirty="0">
                        <a:latin typeface="Aptos" charset="0"/>
                        <a:ea typeface="Aptos" charset="0"/>
                        <a:cs typeface="Aptos" charset="0"/>
                      </a:endParaRPr>
                    </a:p>
                  </a:txBody>
                  <a:tcPr marL="45720" marR="45720">
                    <a:lnL w="10160" cap="flat" cmpd="sng" algn="ctr">
                      <a:solidFill>
                        <a:srgbClr val="94A3B8"/>
                      </a:solidFill>
                      <a:prstDash val="solid"/>
                      <a:round/>
                      <a:headEnd type="none" w="med" len="med"/>
                      <a:tailEnd type="none" w="med" len="med"/>
                    </a:lnL>
                    <a:lnR w="10160" cap="flat" cmpd="sng" algn="ctr">
                      <a:solidFill>
                        <a:srgbClr val="94A3B8"/>
                      </a:solidFill>
                      <a:prstDash val="solid"/>
                      <a:round/>
                      <a:headEnd type="none" w="med" len="med"/>
                      <a:tailEnd type="none" w="med" len="med"/>
                    </a:lnR>
                    <a:lnT w="10160" cap="flat" cmpd="sng" algn="ctr">
                      <a:solidFill>
                        <a:srgbClr val="94A3B8"/>
                      </a:solidFill>
                      <a:prstDash val="solid"/>
                      <a:round/>
                      <a:headEnd type="none" w="med" len="med"/>
                      <a:tailEnd type="none" w="med" len="med"/>
                    </a:lnT>
                    <a:lnB w="10160" cap="flat" cmpd="sng" algn="ctr">
                      <a:solidFill>
                        <a:srgbClr val="94A3B8"/>
                      </a:solidFill>
                      <a:prstDash val="solid"/>
                      <a:round/>
                      <a:headEnd type="none" w="med" len="med"/>
                      <a:tailEnd type="none" w="med" len="med"/>
                    </a:lnB>
                    <a:solidFill>
                      <a:srgbClr val="1E3A8A"/>
                    </a:solidFill>
                  </a:tcPr>
                </a:tc>
                <a:tc>
                  <a:txBody>
                    <a:bodyPr/>
                    <a:lstStyle/>
                    <a:p>
                      <a:pPr marL="0" indent="0" algn="ctr">
                        <a:buNone/>
                      </a:pPr>
                      <a:r>
                        <a:rPr lang="en-US" sz="1320" b="1" dirty="0">
                          <a:solidFill>
                            <a:srgbClr val="FFFFFF"/>
                          </a:solidFill>
                          <a:latin typeface="Aptos" pitchFamily="34" charset="0"/>
                          <a:ea typeface="Aptos" pitchFamily="34" charset="-122"/>
                          <a:cs typeface="Aptos" pitchFamily="34" charset="-120"/>
                        </a:rPr>
                        <a:t>Mapped Role according to Proficiency</a:t>
                      </a:r>
                      <a:endParaRPr lang="en-US" sz="1320" dirty="0">
                        <a:latin typeface="Aptos" charset="0"/>
                        <a:ea typeface="Aptos" charset="0"/>
                        <a:cs typeface="Aptos" charset="0"/>
                      </a:endParaRPr>
                    </a:p>
                    <a:p>
                      <a:pPr marL="0" indent="0" algn="ctr">
                        <a:buNone/>
                      </a:pPr>
                      <a:r>
                        <a:rPr lang="en-US" sz="1320" b="1" dirty="0">
                          <a:solidFill>
                            <a:srgbClr val="FFFFFF"/>
                          </a:solidFill>
                          <a:latin typeface="Aptos" pitchFamily="34" charset="0"/>
                          <a:ea typeface="Aptos" pitchFamily="34" charset="-122"/>
                          <a:cs typeface="Aptos" pitchFamily="34" charset="-120"/>
                        </a:rPr>
                        <a:t>Dataset</a:t>
                      </a:r>
                      <a:endParaRPr lang="en-US" sz="1320" dirty="0">
                        <a:latin typeface="Aptos" charset="0"/>
                        <a:ea typeface="Aptos" charset="0"/>
                        <a:cs typeface="Aptos" charset="0"/>
                      </a:endParaRPr>
                    </a:p>
                  </a:txBody>
                  <a:tcPr marL="45720" marR="45720">
                    <a:lnL w="10160" cap="flat" cmpd="sng" algn="ctr">
                      <a:solidFill>
                        <a:srgbClr val="94A3B8"/>
                      </a:solidFill>
                      <a:prstDash val="solid"/>
                      <a:round/>
                      <a:headEnd type="none" w="med" len="med"/>
                      <a:tailEnd type="none" w="med" len="med"/>
                    </a:lnL>
                    <a:lnR w="10160" cap="flat" cmpd="sng" algn="ctr">
                      <a:solidFill>
                        <a:srgbClr val="94A3B8"/>
                      </a:solidFill>
                      <a:prstDash val="solid"/>
                      <a:round/>
                      <a:headEnd type="none" w="med" len="med"/>
                      <a:tailEnd type="none" w="med" len="med"/>
                    </a:lnR>
                    <a:lnT w="10160" cap="flat" cmpd="sng" algn="ctr">
                      <a:solidFill>
                        <a:srgbClr val="94A3B8"/>
                      </a:solidFill>
                      <a:prstDash val="solid"/>
                      <a:round/>
                      <a:headEnd type="none" w="med" len="med"/>
                      <a:tailEnd type="none" w="med" len="med"/>
                    </a:lnT>
                    <a:lnB w="10160" cap="flat" cmpd="sng" algn="ctr">
                      <a:solidFill>
                        <a:srgbClr val="94A3B8"/>
                      </a:solidFill>
                      <a:prstDash val="solid"/>
                      <a:round/>
                      <a:headEnd type="none" w="med" len="med"/>
                      <a:tailEnd type="none" w="med" len="med"/>
                    </a:lnB>
                    <a:solidFill>
                      <a:srgbClr val="1E3A8A"/>
                    </a:solidFill>
                  </a:tcPr>
                </a:tc>
                <a:extLst>
                  <a:ext uri="{0D108BD9-81ED-4DB2-BD59-A6C34878D82A}">
                    <a16:rowId xmlns:a16="http://schemas.microsoft.com/office/drawing/2014/main" val="10000"/>
                  </a:ext>
                </a:extLst>
              </a:tr>
              <a:tr h="402336">
                <a:tc>
                  <a:txBody>
                    <a:bodyPr/>
                    <a:lstStyle/>
                    <a:p>
                      <a:pPr marL="0" indent="0">
                        <a:buNone/>
                      </a:pPr>
                      <a:r>
                        <a:rPr lang="en-US" sz="1320" dirty="0">
                          <a:solidFill>
                            <a:srgbClr val="0B1F33"/>
                          </a:solidFill>
                          <a:latin typeface="Aptos" pitchFamily="34" charset="0"/>
                          <a:ea typeface="Aptos" pitchFamily="34" charset="-122"/>
                          <a:cs typeface="Aptos" pitchFamily="34" charset="-120"/>
                        </a:rPr>
                        <a:t>Project Executive</a:t>
                      </a:r>
                      <a:endParaRPr lang="en-US" sz="1320" dirty="0">
                        <a:latin typeface="Aptos" charset="0"/>
                        <a:ea typeface="Aptos" charset="0"/>
                        <a:cs typeface="Aptos" charset="0"/>
                      </a:endParaRPr>
                    </a:p>
                  </a:txBody>
                  <a:tcPr marL="45720" marR="45720">
                    <a:lnL w="10160" cap="flat" cmpd="sng" algn="ctr">
                      <a:solidFill>
                        <a:srgbClr val="94A3B8"/>
                      </a:solidFill>
                      <a:prstDash val="solid"/>
                      <a:round/>
                      <a:headEnd type="none" w="med" len="med"/>
                      <a:tailEnd type="none" w="med" len="med"/>
                    </a:lnL>
                    <a:lnR w="10160" cap="flat" cmpd="sng" algn="ctr">
                      <a:solidFill>
                        <a:srgbClr val="94A3B8"/>
                      </a:solidFill>
                      <a:prstDash val="solid"/>
                      <a:round/>
                      <a:headEnd type="none" w="med" len="med"/>
                      <a:tailEnd type="none" w="med" len="med"/>
                    </a:lnR>
                    <a:lnT w="10160" cap="flat" cmpd="sng" algn="ctr">
                      <a:solidFill>
                        <a:srgbClr val="94A3B8"/>
                      </a:solidFill>
                      <a:prstDash val="solid"/>
                      <a:round/>
                      <a:headEnd type="none" w="med" len="med"/>
                      <a:tailEnd type="none" w="med" len="med"/>
                    </a:lnT>
                    <a:lnB w="10160" cap="flat" cmpd="sng" algn="ctr">
                      <a:solidFill>
                        <a:srgbClr val="94A3B8"/>
                      </a:solidFill>
                      <a:prstDash val="solid"/>
                      <a:round/>
                      <a:headEnd type="none" w="med" len="med"/>
                      <a:tailEnd type="none" w="med" len="med"/>
                    </a:lnB>
                  </a:tcPr>
                </a:tc>
                <a:tc>
                  <a:txBody>
                    <a:bodyPr/>
                    <a:lstStyle/>
                    <a:p>
                      <a:pPr marL="0" indent="0">
                        <a:buNone/>
                      </a:pPr>
                      <a:r>
                        <a:rPr lang="en-US" sz="1320" dirty="0">
                          <a:solidFill>
                            <a:srgbClr val="0B1F33"/>
                          </a:solidFill>
                          <a:latin typeface="Aptos" pitchFamily="34" charset="0"/>
                          <a:ea typeface="Aptos" pitchFamily="34" charset="-122"/>
                          <a:cs typeface="Aptos" pitchFamily="34" charset="-120"/>
                        </a:rPr>
                        <a:t>Application Support Engineer</a:t>
                      </a:r>
                      <a:endParaRPr lang="en-US" sz="1320" dirty="0">
                        <a:latin typeface="Aptos" charset="0"/>
                        <a:ea typeface="Aptos" charset="0"/>
                        <a:cs typeface="Aptos" charset="0"/>
                      </a:endParaRPr>
                    </a:p>
                  </a:txBody>
                  <a:tcPr marL="45720" marR="45720">
                    <a:lnL w="10160" cap="flat" cmpd="sng" algn="ctr">
                      <a:solidFill>
                        <a:srgbClr val="94A3B8"/>
                      </a:solidFill>
                      <a:prstDash val="solid"/>
                      <a:round/>
                      <a:headEnd type="none" w="med" len="med"/>
                      <a:tailEnd type="none" w="med" len="med"/>
                    </a:lnL>
                    <a:lnR w="10160" cap="flat" cmpd="sng" algn="ctr">
                      <a:solidFill>
                        <a:srgbClr val="94A3B8"/>
                      </a:solidFill>
                      <a:prstDash val="solid"/>
                      <a:round/>
                      <a:headEnd type="none" w="med" len="med"/>
                      <a:tailEnd type="none" w="med" len="med"/>
                    </a:lnR>
                    <a:lnT w="10160" cap="flat" cmpd="sng" algn="ctr">
                      <a:solidFill>
                        <a:srgbClr val="94A3B8"/>
                      </a:solidFill>
                      <a:prstDash val="solid"/>
                      <a:round/>
                      <a:headEnd type="none" w="med" len="med"/>
                      <a:tailEnd type="none" w="med" len="med"/>
                    </a:lnT>
                    <a:lnB w="10160" cap="flat" cmpd="sng" algn="ctr">
                      <a:solidFill>
                        <a:srgbClr val="94A3B8"/>
                      </a:solidFill>
                      <a:prstDash val="solid"/>
                      <a:round/>
                      <a:headEnd type="none" w="med" len="med"/>
                      <a:tailEnd type="none" w="med" len="med"/>
                    </a:lnB>
                  </a:tcPr>
                </a:tc>
                <a:extLst>
                  <a:ext uri="{0D108BD9-81ED-4DB2-BD59-A6C34878D82A}">
                    <a16:rowId xmlns:a16="http://schemas.microsoft.com/office/drawing/2014/main" val="10001"/>
                  </a:ext>
                </a:extLst>
              </a:tr>
              <a:tr h="402336">
                <a:tc>
                  <a:txBody>
                    <a:bodyPr/>
                    <a:lstStyle/>
                    <a:p>
                      <a:pPr marL="0" indent="0">
                        <a:buNone/>
                      </a:pPr>
                      <a:r>
                        <a:rPr lang="en-US" sz="1320" dirty="0">
                          <a:solidFill>
                            <a:srgbClr val="0B1F33"/>
                          </a:solidFill>
                          <a:latin typeface="Aptos" pitchFamily="34" charset="0"/>
                          <a:ea typeface="Aptos" pitchFamily="34" charset="-122"/>
                          <a:cs typeface="Aptos" pitchFamily="34" charset="-120"/>
                        </a:rPr>
                        <a:t>Network Security Engineer</a:t>
                      </a:r>
                      <a:endParaRPr lang="en-US" sz="1320" dirty="0">
                        <a:latin typeface="Aptos" charset="0"/>
                        <a:ea typeface="Aptos" charset="0"/>
                        <a:cs typeface="Aptos" charset="0"/>
                      </a:endParaRPr>
                    </a:p>
                  </a:txBody>
                  <a:tcPr marL="45720" marR="45720">
                    <a:lnL w="10160" cap="flat" cmpd="sng" algn="ctr">
                      <a:solidFill>
                        <a:srgbClr val="94A3B8"/>
                      </a:solidFill>
                      <a:prstDash val="solid"/>
                      <a:round/>
                      <a:headEnd type="none" w="med" len="med"/>
                      <a:tailEnd type="none" w="med" len="med"/>
                    </a:lnL>
                    <a:lnR w="10160" cap="flat" cmpd="sng" algn="ctr">
                      <a:solidFill>
                        <a:srgbClr val="94A3B8"/>
                      </a:solidFill>
                      <a:prstDash val="solid"/>
                      <a:round/>
                      <a:headEnd type="none" w="med" len="med"/>
                      <a:tailEnd type="none" w="med" len="med"/>
                    </a:lnR>
                    <a:lnT w="10160" cap="flat" cmpd="sng" algn="ctr">
                      <a:solidFill>
                        <a:srgbClr val="94A3B8"/>
                      </a:solidFill>
                      <a:prstDash val="solid"/>
                      <a:round/>
                      <a:headEnd type="none" w="med" len="med"/>
                      <a:tailEnd type="none" w="med" len="med"/>
                    </a:lnT>
                    <a:lnB w="10160" cap="flat" cmpd="sng" algn="ctr">
                      <a:solidFill>
                        <a:srgbClr val="94A3B8"/>
                      </a:solidFill>
                      <a:prstDash val="solid"/>
                      <a:round/>
                      <a:headEnd type="none" w="med" len="med"/>
                      <a:tailEnd type="none" w="med" len="med"/>
                    </a:lnB>
                  </a:tcPr>
                </a:tc>
                <a:tc>
                  <a:txBody>
                    <a:bodyPr/>
                    <a:lstStyle/>
                    <a:p>
                      <a:pPr marL="0" indent="0">
                        <a:buNone/>
                      </a:pPr>
                      <a:r>
                        <a:rPr lang="en-US" sz="1320" dirty="0">
                          <a:solidFill>
                            <a:srgbClr val="0B1F33"/>
                          </a:solidFill>
                          <a:latin typeface="Aptos" pitchFamily="34" charset="0"/>
                          <a:ea typeface="Aptos" pitchFamily="34" charset="-122"/>
                          <a:cs typeface="Aptos" pitchFamily="34" charset="-120"/>
                        </a:rPr>
                        <a:t>Cyber Security Specialist</a:t>
                      </a:r>
                      <a:endParaRPr lang="en-US" sz="1320" dirty="0">
                        <a:latin typeface="Aptos" charset="0"/>
                        <a:ea typeface="Aptos" charset="0"/>
                        <a:cs typeface="Aptos" charset="0"/>
                      </a:endParaRPr>
                    </a:p>
                  </a:txBody>
                  <a:tcPr marL="45720" marR="45720">
                    <a:lnL w="10160" cap="flat" cmpd="sng" algn="ctr">
                      <a:solidFill>
                        <a:srgbClr val="94A3B8"/>
                      </a:solidFill>
                      <a:prstDash val="solid"/>
                      <a:round/>
                      <a:headEnd type="none" w="med" len="med"/>
                      <a:tailEnd type="none" w="med" len="med"/>
                    </a:lnL>
                    <a:lnR w="10160" cap="flat" cmpd="sng" algn="ctr">
                      <a:solidFill>
                        <a:srgbClr val="94A3B8"/>
                      </a:solidFill>
                      <a:prstDash val="solid"/>
                      <a:round/>
                      <a:headEnd type="none" w="med" len="med"/>
                      <a:tailEnd type="none" w="med" len="med"/>
                    </a:lnR>
                    <a:lnT w="10160" cap="flat" cmpd="sng" algn="ctr">
                      <a:solidFill>
                        <a:srgbClr val="94A3B8"/>
                      </a:solidFill>
                      <a:prstDash val="solid"/>
                      <a:round/>
                      <a:headEnd type="none" w="med" len="med"/>
                      <a:tailEnd type="none" w="med" len="med"/>
                    </a:lnT>
                    <a:lnB w="10160" cap="flat" cmpd="sng" algn="ctr">
                      <a:solidFill>
                        <a:srgbClr val="94A3B8"/>
                      </a:solidFill>
                      <a:prstDash val="solid"/>
                      <a:round/>
                      <a:headEnd type="none" w="med" len="med"/>
                      <a:tailEnd type="none" w="med" len="med"/>
                    </a:lnB>
                  </a:tcPr>
                </a:tc>
                <a:extLst>
                  <a:ext uri="{0D108BD9-81ED-4DB2-BD59-A6C34878D82A}">
                    <a16:rowId xmlns:a16="http://schemas.microsoft.com/office/drawing/2014/main" val="10002"/>
                  </a:ext>
                </a:extLst>
              </a:tr>
              <a:tr h="402336">
                <a:tc>
                  <a:txBody>
                    <a:bodyPr/>
                    <a:lstStyle/>
                    <a:p>
                      <a:pPr marL="0" indent="0">
                        <a:buNone/>
                      </a:pPr>
                      <a:r>
                        <a:rPr lang="en-US" sz="1320" dirty="0">
                          <a:solidFill>
                            <a:srgbClr val="0B1F33"/>
                          </a:solidFill>
                          <a:latin typeface="Aptos" pitchFamily="34" charset="0"/>
                          <a:ea typeface="Aptos" pitchFamily="34" charset="-122"/>
                          <a:cs typeface="Aptos" pitchFamily="34" charset="-120"/>
                        </a:rPr>
                        <a:t>Business Intelligence Analyst</a:t>
                      </a:r>
                      <a:endParaRPr lang="en-US" sz="1320" dirty="0">
                        <a:latin typeface="Aptos" charset="0"/>
                        <a:ea typeface="Aptos" charset="0"/>
                        <a:cs typeface="Aptos" charset="0"/>
                      </a:endParaRPr>
                    </a:p>
                  </a:txBody>
                  <a:tcPr marL="45720" marR="45720">
                    <a:lnL w="10160" cap="flat" cmpd="sng" algn="ctr">
                      <a:solidFill>
                        <a:srgbClr val="94A3B8"/>
                      </a:solidFill>
                      <a:prstDash val="solid"/>
                      <a:round/>
                      <a:headEnd type="none" w="med" len="med"/>
                      <a:tailEnd type="none" w="med" len="med"/>
                    </a:lnL>
                    <a:lnR w="10160" cap="flat" cmpd="sng" algn="ctr">
                      <a:solidFill>
                        <a:srgbClr val="94A3B8"/>
                      </a:solidFill>
                      <a:prstDash val="solid"/>
                      <a:round/>
                      <a:headEnd type="none" w="med" len="med"/>
                      <a:tailEnd type="none" w="med" len="med"/>
                    </a:lnR>
                    <a:lnT w="10160" cap="flat" cmpd="sng" algn="ctr">
                      <a:solidFill>
                        <a:srgbClr val="94A3B8"/>
                      </a:solidFill>
                      <a:prstDash val="solid"/>
                      <a:round/>
                      <a:headEnd type="none" w="med" len="med"/>
                      <a:tailEnd type="none" w="med" len="med"/>
                    </a:lnT>
                    <a:lnB w="10160" cap="flat" cmpd="sng" algn="ctr">
                      <a:solidFill>
                        <a:srgbClr val="94A3B8"/>
                      </a:solidFill>
                      <a:prstDash val="solid"/>
                      <a:round/>
                      <a:headEnd type="none" w="med" len="med"/>
                      <a:tailEnd type="none" w="med" len="med"/>
                    </a:lnB>
                  </a:tcPr>
                </a:tc>
                <a:tc>
                  <a:txBody>
                    <a:bodyPr/>
                    <a:lstStyle/>
                    <a:p>
                      <a:pPr marL="0" indent="0">
                        <a:buNone/>
                      </a:pPr>
                      <a:r>
                        <a:rPr lang="en-US" sz="1320" dirty="0">
                          <a:solidFill>
                            <a:srgbClr val="0B1F33"/>
                          </a:solidFill>
                          <a:latin typeface="Aptos" pitchFamily="34" charset="0"/>
                          <a:ea typeface="Aptos" pitchFamily="34" charset="-122"/>
                          <a:cs typeface="Aptos" pitchFamily="34" charset="-120"/>
                        </a:rPr>
                        <a:t>Business Analyst</a:t>
                      </a:r>
                      <a:endParaRPr lang="en-US" sz="1320" dirty="0">
                        <a:latin typeface="Aptos" charset="0"/>
                        <a:ea typeface="Aptos" charset="0"/>
                        <a:cs typeface="Aptos" charset="0"/>
                      </a:endParaRPr>
                    </a:p>
                  </a:txBody>
                  <a:tcPr marL="45720" marR="45720">
                    <a:lnL w="10160" cap="flat" cmpd="sng" algn="ctr">
                      <a:solidFill>
                        <a:srgbClr val="94A3B8"/>
                      </a:solidFill>
                      <a:prstDash val="solid"/>
                      <a:round/>
                      <a:headEnd type="none" w="med" len="med"/>
                      <a:tailEnd type="none" w="med" len="med"/>
                    </a:lnL>
                    <a:lnR w="10160" cap="flat" cmpd="sng" algn="ctr">
                      <a:solidFill>
                        <a:srgbClr val="94A3B8"/>
                      </a:solidFill>
                      <a:prstDash val="solid"/>
                      <a:round/>
                      <a:headEnd type="none" w="med" len="med"/>
                      <a:tailEnd type="none" w="med" len="med"/>
                    </a:lnR>
                    <a:lnT w="10160" cap="flat" cmpd="sng" algn="ctr">
                      <a:solidFill>
                        <a:srgbClr val="94A3B8"/>
                      </a:solidFill>
                      <a:prstDash val="solid"/>
                      <a:round/>
                      <a:headEnd type="none" w="med" len="med"/>
                      <a:tailEnd type="none" w="med" len="med"/>
                    </a:lnT>
                    <a:lnB w="10160" cap="flat" cmpd="sng" algn="ctr">
                      <a:solidFill>
                        <a:srgbClr val="94A3B8"/>
                      </a:solidFill>
                      <a:prstDash val="solid"/>
                      <a:round/>
                      <a:headEnd type="none" w="med" len="med"/>
                      <a:tailEnd type="none" w="med" len="med"/>
                    </a:lnB>
                  </a:tcPr>
                </a:tc>
                <a:extLst>
                  <a:ext uri="{0D108BD9-81ED-4DB2-BD59-A6C34878D82A}">
                    <a16:rowId xmlns:a16="http://schemas.microsoft.com/office/drawing/2014/main" val="10003"/>
                  </a:ext>
                </a:extLst>
              </a:tr>
              <a:tr h="402336">
                <a:tc>
                  <a:txBody>
                    <a:bodyPr/>
                    <a:lstStyle/>
                    <a:p>
                      <a:pPr marL="0" indent="0">
                        <a:buNone/>
                      </a:pPr>
                      <a:r>
                        <a:rPr lang="en-US" sz="1320" dirty="0">
                          <a:solidFill>
                            <a:srgbClr val="0B1F33"/>
                          </a:solidFill>
                          <a:latin typeface="Aptos" pitchFamily="34" charset="0"/>
                          <a:ea typeface="Aptos" pitchFamily="34" charset="-122"/>
                          <a:cs typeface="Aptos" pitchFamily="34" charset="-120"/>
                        </a:rPr>
                        <a:t>Internet Designer</a:t>
                      </a:r>
                      <a:endParaRPr lang="en-US" sz="1320" dirty="0">
                        <a:latin typeface="Aptos" charset="0"/>
                        <a:ea typeface="Aptos" charset="0"/>
                        <a:cs typeface="Aptos" charset="0"/>
                      </a:endParaRPr>
                    </a:p>
                  </a:txBody>
                  <a:tcPr marL="45720" marR="45720">
                    <a:lnL w="10160" cap="flat" cmpd="sng" algn="ctr">
                      <a:solidFill>
                        <a:srgbClr val="94A3B8"/>
                      </a:solidFill>
                      <a:prstDash val="solid"/>
                      <a:round/>
                      <a:headEnd type="none" w="med" len="med"/>
                      <a:tailEnd type="none" w="med" len="med"/>
                    </a:lnL>
                    <a:lnR w="10160" cap="flat" cmpd="sng" algn="ctr">
                      <a:solidFill>
                        <a:srgbClr val="94A3B8"/>
                      </a:solidFill>
                      <a:prstDash val="solid"/>
                      <a:round/>
                      <a:headEnd type="none" w="med" len="med"/>
                      <a:tailEnd type="none" w="med" len="med"/>
                    </a:lnR>
                    <a:lnT w="10160" cap="flat" cmpd="sng" algn="ctr">
                      <a:solidFill>
                        <a:srgbClr val="94A3B8"/>
                      </a:solidFill>
                      <a:prstDash val="solid"/>
                      <a:round/>
                      <a:headEnd type="none" w="med" len="med"/>
                      <a:tailEnd type="none" w="med" len="med"/>
                    </a:lnT>
                    <a:lnB w="10160" cap="flat" cmpd="sng" algn="ctr">
                      <a:solidFill>
                        <a:srgbClr val="94A3B8"/>
                      </a:solidFill>
                      <a:prstDash val="solid"/>
                      <a:round/>
                      <a:headEnd type="none" w="med" len="med"/>
                      <a:tailEnd type="none" w="med" len="med"/>
                    </a:lnB>
                  </a:tcPr>
                </a:tc>
                <a:tc>
                  <a:txBody>
                    <a:bodyPr/>
                    <a:lstStyle/>
                    <a:p>
                      <a:pPr marL="0" indent="0">
                        <a:buNone/>
                      </a:pPr>
                      <a:r>
                        <a:rPr lang="en-US" sz="1320" dirty="0">
                          <a:solidFill>
                            <a:srgbClr val="0B1F33"/>
                          </a:solidFill>
                          <a:latin typeface="Aptos" pitchFamily="34" charset="0"/>
                          <a:ea typeface="Aptos" pitchFamily="34" charset="-122"/>
                          <a:cs typeface="Aptos" pitchFamily="34" charset="-120"/>
                        </a:rPr>
                        <a:t>Graphics Designer</a:t>
                      </a:r>
                      <a:endParaRPr lang="en-US" sz="1320" dirty="0">
                        <a:latin typeface="Aptos" charset="0"/>
                        <a:ea typeface="Aptos" charset="0"/>
                        <a:cs typeface="Aptos" charset="0"/>
                      </a:endParaRPr>
                    </a:p>
                  </a:txBody>
                  <a:tcPr marL="45720" marR="45720">
                    <a:lnL w="10160" cap="flat" cmpd="sng" algn="ctr">
                      <a:solidFill>
                        <a:srgbClr val="94A3B8"/>
                      </a:solidFill>
                      <a:prstDash val="solid"/>
                      <a:round/>
                      <a:headEnd type="none" w="med" len="med"/>
                      <a:tailEnd type="none" w="med" len="med"/>
                    </a:lnL>
                    <a:lnR w="10160" cap="flat" cmpd="sng" algn="ctr">
                      <a:solidFill>
                        <a:srgbClr val="94A3B8"/>
                      </a:solidFill>
                      <a:prstDash val="solid"/>
                      <a:round/>
                      <a:headEnd type="none" w="med" len="med"/>
                      <a:tailEnd type="none" w="med" len="med"/>
                    </a:lnR>
                    <a:lnT w="10160" cap="flat" cmpd="sng" algn="ctr">
                      <a:solidFill>
                        <a:srgbClr val="94A3B8"/>
                      </a:solidFill>
                      <a:prstDash val="solid"/>
                      <a:round/>
                      <a:headEnd type="none" w="med" len="med"/>
                      <a:tailEnd type="none" w="med" len="med"/>
                    </a:lnT>
                    <a:lnB w="10160" cap="flat" cmpd="sng" algn="ctr">
                      <a:solidFill>
                        <a:srgbClr val="94A3B8"/>
                      </a:solidFill>
                      <a:prstDash val="solid"/>
                      <a:round/>
                      <a:headEnd type="none" w="med" len="med"/>
                      <a:tailEnd type="none" w="med" len="med"/>
                    </a:lnB>
                  </a:tcPr>
                </a:tc>
                <a:extLst>
                  <a:ext uri="{0D108BD9-81ED-4DB2-BD59-A6C34878D82A}">
                    <a16:rowId xmlns:a16="http://schemas.microsoft.com/office/drawing/2014/main" val="10004"/>
                  </a:ext>
                </a:extLst>
              </a:tr>
              <a:tr h="402336">
                <a:tc>
                  <a:txBody>
                    <a:bodyPr/>
                    <a:lstStyle/>
                    <a:p>
                      <a:pPr marL="0" indent="0">
                        <a:buNone/>
                      </a:pPr>
                      <a:r>
                        <a:rPr lang="en-US" sz="1320" dirty="0">
                          <a:solidFill>
                            <a:srgbClr val="0B1F33"/>
                          </a:solidFill>
                          <a:latin typeface="Aptos" pitchFamily="34" charset="0"/>
                          <a:ea typeface="Aptos" pitchFamily="34" charset="-122"/>
                          <a:cs typeface="Aptos" pitchFamily="34" charset="-120"/>
                        </a:rPr>
                        <a:t>Compliance Specialist</a:t>
                      </a:r>
                      <a:endParaRPr lang="en-US" sz="1320" dirty="0">
                        <a:latin typeface="Aptos" charset="0"/>
                        <a:ea typeface="Aptos" charset="0"/>
                        <a:cs typeface="Aptos" charset="0"/>
                      </a:endParaRPr>
                    </a:p>
                  </a:txBody>
                  <a:tcPr marL="45720" marR="45720">
                    <a:lnL w="10160" cap="flat" cmpd="sng" algn="ctr">
                      <a:solidFill>
                        <a:srgbClr val="94A3B8"/>
                      </a:solidFill>
                      <a:prstDash val="solid"/>
                      <a:round/>
                      <a:headEnd type="none" w="med" len="med"/>
                      <a:tailEnd type="none" w="med" len="med"/>
                    </a:lnL>
                    <a:lnR w="10160" cap="flat" cmpd="sng" algn="ctr">
                      <a:solidFill>
                        <a:srgbClr val="94A3B8"/>
                      </a:solidFill>
                      <a:prstDash val="solid"/>
                      <a:round/>
                      <a:headEnd type="none" w="med" len="med"/>
                      <a:tailEnd type="none" w="med" len="med"/>
                    </a:lnR>
                    <a:lnT w="10160" cap="flat" cmpd="sng" algn="ctr">
                      <a:solidFill>
                        <a:srgbClr val="94A3B8"/>
                      </a:solidFill>
                      <a:prstDash val="solid"/>
                      <a:round/>
                      <a:headEnd type="none" w="med" len="med"/>
                      <a:tailEnd type="none" w="med" len="med"/>
                    </a:lnT>
                    <a:lnB w="10160" cap="flat" cmpd="sng" algn="ctr">
                      <a:solidFill>
                        <a:srgbClr val="94A3B8"/>
                      </a:solidFill>
                      <a:prstDash val="solid"/>
                      <a:round/>
                      <a:headEnd type="none" w="med" len="med"/>
                      <a:tailEnd type="none" w="med" len="med"/>
                    </a:lnB>
                  </a:tcPr>
                </a:tc>
                <a:tc>
                  <a:txBody>
                    <a:bodyPr/>
                    <a:lstStyle/>
                    <a:p>
                      <a:pPr marL="0" indent="0">
                        <a:buNone/>
                      </a:pPr>
                      <a:r>
                        <a:rPr lang="en-US" sz="1320" dirty="0">
                          <a:solidFill>
                            <a:srgbClr val="0B1F33"/>
                          </a:solidFill>
                          <a:latin typeface="Aptos" pitchFamily="34" charset="0"/>
                          <a:ea typeface="Aptos" pitchFamily="34" charset="-122"/>
                          <a:cs typeface="Aptos" pitchFamily="34" charset="-120"/>
                        </a:rPr>
                        <a:t>Information Security Specialist</a:t>
                      </a:r>
                      <a:endParaRPr lang="en-US" sz="1320" dirty="0">
                        <a:latin typeface="Aptos" charset="0"/>
                        <a:ea typeface="Aptos" charset="0"/>
                        <a:cs typeface="Aptos" charset="0"/>
                      </a:endParaRPr>
                    </a:p>
                  </a:txBody>
                  <a:tcPr marL="45720" marR="45720">
                    <a:lnL w="10160" cap="flat" cmpd="sng" algn="ctr">
                      <a:solidFill>
                        <a:srgbClr val="94A3B8"/>
                      </a:solidFill>
                      <a:prstDash val="solid"/>
                      <a:round/>
                      <a:headEnd type="none" w="med" len="med"/>
                      <a:tailEnd type="none" w="med" len="med"/>
                    </a:lnL>
                    <a:lnR w="10160" cap="flat" cmpd="sng" algn="ctr">
                      <a:solidFill>
                        <a:srgbClr val="94A3B8"/>
                      </a:solidFill>
                      <a:prstDash val="solid"/>
                      <a:round/>
                      <a:headEnd type="none" w="med" len="med"/>
                      <a:tailEnd type="none" w="med" len="med"/>
                    </a:lnR>
                    <a:lnT w="10160" cap="flat" cmpd="sng" algn="ctr">
                      <a:solidFill>
                        <a:srgbClr val="94A3B8"/>
                      </a:solidFill>
                      <a:prstDash val="solid"/>
                      <a:round/>
                      <a:headEnd type="none" w="med" len="med"/>
                      <a:tailEnd type="none" w="med" len="med"/>
                    </a:lnT>
                    <a:lnB w="10160" cap="flat" cmpd="sng" algn="ctr">
                      <a:solidFill>
                        <a:srgbClr val="94A3B8"/>
                      </a:solidFill>
                      <a:prstDash val="solid"/>
                      <a:round/>
                      <a:headEnd type="none" w="med" len="med"/>
                      <a:tailEnd type="none" w="med" len="med"/>
                    </a:lnB>
                  </a:tcPr>
                </a:tc>
                <a:extLst>
                  <a:ext uri="{0D108BD9-81ED-4DB2-BD59-A6C34878D82A}">
                    <a16:rowId xmlns:a16="http://schemas.microsoft.com/office/drawing/2014/main" val="10005"/>
                  </a:ext>
                </a:extLst>
              </a:tr>
              <a:tr h="402336">
                <a:tc>
                  <a:txBody>
                    <a:bodyPr/>
                    <a:lstStyle/>
                    <a:p>
                      <a:pPr marL="0" indent="0">
                        <a:buNone/>
                      </a:pPr>
                      <a:r>
                        <a:rPr lang="en-US" sz="1320" dirty="0">
                          <a:solidFill>
                            <a:srgbClr val="0B1F33"/>
                          </a:solidFill>
                          <a:latin typeface="Aptos" pitchFamily="34" charset="0"/>
                          <a:ea typeface="Aptos" pitchFamily="34" charset="-122"/>
                          <a:cs typeface="Aptos" pitchFamily="34" charset="-120"/>
                        </a:rPr>
                        <a:t>Network Director</a:t>
                      </a:r>
                      <a:endParaRPr lang="en-US" sz="1320" dirty="0">
                        <a:latin typeface="Aptos" charset="0"/>
                        <a:ea typeface="Aptos" charset="0"/>
                        <a:cs typeface="Aptos" charset="0"/>
                      </a:endParaRPr>
                    </a:p>
                  </a:txBody>
                  <a:tcPr marL="45720" marR="45720">
                    <a:lnL w="10160" cap="flat" cmpd="sng" algn="ctr">
                      <a:solidFill>
                        <a:srgbClr val="94A3B8"/>
                      </a:solidFill>
                      <a:prstDash val="solid"/>
                      <a:round/>
                      <a:headEnd type="none" w="med" len="med"/>
                      <a:tailEnd type="none" w="med" len="med"/>
                    </a:lnL>
                    <a:lnR w="10160" cap="flat" cmpd="sng" algn="ctr">
                      <a:solidFill>
                        <a:srgbClr val="94A3B8"/>
                      </a:solidFill>
                      <a:prstDash val="solid"/>
                      <a:round/>
                      <a:headEnd type="none" w="med" len="med"/>
                      <a:tailEnd type="none" w="med" len="med"/>
                    </a:lnR>
                    <a:lnT w="10160" cap="flat" cmpd="sng" algn="ctr">
                      <a:solidFill>
                        <a:srgbClr val="94A3B8"/>
                      </a:solidFill>
                      <a:prstDash val="solid"/>
                      <a:round/>
                      <a:headEnd type="none" w="med" len="med"/>
                      <a:tailEnd type="none" w="med" len="med"/>
                    </a:lnT>
                    <a:lnB w="10160" cap="flat" cmpd="sng" algn="ctr">
                      <a:solidFill>
                        <a:srgbClr val="94A3B8"/>
                      </a:solidFill>
                      <a:prstDash val="solid"/>
                      <a:round/>
                      <a:headEnd type="none" w="med" len="med"/>
                      <a:tailEnd type="none" w="med" len="med"/>
                    </a:lnB>
                  </a:tcPr>
                </a:tc>
                <a:tc>
                  <a:txBody>
                    <a:bodyPr/>
                    <a:lstStyle/>
                    <a:p>
                      <a:pPr marL="0" indent="0">
                        <a:buNone/>
                      </a:pPr>
                      <a:r>
                        <a:rPr lang="en-US" sz="1320" dirty="0">
                          <a:solidFill>
                            <a:srgbClr val="0B1F33"/>
                          </a:solidFill>
                          <a:latin typeface="Aptos" pitchFamily="34" charset="0"/>
                          <a:ea typeface="Aptos" pitchFamily="34" charset="-122"/>
                          <a:cs typeface="Aptos" pitchFamily="34" charset="-120"/>
                        </a:rPr>
                        <a:t>Networking Engineer</a:t>
                      </a:r>
                      <a:endParaRPr lang="en-US" sz="1320" dirty="0">
                        <a:latin typeface="Aptos" charset="0"/>
                        <a:ea typeface="Aptos" charset="0"/>
                        <a:cs typeface="Aptos" charset="0"/>
                      </a:endParaRPr>
                    </a:p>
                  </a:txBody>
                  <a:tcPr marL="45720" marR="45720">
                    <a:lnL w="10160" cap="flat" cmpd="sng" algn="ctr">
                      <a:solidFill>
                        <a:srgbClr val="94A3B8"/>
                      </a:solidFill>
                      <a:prstDash val="solid"/>
                      <a:round/>
                      <a:headEnd type="none" w="med" len="med"/>
                      <a:tailEnd type="none" w="med" len="med"/>
                    </a:lnL>
                    <a:lnR w="10160" cap="flat" cmpd="sng" algn="ctr">
                      <a:solidFill>
                        <a:srgbClr val="94A3B8"/>
                      </a:solidFill>
                      <a:prstDash val="solid"/>
                      <a:round/>
                      <a:headEnd type="none" w="med" len="med"/>
                      <a:tailEnd type="none" w="med" len="med"/>
                    </a:lnR>
                    <a:lnT w="10160" cap="flat" cmpd="sng" algn="ctr">
                      <a:solidFill>
                        <a:srgbClr val="94A3B8"/>
                      </a:solidFill>
                      <a:prstDash val="solid"/>
                      <a:round/>
                      <a:headEnd type="none" w="med" len="med"/>
                      <a:tailEnd type="none" w="med" len="med"/>
                    </a:lnT>
                    <a:lnB w="10160" cap="flat" cmpd="sng" algn="ctr">
                      <a:solidFill>
                        <a:srgbClr val="94A3B8"/>
                      </a:solidFill>
                      <a:prstDash val="solid"/>
                      <a:round/>
                      <a:headEnd type="none" w="med" len="med"/>
                      <a:tailEnd type="none" w="med" len="med"/>
                    </a:lnB>
                  </a:tcPr>
                </a:tc>
                <a:extLst>
                  <a:ext uri="{0D108BD9-81ED-4DB2-BD59-A6C34878D82A}">
                    <a16:rowId xmlns:a16="http://schemas.microsoft.com/office/drawing/2014/main" val="10006"/>
                  </a:ext>
                </a:extLst>
              </a:tr>
              <a:tr h="402336">
                <a:tc>
                  <a:txBody>
                    <a:bodyPr/>
                    <a:lstStyle/>
                    <a:p>
                      <a:pPr marL="0" indent="0">
                        <a:buNone/>
                      </a:pPr>
                      <a:r>
                        <a:rPr lang="en-US" sz="1320" dirty="0">
                          <a:solidFill>
                            <a:srgbClr val="0B1F33"/>
                          </a:solidFill>
                          <a:latin typeface="Aptos" pitchFamily="34" charset="0"/>
                          <a:ea typeface="Aptos" pitchFamily="34" charset="-122"/>
                          <a:cs typeface="Aptos" pitchFamily="34" charset="-120"/>
                        </a:rPr>
                        <a:t>Computer Architect</a:t>
                      </a:r>
                      <a:endParaRPr lang="en-US" sz="1320" dirty="0">
                        <a:latin typeface="Aptos" charset="0"/>
                        <a:ea typeface="Aptos" charset="0"/>
                        <a:cs typeface="Aptos" charset="0"/>
                      </a:endParaRPr>
                    </a:p>
                  </a:txBody>
                  <a:tcPr marL="45720" marR="45720">
                    <a:lnL w="10160" cap="flat" cmpd="sng" algn="ctr">
                      <a:solidFill>
                        <a:srgbClr val="94A3B8"/>
                      </a:solidFill>
                      <a:prstDash val="solid"/>
                      <a:round/>
                      <a:headEnd type="none" w="med" len="med"/>
                      <a:tailEnd type="none" w="med" len="med"/>
                    </a:lnL>
                    <a:lnR w="10160" cap="flat" cmpd="sng" algn="ctr">
                      <a:solidFill>
                        <a:srgbClr val="94A3B8"/>
                      </a:solidFill>
                      <a:prstDash val="solid"/>
                      <a:round/>
                      <a:headEnd type="none" w="med" len="med"/>
                      <a:tailEnd type="none" w="med" len="med"/>
                    </a:lnR>
                    <a:lnT w="10160" cap="flat" cmpd="sng" algn="ctr">
                      <a:solidFill>
                        <a:srgbClr val="94A3B8"/>
                      </a:solidFill>
                      <a:prstDash val="solid"/>
                      <a:round/>
                      <a:headEnd type="none" w="med" len="med"/>
                      <a:tailEnd type="none" w="med" len="med"/>
                    </a:lnT>
                    <a:lnB w="10160" cap="flat" cmpd="sng" algn="ctr">
                      <a:solidFill>
                        <a:srgbClr val="94A3B8"/>
                      </a:solidFill>
                      <a:prstDash val="solid"/>
                      <a:round/>
                      <a:headEnd type="none" w="med" len="med"/>
                      <a:tailEnd type="none" w="med" len="med"/>
                    </a:lnB>
                  </a:tcPr>
                </a:tc>
                <a:tc>
                  <a:txBody>
                    <a:bodyPr/>
                    <a:lstStyle/>
                    <a:p>
                      <a:pPr marL="0" indent="0">
                        <a:buNone/>
                      </a:pPr>
                      <a:r>
                        <a:rPr lang="en-US" sz="1320" dirty="0">
                          <a:solidFill>
                            <a:srgbClr val="0B1F33"/>
                          </a:solidFill>
                          <a:latin typeface="Aptos" pitchFamily="34" charset="0"/>
                          <a:ea typeface="Aptos" pitchFamily="34" charset="-122"/>
                          <a:cs typeface="Aptos" pitchFamily="34" charset="-120"/>
                        </a:rPr>
                        <a:t>Hardware Engineer</a:t>
                      </a:r>
                      <a:endParaRPr lang="en-US" sz="1320" dirty="0">
                        <a:latin typeface="Aptos" charset="0"/>
                        <a:ea typeface="Aptos" charset="0"/>
                        <a:cs typeface="Aptos" charset="0"/>
                      </a:endParaRPr>
                    </a:p>
                  </a:txBody>
                  <a:tcPr marL="45720" marR="45720">
                    <a:lnL w="10160" cap="flat" cmpd="sng" algn="ctr">
                      <a:solidFill>
                        <a:srgbClr val="94A3B8"/>
                      </a:solidFill>
                      <a:prstDash val="solid"/>
                      <a:round/>
                      <a:headEnd type="none" w="med" len="med"/>
                      <a:tailEnd type="none" w="med" len="med"/>
                    </a:lnL>
                    <a:lnR w="10160" cap="flat" cmpd="sng" algn="ctr">
                      <a:solidFill>
                        <a:srgbClr val="94A3B8"/>
                      </a:solidFill>
                      <a:prstDash val="solid"/>
                      <a:round/>
                      <a:headEnd type="none" w="med" len="med"/>
                      <a:tailEnd type="none" w="med" len="med"/>
                    </a:lnR>
                    <a:lnT w="10160" cap="flat" cmpd="sng" algn="ctr">
                      <a:solidFill>
                        <a:srgbClr val="94A3B8"/>
                      </a:solidFill>
                      <a:prstDash val="solid"/>
                      <a:round/>
                      <a:headEnd type="none" w="med" len="med"/>
                      <a:tailEnd type="none" w="med" len="med"/>
                    </a:lnT>
                    <a:lnB w="10160" cap="flat" cmpd="sng" algn="ctr">
                      <a:solidFill>
                        <a:srgbClr val="94A3B8"/>
                      </a:solidFill>
                      <a:prstDash val="solid"/>
                      <a:round/>
                      <a:headEnd type="none" w="med" len="med"/>
                      <a:tailEnd type="none" w="med" len="med"/>
                    </a:lnB>
                  </a:tcPr>
                </a:tc>
                <a:extLst>
                  <a:ext uri="{0D108BD9-81ED-4DB2-BD59-A6C34878D82A}">
                    <a16:rowId xmlns:a16="http://schemas.microsoft.com/office/drawing/2014/main" val="10007"/>
                  </a:ext>
                </a:extLst>
              </a:tr>
              <a:tr h="402336">
                <a:tc>
                  <a:txBody>
                    <a:bodyPr/>
                    <a:lstStyle/>
                    <a:p>
                      <a:pPr marL="0" indent="0">
                        <a:buNone/>
                      </a:pPr>
                      <a:r>
                        <a:rPr lang="en-US" sz="1320" dirty="0">
                          <a:solidFill>
                            <a:srgbClr val="0B1F33"/>
                          </a:solidFill>
                          <a:latin typeface="Aptos" pitchFamily="34" charset="0"/>
                          <a:ea typeface="Aptos" pitchFamily="34" charset="-122"/>
                          <a:cs typeface="Aptos" pitchFamily="34" charset="-120"/>
                        </a:rPr>
                        <a:t>Computer Consultant</a:t>
                      </a:r>
                      <a:endParaRPr lang="en-US" sz="1320" dirty="0">
                        <a:latin typeface="Aptos" charset="0"/>
                        <a:ea typeface="Aptos" charset="0"/>
                        <a:cs typeface="Aptos" charset="0"/>
                      </a:endParaRPr>
                    </a:p>
                  </a:txBody>
                  <a:tcPr marL="45720" marR="45720">
                    <a:lnL w="10160" cap="flat" cmpd="sng" algn="ctr">
                      <a:solidFill>
                        <a:srgbClr val="94A3B8"/>
                      </a:solidFill>
                      <a:prstDash val="solid"/>
                      <a:round/>
                      <a:headEnd type="none" w="med" len="med"/>
                      <a:tailEnd type="none" w="med" len="med"/>
                    </a:lnL>
                    <a:lnR w="10160" cap="flat" cmpd="sng" algn="ctr">
                      <a:solidFill>
                        <a:srgbClr val="94A3B8"/>
                      </a:solidFill>
                      <a:prstDash val="solid"/>
                      <a:round/>
                      <a:headEnd type="none" w="med" len="med"/>
                      <a:tailEnd type="none" w="med" len="med"/>
                    </a:lnR>
                    <a:lnT w="10160" cap="flat" cmpd="sng" algn="ctr">
                      <a:solidFill>
                        <a:srgbClr val="94A3B8"/>
                      </a:solidFill>
                      <a:prstDash val="solid"/>
                      <a:round/>
                      <a:headEnd type="none" w="med" len="med"/>
                      <a:tailEnd type="none" w="med" len="med"/>
                    </a:lnT>
                    <a:lnB w="10160" cap="flat" cmpd="sng" algn="ctr">
                      <a:solidFill>
                        <a:srgbClr val="94A3B8"/>
                      </a:solidFill>
                      <a:prstDash val="solid"/>
                      <a:round/>
                      <a:headEnd type="none" w="med" len="med"/>
                      <a:tailEnd type="none" w="med" len="med"/>
                    </a:lnB>
                  </a:tcPr>
                </a:tc>
                <a:tc>
                  <a:txBody>
                    <a:bodyPr/>
                    <a:lstStyle/>
                    <a:p>
                      <a:pPr marL="0" indent="0">
                        <a:buNone/>
                      </a:pPr>
                      <a:r>
                        <a:rPr lang="en-US" sz="1320" dirty="0">
                          <a:solidFill>
                            <a:srgbClr val="0B1F33"/>
                          </a:solidFill>
                          <a:latin typeface="Aptos" pitchFamily="34" charset="0"/>
                          <a:ea typeface="Aptos" pitchFamily="34" charset="-122"/>
                          <a:cs typeface="Aptos" pitchFamily="34" charset="-120"/>
                        </a:rPr>
                        <a:t>Helpdesk Engineer</a:t>
                      </a:r>
                      <a:endParaRPr lang="en-US" sz="1320" dirty="0">
                        <a:latin typeface="Aptos" charset="0"/>
                        <a:ea typeface="Aptos" charset="0"/>
                        <a:cs typeface="Aptos" charset="0"/>
                      </a:endParaRPr>
                    </a:p>
                  </a:txBody>
                  <a:tcPr marL="45720" marR="45720">
                    <a:lnL w="10160" cap="flat" cmpd="sng" algn="ctr">
                      <a:solidFill>
                        <a:srgbClr val="94A3B8"/>
                      </a:solidFill>
                      <a:prstDash val="solid"/>
                      <a:round/>
                      <a:headEnd type="none" w="med" len="med"/>
                      <a:tailEnd type="none" w="med" len="med"/>
                    </a:lnL>
                    <a:lnR w="10160" cap="flat" cmpd="sng" algn="ctr">
                      <a:solidFill>
                        <a:srgbClr val="94A3B8"/>
                      </a:solidFill>
                      <a:prstDash val="solid"/>
                      <a:round/>
                      <a:headEnd type="none" w="med" len="med"/>
                      <a:tailEnd type="none" w="med" len="med"/>
                    </a:lnR>
                    <a:lnT w="10160" cap="flat" cmpd="sng" algn="ctr">
                      <a:solidFill>
                        <a:srgbClr val="94A3B8"/>
                      </a:solidFill>
                      <a:prstDash val="solid"/>
                      <a:round/>
                      <a:headEnd type="none" w="med" len="med"/>
                      <a:tailEnd type="none" w="med" len="med"/>
                    </a:lnT>
                    <a:lnB w="10160" cap="flat" cmpd="sng" algn="ctr">
                      <a:solidFill>
                        <a:srgbClr val="94A3B8"/>
                      </a:solidFill>
                      <a:prstDash val="solid"/>
                      <a:round/>
                      <a:headEnd type="none" w="med" len="med"/>
                      <a:tailEnd type="none" w="med" len="med"/>
                    </a:lnB>
                  </a:tcPr>
                </a:tc>
                <a:extLst>
                  <a:ext uri="{0D108BD9-81ED-4DB2-BD59-A6C34878D82A}">
                    <a16:rowId xmlns:a16="http://schemas.microsoft.com/office/drawing/2014/main" val="10008"/>
                  </a:ext>
                </a:extLst>
              </a:tr>
              <a:tr h="402336">
                <a:tc>
                  <a:txBody>
                    <a:bodyPr/>
                    <a:lstStyle/>
                    <a:p>
                      <a:pPr marL="0" indent="0">
                        <a:buNone/>
                      </a:pPr>
                      <a:r>
                        <a:rPr lang="en-US" sz="1320" dirty="0">
                          <a:solidFill>
                            <a:srgbClr val="0B1F33"/>
                          </a:solidFill>
                          <a:latin typeface="Aptos" pitchFamily="34" charset="0"/>
                          <a:ea typeface="Aptos" pitchFamily="34" charset="-122"/>
                          <a:cs typeface="Aptos" pitchFamily="34" charset="-120"/>
                        </a:rPr>
                        <a:t>Business Developer</a:t>
                      </a:r>
                      <a:endParaRPr lang="en-US" sz="1320" dirty="0">
                        <a:latin typeface="Aptos" charset="0"/>
                        <a:ea typeface="Aptos" charset="0"/>
                        <a:cs typeface="Aptos" charset="0"/>
                      </a:endParaRPr>
                    </a:p>
                  </a:txBody>
                  <a:tcPr marL="45720" marR="45720">
                    <a:lnL w="10160" cap="flat" cmpd="sng" algn="ctr">
                      <a:solidFill>
                        <a:srgbClr val="94A3B8"/>
                      </a:solidFill>
                      <a:prstDash val="solid"/>
                      <a:round/>
                      <a:headEnd type="none" w="med" len="med"/>
                      <a:tailEnd type="none" w="med" len="med"/>
                    </a:lnL>
                    <a:lnR w="10160" cap="flat" cmpd="sng" algn="ctr">
                      <a:solidFill>
                        <a:srgbClr val="94A3B8"/>
                      </a:solidFill>
                      <a:prstDash val="solid"/>
                      <a:round/>
                      <a:headEnd type="none" w="med" len="med"/>
                      <a:tailEnd type="none" w="med" len="med"/>
                    </a:lnR>
                    <a:lnT w="10160" cap="flat" cmpd="sng" algn="ctr">
                      <a:solidFill>
                        <a:srgbClr val="94A3B8"/>
                      </a:solidFill>
                      <a:prstDash val="solid"/>
                      <a:round/>
                      <a:headEnd type="none" w="med" len="med"/>
                      <a:tailEnd type="none" w="med" len="med"/>
                    </a:lnT>
                    <a:lnB w="10160" cap="flat" cmpd="sng" algn="ctr">
                      <a:solidFill>
                        <a:srgbClr val="94A3B8"/>
                      </a:solidFill>
                      <a:prstDash val="solid"/>
                      <a:round/>
                      <a:headEnd type="none" w="med" len="med"/>
                      <a:tailEnd type="none" w="med" len="med"/>
                    </a:lnB>
                  </a:tcPr>
                </a:tc>
                <a:tc>
                  <a:txBody>
                    <a:bodyPr/>
                    <a:lstStyle/>
                    <a:p>
                      <a:pPr marL="0" indent="0">
                        <a:buNone/>
                      </a:pPr>
                      <a:r>
                        <a:rPr lang="en-US" sz="1320" dirty="0">
                          <a:solidFill>
                            <a:srgbClr val="0B1F33"/>
                          </a:solidFill>
                          <a:latin typeface="Aptos" pitchFamily="34" charset="0"/>
                          <a:ea typeface="Aptos" pitchFamily="34" charset="-122"/>
                          <a:cs typeface="Aptos" pitchFamily="34" charset="-120"/>
                        </a:rPr>
                        <a:t>Project Manager</a:t>
                      </a:r>
                      <a:endParaRPr lang="en-US" sz="1320" dirty="0">
                        <a:latin typeface="Aptos" charset="0"/>
                        <a:ea typeface="Aptos" charset="0"/>
                        <a:cs typeface="Aptos" charset="0"/>
                      </a:endParaRPr>
                    </a:p>
                  </a:txBody>
                  <a:tcPr marL="45720" marR="45720">
                    <a:lnL w="10160" cap="flat" cmpd="sng" algn="ctr">
                      <a:solidFill>
                        <a:srgbClr val="94A3B8"/>
                      </a:solidFill>
                      <a:prstDash val="solid"/>
                      <a:round/>
                      <a:headEnd type="none" w="med" len="med"/>
                      <a:tailEnd type="none" w="med" len="med"/>
                    </a:lnL>
                    <a:lnR w="10160" cap="flat" cmpd="sng" algn="ctr">
                      <a:solidFill>
                        <a:srgbClr val="94A3B8"/>
                      </a:solidFill>
                      <a:prstDash val="solid"/>
                      <a:round/>
                      <a:headEnd type="none" w="med" len="med"/>
                      <a:tailEnd type="none" w="med" len="med"/>
                    </a:lnR>
                    <a:lnT w="10160" cap="flat" cmpd="sng" algn="ctr">
                      <a:solidFill>
                        <a:srgbClr val="94A3B8"/>
                      </a:solidFill>
                      <a:prstDash val="solid"/>
                      <a:round/>
                      <a:headEnd type="none" w="med" len="med"/>
                      <a:tailEnd type="none" w="med" len="med"/>
                    </a:lnT>
                    <a:lnB w="10160" cap="flat" cmpd="sng" algn="ctr">
                      <a:solidFill>
                        <a:srgbClr val="94A3B8"/>
                      </a:solidFill>
                      <a:prstDash val="solid"/>
                      <a:round/>
                      <a:headEnd type="none" w="med" len="med"/>
                      <a:tailEnd type="none" w="med" len="med"/>
                    </a:lnB>
                  </a:tcPr>
                </a:tc>
                <a:extLst>
                  <a:ext uri="{0D108BD9-81ED-4DB2-BD59-A6C34878D82A}">
                    <a16:rowId xmlns:a16="http://schemas.microsoft.com/office/drawing/2014/main" val="10009"/>
                  </a:ext>
                </a:extLst>
              </a:tr>
              <a:tr h="402336">
                <a:tc>
                  <a:txBody>
                    <a:bodyPr/>
                    <a:lstStyle/>
                    <a:p>
                      <a:pPr marL="0" indent="0">
                        <a:buNone/>
                      </a:pPr>
                      <a:r>
                        <a:rPr lang="en-US" sz="1320" dirty="0">
                          <a:solidFill>
                            <a:srgbClr val="0B1F33"/>
                          </a:solidFill>
                          <a:latin typeface="Aptos" pitchFamily="34" charset="0"/>
                          <a:ea typeface="Aptos" pitchFamily="34" charset="-122"/>
                          <a:cs typeface="Aptos" pitchFamily="34" charset="-120"/>
                        </a:rPr>
                        <a:t>Business Programmer</a:t>
                      </a:r>
                      <a:endParaRPr lang="en-US" sz="1320" dirty="0">
                        <a:latin typeface="Aptos" charset="0"/>
                        <a:ea typeface="Aptos" charset="0"/>
                        <a:cs typeface="Aptos" charset="0"/>
                      </a:endParaRPr>
                    </a:p>
                  </a:txBody>
                  <a:tcPr marL="45720" marR="45720">
                    <a:lnL w="10160" cap="flat" cmpd="sng" algn="ctr">
                      <a:solidFill>
                        <a:srgbClr val="94A3B8"/>
                      </a:solidFill>
                      <a:prstDash val="solid"/>
                      <a:round/>
                      <a:headEnd type="none" w="med" len="med"/>
                      <a:tailEnd type="none" w="med" len="med"/>
                    </a:lnL>
                    <a:lnR w="10160" cap="flat" cmpd="sng" algn="ctr">
                      <a:solidFill>
                        <a:srgbClr val="94A3B8"/>
                      </a:solidFill>
                      <a:prstDash val="solid"/>
                      <a:round/>
                      <a:headEnd type="none" w="med" len="med"/>
                      <a:tailEnd type="none" w="med" len="med"/>
                    </a:lnR>
                    <a:lnT w="10160" cap="flat" cmpd="sng" algn="ctr">
                      <a:solidFill>
                        <a:srgbClr val="94A3B8"/>
                      </a:solidFill>
                      <a:prstDash val="solid"/>
                      <a:round/>
                      <a:headEnd type="none" w="med" len="med"/>
                      <a:tailEnd type="none" w="med" len="med"/>
                    </a:lnT>
                    <a:lnB w="10160" cap="flat" cmpd="sng" algn="ctr">
                      <a:solidFill>
                        <a:srgbClr val="94A3B8"/>
                      </a:solidFill>
                      <a:prstDash val="solid"/>
                      <a:round/>
                      <a:headEnd type="none" w="med" len="med"/>
                      <a:tailEnd type="none" w="med" len="med"/>
                    </a:lnB>
                  </a:tcPr>
                </a:tc>
                <a:tc>
                  <a:txBody>
                    <a:bodyPr/>
                    <a:lstStyle/>
                    <a:p>
                      <a:pPr marL="0" indent="0">
                        <a:buNone/>
                      </a:pPr>
                      <a:r>
                        <a:rPr lang="en-US" sz="1320" dirty="0">
                          <a:solidFill>
                            <a:srgbClr val="0B1F33"/>
                          </a:solidFill>
                          <a:latin typeface="Aptos" pitchFamily="34" charset="0"/>
                          <a:ea typeface="Aptos" pitchFamily="34" charset="-122"/>
                          <a:cs typeface="Aptos" pitchFamily="34" charset="-120"/>
                        </a:rPr>
                        <a:t>Data Scientist</a:t>
                      </a:r>
                      <a:endParaRPr lang="en-US" sz="1320" dirty="0">
                        <a:latin typeface="Aptos" charset="0"/>
                        <a:ea typeface="Aptos" charset="0"/>
                        <a:cs typeface="Aptos" charset="0"/>
                      </a:endParaRPr>
                    </a:p>
                  </a:txBody>
                  <a:tcPr marL="45720" marR="45720">
                    <a:lnL w="10160" cap="flat" cmpd="sng" algn="ctr">
                      <a:solidFill>
                        <a:srgbClr val="94A3B8"/>
                      </a:solidFill>
                      <a:prstDash val="solid"/>
                      <a:round/>
                      <a:headEnd type="none" w="med" len="med"/>
                      <a:tailEnd type="none" w="med" len="med"/>
                    </a:lnL>
                    <a:lnR w="10160" cap="flat" cmpd="sng" algn="ctr">
                      <a:solidFill>
                        <a:srgbClr val="94A3B8"/>
                      </a:solidFill>
                      <a:prstDash val="solid"/>
                      <a:round/>
                      <a:headEnd type="none" w="med" len="med"/>
                      <a:tailEnd type="none" w="med" len="med"/>
                    </a:lnR>
                    <a:lnT w="10160" cap="flat" cmpd="sng" algn="ctr">
                      <a:solidFill>
                        <a:srgbClr val="94A3B8"/>
                      </a:solidFill>
                      <a:prstDash val="solid"/>
                      <a:round/>
                      <a:headEnd type="none" w="med" len="med"/>
                      <a:tailEnd type="none" w="med" len="med"/>
                    </a:lnT>
                    <a:lnB w="10160" cap="flat" cmpd="sng" algn="ctr">
                      <a:solidFill>
                        <a:srgbClr val="94A3B8"/>
                      </a:solidFill>
                      <a:prstDash val="solid"/>
                      <a:round/>
                      <a:headEnd type="none" w="med" len="med"/>
                      <a:tailEnd type="none" w="med" len="med"/>
                    </a:lnB>
                  </a:tcPr>
                </a:tc>
                <a:extLst>
                  <a:ext uri="{0D108BD9-81ED-4DB2-BD59-A6C34878D82A}">
                    <a16:rowId xmlns:a16="http://schemas.microsoft.com/office/drawing/2014/main" val="10010"/>
                  </a:ext>
                </a:extLst>
              </a:tr>
              <a:tr h="402336">
                <a:tc>
                  <a:txBody>
                    <a:bodyPr/>
                    <a:lstStyle/>
                    <a:p>
                      <a:pPr marL="0" indent="0">
                        <a:buNone/>
                      </a:pPr>
                      <a:r>
                        <a:rPr lang="en-US" sz="1320" dirty="0">
                          <a:solidFill>
                            <a:srgbClr val="0B1F33"/>
                          </a:solidFill>
                          <a:latin typeface="Aptos" pitchFamily="34" charset="0"/>
                          <a:ea typeface="Aptos" pitchFamily="34" charset="-122"/>
                          <a:cs typeface="Aptos" pitchFamily="34" charset="-120"/>
                        </a:rPr>
                        <a:t>Oracle Developer</a:t>
                      </a:r>
                      <a:endParaRPr lang="en-US" sz="1320" dirty="0">
                        <a:latin typeface="Aptos" charset="0"/>
                        <a:ea typeface="Aptos" charset="0"/>
                        <a:cs typeface="Aptos" charset="0"/>
                      </a:endParaRPr>
                    </a:p>
                  </a:txBody>
                  <a:tcPr marL="45720" marR="45720">
                    <a:lnL w="10160" cap="flat" cmpd="sng" algn="ctr">
                      <a:solidFill>
                        <a:srgbClr val="94A3B8"/>
                      </a:solidFill>
                      <a:prstDash val="solid"/>
                      <a:round/>
                      <a:headEnd type="none" w="med" len="med"/>
                      <a:tailEnd type="none" w="med" len="med"/>
                    </a:lnL>
                    <a:lnR w="10160" cap="flat" cmpd="sng" algn="ctr">
                      <a:solidFill>
                        <a:srgbClr val="94A3B8"/>
                      </a:solidFill>
                      <a:prstDash val="solid"/>
                      <a:round/>
                      <a:headEnd type="none" w="med" len="med"/>
                      <a:tailEnd type="none" w="med" len="med"/>
                    </a:lnR>
                    <a:lnT w="10160" cap="flat" cmpd="sng" algn="ctr">
                      <a:solidFill>
                        <a:srgbClr val="94A3B8"/>
                      </a:solidFill>
                      <a:prstDash val="solid"/>
                      <a:round/>
                      <a:headEnd type="none" w="med" len="med"/>
                      <a:tailEnd type="none" w="med" len="med"/>
                    </a:lnT>
                    <a:lnB w="10160" cap="flat" cmpd="sng" algn="ctr">
                      <a:solidFill>
                        <a:srgbClr val="94A3B8"/>
                      </a:solidFill>
                      <a:prstDash val="solid"/>
                      <a:round/>
                      <a:headEnd type="none" w="med" len="med"/>
                      <a:tailEnd type="none" w="med" len="med"/>
                    </a:lnB>
                  </a:tcPr>
                </a:tc>
                <a:tc>
                  <a:txBody>
                    <a:bodyPr/>
                    <a:lstStyle/>
                    <a:p>
                      <a:pPr marL="0" indent="0">
                        <a:buNone/>
                      </a:pPr>
                      <a:r>
                        <a:rPr lang="en-US" sz="1320" dirty="0">
                          <a:solidFill>
                            <a:srgbClr val="0B1F33"/>
                          </a:solidFill>
                          <a:latin typeface="Aptos" pitchFamily="34" charset="0"/>
                          <a:ea typeface="Aptos" pitchFamily="34" charset="-122"/>
                          <a:cs typeface="Aptos" pitchFamily="34" charset="-120"/>
                        </a:rPr>
                        <a:t>Database Administrator</a:t>
                      </a:r>
                      <a:endParaRPr lang="en-US" sz="1320" dirty="0">
                        <a:latin typeface="Aptos" charset="0"/>
                        <a:ea typeface="Aptos" charset="0"/>
                        <a:cs typeface="Aptos" charset="0"/>
                      </a:endParaRPr>
                    </a:p>
                  </a:txBody>
                  <a:tcPr marL="45720" marR="45720">
                    <a:lnL w="10160" cap="flat" cmpd="sng" algn="ctr">
                      <a:solidFill>
                        <a:srgbClr val="94A3B8"/>
                      </a:solidFill>
                      <a:prstDash val="solid"/>
                      <a:round/>
                      <a:headEnd type="none" w="med" len="med"/>
                      <a:tailEnd type="none" w="med" len="med"/>
                    </a:lnL>
                    <a:lnR w="10160" cap="flat" cmpd="sng" algn="ctr">
                      <a:solidFill>
                        <a:srgbClr val="94A3B8"/>
                      </a:solidFill>
                      <a:prstDash val="solid"/>
                      <a:round/>
                      <a:headEnd type="none" w="med" len="med"/>
                      <a:tailEnd type="none" w="med" len="med"/>
                    </a:lnR>
                    <a:lnT w="10160" cap="flat" cmpd="sng" algn="ctr">
                      <a:solidFill>
                        <a:srgbClr val="94A3B8"/>
                      </a:solidFill>
                      <a:prstDash val="solid"/>
                      <a:round/>
                      <a:headEnd type="none" w="med" len="med"/>
                      <a:tailEnd type="none" w="med" len="med"/>
                    </a:lnT>
                    <a:lnB w="10160" cap="flat" cmpd="sng" algn="ctr">
                      <a:solidFill>
                        <a:srgbClr val="94A3B8"/>
                      </a:solidFill>
                      <a:prstDash val="solid"/>
                      <a:round/>
                      <a:headEnd type="none" w="med" len="med"/>
                      <a:tailEnd type="none" w="med" len="med"/>
                    </a:lnB>
                  </a:tcPr>
                </a:tc>
                <a:extLst>
                  <a:ext uri="{0D108BD9-81ED-4DB2-BD59-A6C34878D82A}">
                    <a16:rowId xmlns:a16="http://schemas.microsoft.com/office/drawing/2014/main" val="10011"/>
                  </a:ext>
                </a:extLst>
              </a:tr>
              <a:tr h="402336">
                <a:tc>
                  <a:txBody>
                    <a:bodyPr/>
                    <a:lstStyle/>
                    <a:p>
                      <a:pPr marL="0" indent="0">
                        <a:buNone/>
                      </a:pPr>
                      <a:r>
                        <a:rPr lang="en-US" sz="1320" dirty="0">
                          <a:solidFill>
                            <a:srgbClr val="0B1F33"/>
                          </a:solidFill>
                          <a:latin typeface="Aptos" pitchFamily="34" charset="0"/>
                          <a:ea typeface="Aptos" pitchFamily="34" charset="-122"/>
                          <a:cs typeface="Aptos" pitchFamily="34" charset="-120"/>
                        </a:rPr>
                        <a:t>Software Writer</a:t>
                      </a:r>
                      <a:endParaRPr lang="en-US" sz="1320" dirty="0">
                        <a:latin typeface="Aptos" charset="0"/>
                        <a:ea typeface="Aptos" charset="0"/>
                        <a:cs typeface="Aptos" charset="0"/>
                      </a:endParaRPr>
                    </a:p>
                  </a:txBody>
                  <a:tcPr marL="45720" marR="45720">
                    <a:lnL w="10160" cap="flat" cmpd="sng" algn="ctr">
                      <a:solidFill>
                        <a:srgbClr val="94A3B8"/>
                      </a:solidFill>
                      <a:prstDash val="solid"/>
                      <a:round/>
                      <a:headEnd type="none" w="med" len="med"/>
                      <a:tailEnd type="none" w="med" len="med"/>
                    </a:lnL>
                    <a:lnR w="10160" cap="flat" cmpd="sng" algn="ctr">
                      <a:solidFill>
                        <a:srgbClr val="94A3B8"/>
                      </a:solidFill>
                      <a:prstDash val="solid"/>
                      <a:round/>
                      <a:headEnd type="none" w="med" len="med"/>
                      <a:tailEnd type="none" w="med" len="med"/>
                    </a:lnR>
                    <a:lnT w="10160" cap="flat" cmpd="sng" algn="ctr">
                      <a:solidFill>
                        <a:srgbClr val="94A3B8"/>
                      </a:solidFill>
                      <a:prstDash val="solid"/>
                      <a:round/>
                      <a:headEnd type="none" w="med" len="med"/>
                      <a:tailEnd type="none" w="med" len="med"/>
                    </a:lnT>
                    <a:lnB w="10160" cap="flat" cmpd="sng" algn="ctr">
                      <a:solidFill>
                        <a:srgbClr val="94A3B8"/>
                      </a:solidFill>
                      <a:prstDash val="solid"/>
                      <a:round/>
                      <a:headEnd type="none" w="med" len="med"/>
                      <a:tailEnd type="none" w="med" len="med"/>
                    </a:lnB>
                  </a:tcPr>
                </a:tc>
                <a:tc>
                  <a:txBody>
                    <a:bodyPr/>
                    <a:lstStyle/>
                    <a:p>
                      <a:pPr marL="0" indent="0">
                        <a:buNone/>
                      </a:pPr>
                      <a:r>
                        <a:rPr lang="en-US" sz="1320" dirty="0">
                          <a:solidFill>
                            <a:srgbClr val="0B1F33"/>
                          </a:solidFill>
                          <a:latin typeface="Aptos" pitchFamily="34" charset="0"/>
                          <a:ea typeface="Aptos" pitchFamily="34" charset="-122"/>
                          <a:cs typeface="Aptos" pitchFamily="34" charset="-120"/>
                        </a:rPr>
                        <a:t>Technical Writer</a:t>
                      </a:r>
                      <a:endParaRPr lang="en-US" sz="1320" dirty="0">
                        <a:latin typeface="Aptos" charset="0"/>
                        <a:ea typeface="Aptos" charset="0"/>
                        <a:cs typeface="Aptos" charset="0"/>
                      </a:endParaRPr>
                    </a:p>
                  </a:txBody>
                  <a:tcPr marL="45720" marR="45720">
                    <a:lnL w="10160" cap="flat" cmpd="sng" algn="ctr">
                      <a:solidFill>
                        <a:srgbClr val="94A3B8"/>
                      </a:solidFill>
                      <a:prstDash val="solid"/>
                      <a:round/>
                      <a:headEnd type="none" w="med" len="med"/>
                      <a:tailEnd type="none" w="med" len="med"/>
                    </a:lnL>
                    <a:lnR w="10160" cap="flat" cmpd="sng" algn="ctr">
                      <a:solidFill>
                        <a:srgbClr val="94A3B8"/>
                      </a:solidFill>
                      <a:prstDash val="solid"/>
                      <a:round/>
                      <a:headEnd type="none" w="med" len="med"/>
                      <a:tailEnd type="none" w="med" len="med"/>
                    </a:lnR>
                    <a:lnT w="10160" cap="flat" cmpd="sng" algn="ctr">
                      <a:solidFill>
                        <a:srgbClr val="94A3B8"/>
                      </a:solidFill>
                      <a:prstDash val="solid"/>
                      <a:round/>
                      <a:headEnd type="none" w="med" len="med"/>
                      <a:tailEnd type="none" w="med" len="med"/>
                    </a:lnT>
                    <a:lnB w="10160" cap="flat" cmpd="sng" algn="ctr">
                      <a:solidFill>
                        <a:srgbClr val="94A3B8"/>
                      </a:solidFill>
                      <a:prstDash val="solid"/>
                      <a:round/>
                      <a:headEnd type="none" w="med" len="med"/>
                      <a:tailEnd type="none" w="med" len="med"/>
                    </a:lnB>
                  </a:tcPr>
                </a:tc>
                <a:extLst>
                  <a:ext uri="{0D108BD9-81ED-4DB2-BD59-A6C34878D82A}">
                    <a16:rowId xmlns:a16="http://schemas.microsoft.com/office/drawing/2014/main" val="10012"/>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F766E"/>
          </a:solidFill>
          <a:ln w="12700">
            <a:solidFill>
              <a:srgbClr val="0F766E"/>
            </a:solidFill>
            <a:prstDash val="solid"/>
          </a:ln>
        </p:spPr>
      </p:sp>
      <p:sp>
        <p:nvSpPr>
          <p:cNvPr id="3" name="Shape 1"/>
          <p:cNvSpPr/>
          <p:nvPr/>
        </p:nvSpPr>
        <p:spPr>
          <a:xfrm>
            <a:off x="0" y="146304"/>
            <a:ext cx="12191695" cy="45720"/>
          </a:xfrm>
          <a:prstGeom prst="rect">
            <a:avLst/>
          </a:prstGeom>
          <a:solidFill>
            <a:srgbClr val="1E3A8A">
              <a:alpha val="80000"/>
            </a:srgbClr>
          </a:solidFill>
          <a:ln w="12700">
            <a:solidFill>
              <a:srgbClr val="1E3A8A">
                <a:alpha val="0"/>
              </a:srgbClr>
            </a:solidFill>
            <a:prstDash val="solid"/>
          </a:ln>
        </p:spPr>
      </p:sp>
      <p:sp>
        <p:nvSpPr>
          <p:cNvPr id="4" name="Text 2"/>
          <p:cNvSpPr/>
          <p:nvPr/>
        </p:nvSpPr>
        <p:spPr>
          <a:xfrm>
            <a:off x="502920" y="384048"/>
            <a:ext cx="11155680" cy="502920"/>
          </a:xfrm>
          <a:prstGeom prst="rect">
            <a:avLst/>
          </a:prstGeom>
          <a:noFill/>
          <a:ln/>
        </p:spPr>
        <p:txBody>
          <a:bodyPr wrap="square" lIns="0" tIns="0" rIns="0" bIns="0" rtlCol="0" anchor="ctr">
            <a:normAutofit/>
          </a:bodyPr>
          <a:lstStyle/>
          <a:p>
            <a:pPr marL="0" indent="0">
              <a:buNone/>
            </a:pPr>
            <a:r>
              <a:rPr lang="en-US" sz="3000" b="1" dirty="0">
                <a:solidFill>
                  <a:srgbClr val="0B1F33"/>
                </a:solidFill>
                <a:latin typeface="Aptos Display" pitchFamily="34" charset="0"/>
                <a:ea typeface="Aptos Display" pitchFamily="34" charset="-122"/>
                <a:cs typeface="Aptos Display" pitchFamily="34" charset="-120"/>
              </a:rPr>
              <a:t>Dataset Merging</a:t>
            </a:r>
            <a:endParaRPr lang="en-US" sz="3000" dirty="0"/>
          </a:p>
        </p:txBody>
      </p:sp>
      <p:sp>
        <p:nvSpPr>
          <p:cNvPr id="5" name="Shape 3"/>
          <p:cNvSpPr/>
          <p:nvPr/>
        </p:nvSpPr>
        <p:spPr>
          <a:xfrm>
            <a:off x="502920" y="960120"/>
            <a:ext cx="2103120" cy="0"/>
          </a:xfrm>
          <a:prstGeom prst="line">
            <a:avLst/>
          </a:prstGeom>
          <a:noFill/>
          <a:ln w="12700">
            <a:solidFill>
              <a:srgbClr val="14B8A6"/>
            </a:solidFill>
            <a:prstDash val="solid"/>
          </a:ln>
        </p:spPr>
      </p:sp>
      <p:sp>
        <p:nvSpPr>
          <p:cNvPr id="6" name="Text 4"/>
          <p:cNvSpPr/>
          <p:nvPr/>
        </p:nvSpPr>
        <p:spPr>
          <a:xfrm>
            <a:off x="11475720" y="6446520"/>
            <a:ext cx="320040" cy="182880"/>
          </a:xfrm>
          <a:prstGeom prst="rect">
            <a:avLst/>
          </a:prstGeom>
          <a:noFill/>
          <a:ln/>
        </p:spPr>
        <p:txBody>
          <a:bodyPr wrap="square" lIns="0" tIns="0" rIns="0" bIns="0" rtlCol="0" anchor="ctr"/>
          <a:lstStyle/>
          <a:p>
            <a:pPr marL="0" indent="0" algn="r">
              <a:buNone/>
            </a:pPr>
            <a:r>
              <a:rPr lang="en-US" sz="900" dirty="0">
                <a:solidFill>
                  <a:srgbClr val="64748B"/>
                </a:solidFill>
                <a:latin typeface="Aptos" pitchFamily="34" charset="0"/>
                <a:ea typeface="Aptos" pitchFamily="34" charset="-122"/>
                <a:cs typeface="Aptos" pitchFamily="34" charset="-120"/>
              </a:rPr>
              <a:t>9</a:t>
            </a:r>
            <a:endParaRPr lang="en-US" sz="900" dirty="0"/>
          </a:p>
        </p:txBody>
      </p:sp>
      <p:sp>
        <p:nvSpPr>
          <p:cNvPr id="7" name="Text 5"/>
          <p:cNvSpPr/>
          <p:nvPr/>
        </p:nvSpPr>
        <p:spPr>
          <a:xfrm>
            <a:off x="777240" y="1234440"/>
            <a:ext cx="10515600" cy="365760"/>
          </a:xfrm>
          <a:prstGeom prst="rect">
            <a:avLst/>
          </a:prstGeom>
          <a:noFill/>
          <a:ln/>
        </p:spPr>
        <p:txBody>
          <a:bodyPr wrap="square" lIns="254" tIns="254" rIns="254" bIns="254" rtlCol="0" anchor="ctr">
            <a:normAutofit/>
          </a:bodyPr>
          <a:lstStyle/>
          <a:p>
            <a:pPr marL="0" indent="0">
              <a:buNone/>
            </a:pPr>
            <a:r>
              <a:rPr lang="en-US" sz="2200" dirty="0">
                <a:solidFill>
                  <a:srgbClr val="0B1F33"/>
                </a:solidFill>
                <a:latin typeface="Aptos" pitchFamily="34" charset="0"/>
                <a:ea typeface="Aptos" pitchFamily="34" charset="-122"/>
                <a:cs typeface="Aptos" pitchFamily="34" charset="-120"/>
              </a:rPr>
              <a:t>3 Approaches considered:</a:t>
            </a:r>
            <a:endParaRPr lang="en-US" sz="2200" dirty="0"/>
          </a:p>
        </p:txBody>
      </p:sp>
      <p:sp>
        <p:nvSpPr>
          <p:cNvPr id="8" name="Shape 6"/>
          <p:cNvSpPr/>
          <p:nvPr/>
        </p:nvSpPr>
        <p:spPr>
          <a:xfrm>
            <a:off x="868680" y="1874520"/>
            <a:ext cx="10424160" cy="1103532"/>
          </a:xfrm>
          <a:prstGeom prst="roundRect">
            <a:avLst>
              <a:gd name="adj" fmla="val 7273"/>
            </a:avLst>
          </a:prstGeom>
          <a:solidFill>
            <a:srgbClr val="FFFFFF"/>
          </a:solidFill>
          <a:ln w="12700">
            <a:solidFill>
              <a:srgbClr val="E2E8F0"/>
            </a:solidFill>
            <a:prstDash val="solid"/>
          </a:ln>
          <a:effectLst>
            <a:outerShdw blurRad="12700" dist="50800" dir="2700000" algn="bl" rotWithShape="0">
              <a:srgbClr val="000000">
                <a:alpha val="10000"/>
              </a:srgbClr>
            </a:outerShdw>
          </a:effectLst>
        </p:spPr>
      </p:sp>
      <p:sp>
        <p:nvSpPr>
          <p:cNvPr id="9" name="Shape 7"/>
          <p:cNvSpPr/>
          <p:nvPr/>
        </p:nvSpPr>
        <p:spPr>
          <a:xfrm>
            <a:off x="1143000" y="2103120"/>
            <a:ext cx="109728" cy="109728"/>
          </a:xfrm>
          <a:prstGeom prst="rect">
            <a:avLst/>
          </a:prstGeom>
          <a:solidFill>
            <a:srgbClr val="1E3A8A"/>
          </a:solidFill>
          <a:ln w="12700">
            <a:solidFill>
              <a:srgbClr val="1E3A8A"/>
            </a:solidFill>
            <a:prstDash val="solid"/>
          </a:ln>
        </p:spPr>
      </p:sp>
      <p:sp>
        <p:nvSpPr>
          <p:cNvPr id="10" name="Text 8"/>
          <p:cNvSpPr/>
          <p:nvPr/>
        </p:nvSpPr>
        <p:spPr>
          <a:xfrm>
            <a:off x="1399032" y="2039112"/>
            <a:ext cx="3246120" cy="329184"/>
          </a:xfrm>
          <a:prstGeom prst="rect">
            <a:avLst/>
          </a:prstGeom>
          <a:noFill/>
          <a:ln/>
        </p:spPr>
        <p:txBody>
          <a:bodyPr wrap="square" lIns="127" tIns="127" rIns="127" bIns="127" rtlCol="0" anchor="t">
            <a:normAutofit/>
          </a:bodyPr>
          <a:lstStyle/>
          <a:p>
            <a:pPr marL="0" indent="0">
              <a:buNone/>
            </a:pPr>
            <a:r>
              <a:rPr lang="en-US" sz="2000" dirty="0">
                <a:solidFill>
                  <a:srgbClr val="0B1F33"/>
                </a:solidFill>
                <a:latin typeface="Aptos" pitchFamily="34" charset="0"/>
                <a:ea typeface="Aptos" pitchFamily="34" charset="-122"/>
                <a:cs typeface="Aptos" pitchFamily="34" charset="-120"/>
              </a:rPr>
              <a:t>Mean value</a:t>
            </a:r>
            <a:endParaRPr lang="en-US" sz="2000" dirty="0"/>
          </a:p>
        </p:txBody>
      </p:sp>
      <p:sp>
        <p:nvSpPr>
          <p:cNvPr id="11" name="Text 9"/>
          <p:cNvSpPr/>
          <p:nvPr/>
        </p:nvSpPr>
        <p:spPr>
          <a:xfrm>
            <a:off x="1389888" y="2395728"/>
            <a:ext cx="8961120" cy="411480"/>
          </a:xfrm>
          <a:prstGeom prst="rect">
            <a:avLst/>
          </a:prstGeom>
          <a:noFill/>
          <a:ln/>
        </p:spPr>
        <p:txBody>
          <a:bodyPr wrap="square" lIns="127" tIns="127" rIns="127" bIns="127" rtlCol="0" anchor="ctr">
            <a:normAutofit lnSpcReduction="10000"/>
          </a:bodyPr>
          <a:lstStyle/>
          <a:p>
            <a:pPr marL="0" indent="0">
              <a:buNone/>
            </a:pPr>
            <a:r>
              <a:rPr lang="en-US" sz="1400" dirty="0">
                <a:solidFill>
                  <a:srgbClr val="0B1F33"/>
                </a:solidFill>
                <a:latin typeface="Aptos" pitchFamily="34" charset="0"/>
                <a:ea typeface="Aptos" pitchFamily="34" charset="-122"/>
                <a:cs typeface="Aptos" pitchFamily="34" charset="-120"/>
              </a:rPr>
              <a:t>Mean values of variables in personality dataset for each role</a:t>
            </a:r>
            <a:endParaRPr lang="en-US" sz="1400" dirty="0"/>
          </a:p>
          <a:p>
            <a:pPr marL="0" indent="0">
              <a:buNone/>
            </a:pPr>
            <a:r>
              <a:rPr lang="en-US" sz="1400" dirty="0">
                <a:solidFill>
                  <a:srgbClr val="0B1F33"/>
                </a:solidFill>
                <a:latin typeface="Aptos" pitchFamily="34" charset="0"/>
                <a:ea typeface="Aptos" pitchFamily="34" charset="-122"/>
                <a:cs typeface="Aptos" pitchFamily="34" charset="-120"/>
              </a:rPr>
              <a:t>assigned to respective roles in the technical dataset.</a:t>
            </a:r>
            <a:endParaRPr lang="en-US" sz="1400" dirty="0"/>
          </a:p>
        </p:txBody>
      </p:sp>
      <p:sp>
        <p:nvSpPr>
          <p:cNvPr id="12" name="Shape 10"/>
          <p:cNvSpPr/>
          <p:nvPr/>
        </p:nvSpPr>
        <p:spPr>
          <a:xfrm>
            <a:off x="6263640" y="2011680"/>
            <a:ext cx="1920240" cy="320040"/>
          </a:xfrm>
          <a:prstGeom prst="roundRect">
            <a:avLst>
              <a:gd name="adj" fmla="val 14286"/>
            </a:avLst>
          </a:prstGeom>
          <a:solidFill>
            <a:srgbClr val="DC2626">
              <a:alpha val="85000"/>
            </a:srgbClr>
          </a:solidFill>
          <a:ln w="12700">
            <a:solidFill>
              <a:srgbClr val="DC2626">
                <a:alpha val="0"/>
              </a:srgbClr>
            </a:solidFill>
            <a:prstDash val="solid"/>
          </a:ln>
        </p:spPr>
      </p:sp>
      <p:sp>
        <p:nvSpPr>
          <p:cNvPr id="13" name="Text 11"/>
          <p:cNvSpPr/>
          <p:nvPr/>
        </p:nvSpPr>
        <p:spPr>
          <a:xfrm>
            <a:off x="6263640" y="2075688"/>
            <a:ext cx="1920240" cy="201168"/>
          </a:xfrm>
          <a:prstGeom prst="rect">
            <a:avLst/>
          </a:prstGeom>
          <a:noFill/>
          <a:ln/>
        </p:spPr>
        <p:txBody>
          <a:bodyPr wrap="square" lIns="0" tIns="0" rIns="0" bIns="0" rtlCol="0" anchor="ctr"/>
          <a:lstStyle/>
          <a:p>
            <a:pPr marL="0" indent="0" algn="ctr">
              <a:buNone/>
            </a:pPr>
            <a:r>
              <a:rPr lang="en-US" sz="1100" b="1" dirty="0">
                <a:solidFill>
                  <a:srgbClr val="0B1F33"/>
                </a:solidFill>
                <a:latin typeface="Aptos" pitchFamily="34" charset="0"/>
                <a:ea typeface="Aptos" pitchFamily="34" charset="-122"/>
                <a:cs typeface="Aptos" pitchFamily="34" charset="-120"/>
              </a:rPr>
              <a:t>Overfitting</a:t>
            </a:r>
            <a:endParaRPr lang="en-US" sz="1100" dirty="0"/>
          </a:p>
        </p:txBody>
      </p:sp>
      <p:sp>
        <p:nvSpPr>
          <p:cNvPr id="14" name="Shape 12"/>
          <p:cNvSpPr/>
          <p:nvPr/>
        </p:nvSpPr>
        <p:spPr>
          <a:xfrm>
            <a:off x="868680" y="3264408"/>
            <a:ext cx="10424160" cy="1223616"/>
          </a:xfrm>
          <a:prstGeom prst="roundRect">
            <a:avLst>
              <a:gd name="adj" fmla="val 7273"/>
            </a:avLst>
          </a:prstGeom>
          <a:solidFill>
            <a:srgbClr val="FFFFFF"/>
          </a:solidFill>
          <a:ln w="12700">
            <a:solidFill>
              <a:srgbClr val="E2E8F0"/>
            </a:solidFill>
            <a:prstDash val="solid"/>
          </a:ln>
          <a:effectLst>
            <a:outerShdw blurRad="12700" dist="50800" dir="2700000" algn="bl" rotWithShape="0">
              <a:srgbClr val="000000">
                <a:alpha val="10000"/>
              </a:srgbClr>
            </a:outerShdw>
          </a:effectLst>
        </p:spPr>
        <p:txBody>
          <a:bodyPr/>
          <a:lstStyle/>
          <a:p>
            <a:endParaRPr lang="en-US" dirty="0"/>
          </a:p>
        </p:txBody>
      </p:sp>
      <p:sp>
        <p:nvSpPr>
          <p:cNvPr id="15" name="Shape 13"/>
          <p:cNvSpPr/>
          <p:nvPr/>
        </p:nvSpPr>
        <p:spPr>
          <a:xfrm>
            <a:off x="1146546" y="3547872"/>
            <a:ext cx="109728" cy="109728"/>
          </a:xfrm>
          <a:prstGeom prst="rect">
            <a:avLst/>
          </a:prstGeom>
          <a:solidFill>
            <a:srgbClr val="1E3A8A"/>
          </a:solidFill>
          <a:ln w="12700">
            <a:solidFill>
              <a:srgbClr val="1E3A8A"/>
            </a:solidFill>
            <a:prstDash val="solid"/>
          </a:ln>
        </p:spPr>
      </p:sp>
      <p:sp>
        <p:nvSpPr>
          <p:cNvPr id="16" name="Text 14"/>
          <p:cNvSpPr/>
          <p:nvPr/>
        </p:nvSpPr>
        <p:spPr>
          <a:xfrm>
            <a:off x="1399032" y="3429000"/>
            <a:ext cx="3246120" cy="329184"/>
          </a:xfrm>
          <a:prstGeom prst="rect">
            <a:avLst/>
          </a:prstGeom>
          <a:noFill/>
          <a:ln/>
        </p:spPr>
        <p:txBody>
          <a:bodyPr wrap="square" lIns="127" tIns="127" rIns="127" bIns="127" rtlCol="0" anchor="t">
            <a:normAutofit/>
          </a:bodyPr>
          <a:lstStyle/>
          <a:p>
            <a:pPr marL="0" indent="0">
              <a:buNone/>
            </a:pPr>
            <a:r>
              <a:rPr lang="en-US" sz="2000" dirty="0">
                <a:solidFill>
                  <a:srgbClr val="0B1F33"/>
                </a:solidFill>
                <a:latin typeface="Aptos" pitchFamily="34" charset="0"/>
                <a:ea typeface="Aptos" pitchFamily="34" charset="-122"/>
                <a:cs typeface="Aptos" pitchFamily="34" charset="-120"/>
              </a:rPr>
              <a:t>Randomized matching</a:t>
            </a:r>
            <a:endParaRPr lang="en-US" sz="2000" dirty="0"/>
          </a:p>
        </p:txBody>
      </p:sp>
      <p:sp>
        <p:nvSpPr>
          <p:cNvPr id="17" name="Text 15"/>
          <p:cNvSpPr/>
          <p:nvPr/>
        </p:nvSpPr>
        <p:spPr>
          <a:xfrm>
            <a:off x="1389888" y="3934812"/>
            <a:ext cx="8961120" cy="411480"/>
          </a:xfrm>
          <a:prstGeom prst="rect">
            <a:avLst/>
          </a:prstGeom>
          <a:noFill/>
          <a:ln/>
        </p:spPr>
        <p:txBody>
          <a:bodyPr wrap="square" lIns="127" tIns="127" rIns="127" bIns="127" rtlCol="0" anchor="ctr">
            <a:normAutofit lnSpcReduction="10000"/>
          </a:bodyPr>
          <a:lstStyle/>
          <a:p>
            <a:pPr marL="0" indent="0">
              <a:buNone/>
            </a:pPr>
            <a:r>
              <a:rPr lang="en-US" sz="1400" dirty="0">
                <a:solidFill>
                  <a:srgbClr val="0B1F33"/>
                </a:solidFill>
                <a:latin typeface="Aptos" pitchFamily="34" charset="0"/>
                <a:ea typeface="Aptos" pitchFamily="34" charset="-122"/>
                <a:cs typeface="Aptos" pitchFamily="34" charset="-120"/>
              </a:rPr>
              <a:t>Random set of values of variables in personality dataset</a:t>
            </a:r>
            <a:endParaRPr lang="en-US" sz="1400" dirty="0"/>
          </a:p>
          <a:p>
            <a:r>
              <a:rPr lang="en-US" sz="1400" dirty="0">
                <a:solidFill>
                  <a:srgbClr val="0B1F33"/>
                </a:solidFill>
                <a:latin typeface="Aptos" pitchFamily="34" charset="0"/>
                <a:ea typeface="Aptos" pitchFamily="34" charset="-122"/>
                <a:cs typeface="Aptos" pitchFamily="34" charset="-120"/>
              </a:rPr>
              <a:t>dataset. for each role assigned to respective roles in the technical</a:t>
            </a:r>
            <a:endParaRPr lang="en-US" sz="1400" dirty="0"/>
          </a:p>
          <a:p>
            <a:pPr marL="0" indent="0">
              <a:buNone/>
            </a:pPr>
            <a:endParaRPr lang="en-US" sz="1400" dirty="0"/>
          </a:p>
        </p:txBody>
      </p:sp>
      <p:sp>
        <p:nvSpPr>
          <p:cNvPr id="18" name="Shape 16"/>
          <p:cNvSpPr/>
          <p:nvPr/>
        </p:nvSpPr>
        <p:spPr>
          <a:xfrm>
            <a:off x="6263640" y="3419856"/>
            <a:ext cx="594360" cy="256032"/>
          </a:xfrm>
          <a:prstGeom prst="rightArrow">
            <a:avLst/>
          </a:prstGeom>
          <a:solidFill>
            <a:srgbClr val="16A34A">
              <a:alpha val="90000"/>
            </a:srgbClr>
          </a:solidFill>
          <a:ln w="12700">
            <a:solidFill>
              <a:srgbClr val="16A34A"/>
            </a:solidFill>
            <a:prstDash val="solid"/>
          </a:ln>
        </p:spPr>
      </p:sp>
      <p:sp>
        <p:nvSpPr>
          <p:cNvPr id="19" name="Shape 17"/>
          <p:cNvSpPr/>
          <p:nvPr/>
        </p:nvSpPr>
        <p:spPr>
          <a:xfrm>
            <a:off x="883920" y="4817208"/>
            <a:ext cx="10424160" cy="1223616"/>
          </a:xfrm>
          <a:prstGeom prst="roundRect">
            <a:avLst>
              <a:gd name="adj" fmla="val 7273"/>
            </a:avLst>
          </a:prstGeom>
          <a:solidFill>
            <a:srgbClr val="FFFFFF"/>
          </a:solidFill>
          <a:ln w="12700">
            <a:solidFill>
              <a:srgbClr val="E2E8F0"/>
            </a:solidFill>
            <a:prstDash val="solid"/>
          </a:ln>
          <a:effectLst>
            <a:outerShdw blurRad="12700" dist="50800" dir="2700000" algn="bl" rotWithShape="0">
              <a:srgbClr val="000000">
                <a:alpha val="10000"/>
              </a:srgbClr>
            </a:outerShdw>
          </a:effectLst>
        </p:spPr>
        <p:txBody>
          <a:bodyPr/>
          <a:lstStyle/>
          <a:p>
            <a:endParaRPr lang="en-US" dirty="0"/>
          </a:p>
        </p:txBody>
      </p:sp>
      <p:sp>
        <p:nvSpPr>
          <p:cNvPr id="20" name="Shape 18"/>
          <p:cNvSpPr/>
          <p:nvPr/>
        </p:nvSpPr>
        <p:spPr>
          <a:xfrm>
            <a:off x="1146546" y="5081917"/>
            <a:ext cx="109728" cy="109728"/>
          </a:xfrm>
          <a:prstGeom prst="rect">
            <a:avLst/>
          </a:prstGeom>
          <a:solidFill>
            <a:srgbClr val="1E3A8A"/>
          </a:solidFill>
          <a:ln w="12700">
            <a:solidFill>
              <a:srgbClr val="1E3A8A"/>
            </a:solidFill>
            <a:prstDash val="solid"/>
          </a:ln>
        </p:spPr>
      </p:sp>
      <p:sp>
        <p:nvSpPr>
          <p:cNvPr id="21" name="Text 19"/>
          <p:cNvSpPr/>
          <p:nvPr/>
        </p:nvSpPr>
        <p:spPr>
          <a:xfrm>
            <a:off x="1399032" y="4993836"/>
            <a:ext cx="3246120" cy="329184"/>
          </a:xfrm>
          <a:prstGeom prst="rect">
            <a:avLst/>
          </a:prstGeom>
          <a:noFill/>
          <a:ln/>
        </p:spPr>
        <p:txBody>
          <a:bodyPr wrap="square" lIns="127" tIns="127" rIns="127" bIns="127" rtlCol="0" anchor="t">
            <a:normAutofit/>
          </a:bodyPr>
          <a:lstStyle/>
          <a:p>
            <a:pPr marL="0" indent="0">
              <a:buNone/>
            </a:pPr>
            <a:r>
              <a:rPr lang="en-US" sz="2000" dirty="0">
                <a:solidFill>
                  <a:srgbClr val="0B1F33"/>
                </a:solidFill>
                <a:latin typeface="Aptos" pitchFamily="34" charset="0"/>
                <a:ea typeface="Aptos" pitchFamily="34" charset="-122"/>
                <a:cs typeface="Aptos" pitchFamily="34" charset="-120"/>
              </a:rPr>
              <a:t>Many-to-many join</a:t>
            </a:r>
            <a:endParaRPr lang="en-US" sz="2000" dirty="0"/>
          </a:p>
        </p:txBody>
      </p:sp>
      <p:sp>
        <p:nvSpPr>
          <p:cNvPr id="22" name="Text 20"/>
          <p:cNvSpPr/>
          <p:nvPr/>
        </p:nvSpPr>
        <p:spPr>
          <a:xfrm>
            <a:off x="1399032" y="5406996"/>
            <a:ext cx="8961120" cy="411480"/>
          </a:xfrm>
          <a:prstGeom prst="rect">
            <a:avLst/>
          </a:prstGeom>
          <a:noFill/>
          <a:ln/>
        </p:spPr>
        <p:txBody>
          <a:bodyPr wrap="square" lIns="127" tIns="127" rIns="127" bIns="127" rtlCol="0" anchor="ctr">
            <a:normAutofit lnSpcReduction="10000"/>
          </a:bodyPr>
          <a:lstStyle/>
          <a:p>
            <a:pPr marL="0" indent="0">
              <a:buNone/>
            </a:pPr>
            <a:r>
              <a:rPr lang="en-US" sz="1400" dirty="0">
                <a:solidFill>
                  <a:srgbClr val="0B1F33"/>
                </a:solidFill>
                <a:latin typeface="Aptos" pitchFamily="34" charset="0"/>
                <a:ea typeface="Aptos" pitchFamily="34" charset="-122"/>
                <a:cs typeface="Aptos" pitchFamily="34" charset="-120"/>
              </a:rPr>
              <a:t>Mean values of variables in personality dataset for each role assigned to respective roles in the technical</a:t>
            </a:r>
            <a:endParaRPr lang="en-US" sz="1400" dirty="0"/>
          </a:p>
          <a:p>
            <a:pPr marL="0" indent="0">
              <a:buNone/>
            </a:pPr>
            <a:r>
              <a:rPr lang="en-US" sz="1400" dirty="0">
                <a:solidFill>
                  <a:srgbClr val="0B1F33"/>
                </a:solidFill>
                <a:latin typeface="Aptos" pitchFamily="34" charset="0"/>
                <a:ea typeface="Aptos" pitchFamily="34" charset="-122"/>
                <a:cs typeface="Aptos" pitchFamily="34" charset="-120"/>
              </a:rPr>
              <a:t>dataset.</a:t>
            </a:r>
            <a:endParaRPr lang="en-US" sz="1400" dirty="0"/>
          </a:p>
        </p:txBody>
      </p:sp>
      <p:sp>
        <p:nvSpPr>
          <p:cNvPr id="23" name="Shape 21"/>
          <p:cNvSpPr/>
          <p:nvPr/>
        </p:nvSpPr>
        <p:spPr>
          <a:xfrm>
            <a:off x="6321023" y="4800600"/>
            <a:ext cx="1920240" cy="320040"/>
          </a:xfrm>
          <a:prstGeom prst="roundRect">
            <a:avLst>
              <a:gd name="adj" fmla="val 14286"/>
            </a:avLst>
          </a:prstGeom>
          <a:solidFill>
            <a:srgbClr val="DC2626">
              <a:alpha val="85000"/>
            </a:srgbClr>
          </a:solidFill>
          <a:ln w="12700">
            <a:solidFill>
              <a:srgbClr val="DC2626">
                <a:alpha val="0"/>
              </a:srgbClr>
            </a:solidFill>
            <a:prstDash val="solid"/>
          </a:ln>
        </p:spPr>
      </p:sp>
      <p:sp>
        <p:nvSpPr>
          <p:cNvPr id="24" name="Text 22"/>
          <p:cNvSpPr/>
          <p:nvPr/>
        </p:nvSpPr>
        <p:spPr>
          <a:xfrm>
            <a:off x="6263640" y="4855464"/>
            <a:ext cx="1920240" cy="201168"/>
          </a:xfrm>
          <a:prstGeom prst="rect">
            <a:avLst/>
          </a:prstGeom>
          <a:noFill/>
          <a:ln/>
        </p:spPr>
        <p:txBody>
          <a:bodyPr wrap="square" lIns="0" tIns="0" rIns="0" bIns="0" rtlCol="0" anchor="ctr"/>
          <a:lstStyle/>
          <a:p>
            <a:pPr marL="0" indent="0" algn="ctr">
              <a:buNone/>
            </a:pPr>
            <a:r>
              <a:rPr lang="en-US" sz="1100" b="1" dirty="0">
                <a:solidFill>
                  <a:srgbClr val="0B1F33"/>
                </a:solidFill>
                <a:latin typeface="Aptos" pitchFamily="34" charset="0"/>
                <a:ea typeface="Aptos" pitchFamily="34" charset="-122"/>
                <a:cs typeface="Aptos" pitchFamily="34" charset="-120"/>
              </a:rPr>
              <a:t>Overfitting</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F766E"/>
          </a:solidFill>
          <a:ln w="12700">
            <a:solidFill>
              <a:srgbClr val="0F766E"/>
            </a:solidFill>
            <a:prstDash val="solid"/>
          </a:ln>
        </p:spPr>
      </p:sp>
      <p:sp>
        <p:nvSpPr>
          <p:cNvPr id="3" name="Shape 1"/>
          <p:cNvSpPr/>
          <p:nvPr/>
        </p:nvSpPr>
        <p:spPr>
          <a:xfrm>
            <a:off x="0" y="146304"/>
            <a:ext cx="12191695" cy="45720"/>
          </a:xfrm>
          <a:prstGeom prst="rect">
            <a:avLst/>
          </a:prstGeom>
          <a:solidFill>
            <a:srgbClr val="1E3A8A">
              <a:alpha val="80000"/>
            </a:srgbClr>
          </a:solidFill>
          <a:ln w="12700">
            <a:solidFill>
              <a:srgbClr val="1E3A8A">
                <a:alpha val="0"/>
              </a:srgbClr>
            </a:solidFill>
            <a:prstDash val="solid"/>
          </a:ln>
        </p:spPr>
      </p:sp>
      <p:sp>
        <p:nvSpPr>
          <p:cNvPr id="4" name="Text 2"/>
          <p:cNvSpPr/>
          <p:nvPr/>
        </p:nvSpPr>
        <p:spPr>
          <a:xfrm>
            <a:off x="11475720" y="6446520"/>
            <a:ext cx="320040" cy="182880"/>
          </a:xfrm>
          <a:prstGeom prst="rect">
            <a:avLst/>
          </a:prstGeom>
          <a:noFill/>
          <a:ln/>
        </p:spPr>
        <p:txBody>
          <a:bodyPr wrap="square" lIns="0" tIns="0" rIns="0" bIns="0" rtlCol="0" anchor="ctr"/>
          <a:lstStyle/>
          <a:p>
            <a:pPr marL="0" indent="0" algn="r">
              <a:buNone/>
            </a:pPr>
            <a:r>
              <a:rPr lang="en-US" sz="900" dirty="0">
                <a:solidFill>
                  <a:srgbClr val="64748B"/>
                </a:solidFill>
                <a:latin typeface="Aptos" pitchFamily="34" charset="0"/>
                <a:ea typeface="Aptos" pitchFamily="34" charset="-122"/>
                <a:cs typeface="Aptos" pitchFamily="34" charset="-120"/>
              </a:rPr>
              <a:t>10</a:t>
            </a:r>
            <a:endParaRPr lang="en-US" sz="900" dirty="0"/>
          </a:p>
        </p:txBody>
      </p:sp>
      <p:sp>
        <p:nvSpPr>
          <p:cNvPr id="5" name="Text 3"/>
          <p:cNvSpPr/>
          <p:nvPr/>
        </p:nvSpPr>
        <p:spPr>
          <a:xfrm>
            <a:off x="777240" y="594360"/>
            <a:ext cx="4114800" cy="320040"/>
          </a:xfrm>
          <a:prstGeom prst="rect">
            <a:avLst/>
          </a:prstGeom>
          <a:noFill/>
          <a:ln/>
        </p:spPr>
        <p:txBody>
          <a:bodyPr wrap="square" lIns="0" tIns="0" rIns="0" bIns="0" rtlCol="0" anchor="ctr"/>
          <a:lstStyle/>
          <a:p>
            <a:pPr marL="0" indent="0">
              <a:buNone/>
            </a:pPr>
            <a:r>
              <a:rPr lang="en-US" sz="2000" b="1" dirty="0">
                <a:solidFill>
                  <a:srgbClr val="0B1F33"/>
                </a:solidFill>
                <a:latin typeface="Aptos Display" pitchFamily="34" charset="0"/>
                <a:ea typeface="Aptos Display" pitchFamily="34" charset="-122"/>
                <a:cs typeface="Aptos Display" pitchFamily="34" charset="-120"/>
              </a:rPr>
              <a:t>Dataset A</a:t>
            </a:r>
            <a:endParaRPr lang="en-US" sz="2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777240" y="1143000"/>
          <a:ext cx="10607040" cy="685800"/>
        </p:xfrm>
        <a:graphic>
          <a:graphicData uri="http://schemas.openxmlformats.org/drawingml/2006/table">
            <a:tbl>
              <a:tblPr/>
              <a:tblGrid>
                <a:gridCol w="210312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2971800">
                  <a:extLst>
                    <a:ext uri="{9D8B030D-6E8A-4147-A177-3AD203B41FA5}">
                      <a16:colId xmlns:a16="http://schemas.microsoft.com/office/drawing/2014/main" val="20003"/>
                    </a:ext>
                  </a:extLst>
                </a:gridCol>
                <a:gridCol w="2971800">
                  <a:extLst>
                    <a:ext uri="{9D8B030D-6E8A-4147-A177-3AD203B41FA5}">
                      <a16:colId xmlns:a16="http://schemas.microsoft.com/office/drawing/2014/main" val="20004"/>
                    </a:ext>
                  </a:extLst>
                </a:gridCol>
              </a:tblGrid>
              <a:tr h="685800">
                <a:tc>
                  <a:txBody>
                    <a:bodyPr/>
                    <a:lstStyle/>
                    <a:p>
                      <a:pPr marL="0" indent="0">
                        <a:buNone/>
                      </a:pPr>
                      <a:r>
                        <a:rPr lang="en-US" sz="1350" dirty="0">
                          <a:solidFill>
                            <a:srgbClr val="0B1F33"/>
                          </a:solidFill>
                          <a:latin typeface="Aptos" pitchFamily="34" charset="0"/>
                          <a:ea typeface="Aptos" pitchFamily="34" charset="-122"/>
                          <a:cs typeface="Aptos" pitchFamily="34" charset="-120"/>
                        </a:rPr>
                        <a:t>Software Developer</a:t>
                      </a:r>
                      <a:endParaRPr lang="en-US" sz="1350" dirty="0">
                        <a:latin typeface="Aptos" charset="0"/>
                        <a:ea typeface="Aptos" charset="0"/>
                        <a:cs typeface="Aptos" charset="0"/>
                      </a:endParaRPr>
                    </a:p>
                  </a:txBody>
                  <a:tcPr marL="73152" marR="73152" marT="73152" marB="73152">
                    <a:lnL w="10160" cap="flat" cmpd="sng" algn="ctr">
                      <a:solidFill>
                        <a:srgbClr val="475569"/>
                      </a:solidFill>
                      <a:prstDash val="solid"/>
                      <a:round/>
                      <a:headEnd type="none" w="med" len="med"/>
                      <a:tailEnd type="none" w="med" len="med"/>
                    </a:lnL>
                    <a:lnR w="10160" cap="flat" cmpd="sng" algn="ctr">
                      <a:solidFill>
                        <a:srgbClr val="475569"/>
                      </a:solidFill>
                      <a:prstDash val="solid"/>
                      <a:round/>
                      <a:headEnd type="none" w="med" len="med"/>
                      <a:tailEnd type="none" w="med" len="med"/>
                    </a:lnR>
                    <a:lnT w="10160" cap="flat" cmpd="sng" algn="ctr">
                      <a:solidFill>
                        <a:srgbClr val="475569"/>
                      </a:solidFill>
                      <a:prstDash val="solid"/>
                      <a:round/>
                      <a:headEnd type="none" w="med" len="med"/>
                      <a:tailEnd type="none" w="med" len="med"/>
                    </a:lnT>
                    <a:lnB w="10160" cap="flat" cmpd="sng" algn="ctr">
                      <a:solidFill>
                        <a:srgbClr val="475569"/>
                      </a:solidFill>
                      <a:prstDash val="solid"/>
                      <a:round/>
                      <a:headEnd type="none" w="med" len="med"/>
                      <a:tailEnd type="none" w="med" len="med"/>
                    </a:lnB>
                  </a:tcPr>
                </a:tc>
                <a:tc>
                  <a:txBody>
                    <a:bodyPr/>
                    <a:lstStyle/>
                    <a:p>
                      <a:pPr marL="0" indent="0">
                        <a:buNone/>
                      </a:pPr>
                      <a:r>
                        <a:rPr lang="en-US" sz="1350" dirty="0">
                          <a:solidFill>
                            <a:srgbClr val="0B1F33"/>
                          </a:solidFill>
                          <a:latin typeface="Aptos" pitchFamily="34" charset="0"/>
                          <a:ea typeface="Aptos" pitchFamily="34" charset="-122"/>
                          <a:cs typeface="Aptos" pitchFamily="34" charset="-120"/>
                        </a:rPr>
                        <a:t>Technical</a:t>
                      </a:r>
                      <a:endParaRPr lang="en-US" sz="1350" dirty="0">
                        <a:latin typeface="Aptos" charset="0"/>
                        <a:ea typeface="Aptos" charset="0"/>
                        <a:cs typeface="Aptos" charset="0"/>
                      </a:endParaRPr>
                    </a:p>
                    <a:p>
                      <a:pPr marL="0" indent="0">
                        <a:buNone/>
                      </a:pPr>
                      <a:r>
                        <a:rPr lang="en-US" sz="1350" dirty="0">
                          <a:solidFill>
                            <a:srgbClr val="0B1F33"/>
                          </a:solidFill>
                          <a:latin typeface="Aptos" pitchFamily="34" charset="0"/>
                          <a:ea typeface="Aptos" pitchFamily="34" charset="-122"/>
                          <a:cs typeface="Aptos" pitchFamily="34" charset="-120"/>
                        </a:rPr>
                        <a:t>skill A</a:t>
                      </a:r>
                      <a:endParaRPr lang="en-US" sz="1350" dirty="0">
                        <a:latin typeface="Aptos" charset="0"/>
                        <a:ea typeface="Aptos" charset="0"/>
                        <a:cs typeface="Aptos" charset="0"/>
                      </a:endParaRPr>
                    </a:p>
                  </a:txBody>
                  <a:tcPr marL="73152" marR="73152" marT="73152" marB="73152">
                    <a:lnL w="10160" cap="flat" cmpd="sng" algn="ctr">
                      <a:solidFill>
                        <a:srgbClr val="475569"/>
                      </a:solidFill>
                      <a:prstDash val="solid"/>
                      <a:round/>
                      <a:headEnd type="none" w="med" len="med"/>
                      <a:tailEnd type="none" w="med" len="med"/>
                    </a:lnL>
                    <a:lnR w="10160" cap="flat" cmpd="sng" algn="ctr">
                      <a:solidFill>
                        <a:srgbClr val="475569"/>
                      </a:solidFill>
                      <a:prstDash val="solid"/>
                      <a:round/>
                      <a:headEnd type="none" w="med" len="med"/>
                      <a:tailEnd type="none" w="med" len="med"/>
                    </a:lnR>
                    <a:lnT w="10160" cap="flat" cmpd="sng" algn="ctr">
                      <a:solidFill>
                        <a:srgbClr val="475569"/>
                      </a:solidFill>
                      <a:prstDash val="solid"/>
                      <a:round/>
                      <a:headEnd type="none" w="med" len="med"/>
                      <a:tailEnd type="none" w="med" len="med"/>
                    </a:lnT>
                    <a:lnB w="10160" cap="flat" cmpd="sng" algn="ctr">
                      <a:solidFill>
                        <a:srgbClr val="475569"/>
                      </a:solidFill>
                      <a:prstDash val="solid"/>
                      <a:round/>
                      <a:headEnd type="none" w="med" len="med"/>
                      <a:tailEnd type="none" w="med" len="med"/>
                    </a:lnB>
                  </a:tcPr>
                </a:tc>
                <a:tc>
                  <a:txBody>
                    <a:bodyPr/>
                    <a:lstStyle/>
                    <a:p>
                      <a:pPr marL="0" indent="0">
                        <a:buNone/>
                      </a:pPr>
                      <a:r>
                        <a:rPr lang="en-US" sz="1350" dirty="0">
                          <a:solidFill>
                            <a:srgbClr val="0B1F33"/>
                          </a:solidFill>
                          <a:latin typeface="Aptos" pitchFamily="34" charset="0"/>
                          <a:ea typeface="Aptos" pitchFamily="34" charset="-122"/>
                          <a:cs typeface="Aptos" pitchFamily="34" charset="-120"/>
                        </a:rPr>
                        <a:t>Technical</a:t>
                      </a:r>
                      <a:endParaRPr lang="en-US" sz="1350" dirty="0">
                        <a:latin typeface="Aptos" charset="0"/>
                        <a:ea typeface="Aptos" charset="0"/>
                        <a:cs typeface="Aptos" charset="0"/>
                      </a:endParaRPr>
                    </a:p>
                    <a:p>
                      <a:pPr marL="0" indent="0">
                        <a:buNone/>
                      </a:pPr>
                      <a:r>
                        <a:rPr lang="en-US" sz="1350" dirty="0">
                          <a:solidFill>
                            <a:srgbClr val="0B1F33"/>
                          </a:solidFill>
                          <a:latin typeface="Aptos" pitchFamily="34" charset="0"/>
                          <a:ea typeface="Aptos" pitchFamily="34" charset="-122"/>
                          <a:cs typeface="Aptos" pitchFamily="34" charset="-120"/>
                        </a:rPr>
                        <a:t>skill B</a:t>
                      </a:r>
                      <a:endParaRPr lang="en-US" sz="1350" dirty="0">
                        <a:latin typeface="Aptos" charset="0"/>
                        <a:ea typeface="Aptos" charset="0"/>
                        <a:cs typeface="Aptos" charset="0"/>
                      </a:endParaRPr>
                    </a:p>
                  </a:txBody>
                  <a:tcPr marL="73152" marR="73152" marT="73152" marB="73152">
                    <a:lnL w="10160" cap="flat" cmpd="sng" algn="ctr">
                      <a:solidFill>
                        <a:srgbClr val="475569"/>
                      </a:solidFill>
                      <a:prstDash val="solid"/>
                      <a:round/>
                      <a:headEnd type="none" w="med" len="med"/>
                      <a:tailEnd type="none" w="med" len="med"/>
                    </a:lnL>
                    <a:lnR w="10160" cap="flat" cmpd="sng" algn="ctr">
                      <a:solidFill>
                        <a:srgbClr val="475569"/>
                      </a:solidFill>
                      <a:prstDash val="solid"/>
                      <a:round/>
                      <a:headEnd type="none" w="med" len="med"/>
                      <a:tailEnd type="none" w="med" len="med"/>
                    </a:lnR>
                    <a:lnT w="10160" cap="flat" cmpd="sng" algn="ctr">
                      <a:solidFill>
                        <a:srgbClr val="475569"/>
                      </a:solidFill>
                      <a:prstDash val="solid"/>
                      <a:round/>
                      <a:headEnd type="none" w="med" len="med"/>
                      <a:tailEnd type="none" w="med" len="med"/>
                    </a:lnT>
                    <a:lnB w="10160" cap="flat" cmpd="sng" algn="ctr">
                      <a:solidFill>
                        <a:srgbClr val="475569"/>
                      </a:solidFill>
                      <a:prstDash val="solid"/>
                      <a:round/>
                      <a:headEnd type="none" w="med" len="med"/>
                      <a:tailEnd type="none" w="med" len="med"/>
                    </a:lnB>
                  </a:tcPr>
                </a:tc>
                <a:tc>
                  <a:txBody>
                    <a:bodyPr/>
                    <a:lstStyle/>
                    <a:p>
                      <a:pPr marL="0" indent="0">
                        <a:buNone/>
                      </a:pPr>
                      <a:r>
                        <a:rPr lang="en-US" sz="1350" dirty="0">
                          <a:solidFill>
                            <a:srgbClr val="0B1F33"/>
                          </a:solidFill>
                          <a:latin typeface="Aptos" pitchFamily="34" charset="0"/>
                          <a:ea typeface="Aptos" pitchFamily="34" charset="-122"/>
                          <a:cs typeface="Aptos" pitchFamily="34" charset="-120"/>
                        </a:rPr>
                        <a:t>Personality trait 1  b</a:t>
                      </a:r>
                      <a:endParaRPr lang="en-US" sz="1350" dirty="0">
                        <a:latin typeface="Aptos" charset="0"/>
                        <a:ea typeface="Aptos" charset="0"/>
                        <a:cs typeface="Aptos" charset="0"/>
                      </a:endParaRPr>
                    </a:p>
                  </a:txBody>
                  <a:tcPr marL="73152" marR="73152" marT="73152" marB="73152">
                    <a:lnL w="10160" cap="flat" cmpd="sng" algn="ctr">
                      <a:solidFill>
                        <a:srgbClr val="475569"/>
                      </a:solidFill>
                      <a:prstDash val="solid"/>
                      <a:round/>
                      <a:headEnd type="none" w="med" len="med"/>
                      <a:tailEnd type="none" w="med" len="med"/>
                    </a:lnL>
                    <a:lnR w="10160" cap="flat" cmpd="sng" algn="ctr">
                      <a:solidFill>
                        <a:srgbClr val="475569"/>
                      </a:solidFill>
                      <a:prstDash val="solid"/>
                      <a:round/>
                      <a:headEnd type="none" w="med" len="med"/>
                      <a:tailEnd type="none" w="med" len="med"/>
                    </a:lnR>
                    <a:lnT w="10160" cap="flat" cmpd="sng" algn="ctr">
                      <a:solidFill>
                        <a:srgbClr val="475569"/>
                      </a:solidFill>
                      <a:prstDash val="solid"/>
                      <a:round/>
                      <a:headEnd type="none" w="med" len="med"/>
                      <a:tailEnd type="none" w="med" len="med"/>
                    </a:lnT>
                    <a:lnB w="10160" cap="flat" cmpd="sng" algn="ctr">
                      <a:solidFill>
                        <a:srgbClr val="475569"/>
                      </a:solidFill>
                      <a:prstDash val="solid"/>
                      <a:round/>
                      <a:headEnd type="none" w="med" len="med"/>
                      <a:tailEnd type="none" w="med" len="med"/>
                    </a:lnB>
                  </a:tcPr>
                </a:tc>
                <a:tc>
                  <a:txBody>
                    <a:bodyPr/>
                    <a:lstStyle/>
                    <a:p>
                      <a:pPr marL="0" indent="0">
                        <a:buNone/>
                      </a:pPr>
                      <a:r>
                        <a:rPr lang="en-US" sz="1350" dirty="0">
                          <a:solidFill>
                            <a:srgbClr val="0B1F33"/>
                          </a:solidFill>
                          <a:latin typeface="Aptos" pitchFamily="34" charset="0"/>
                          <a:ea typeface="Aptos" pitchFamily="34" charset="-122"/>
                          <a:cs typeface="Aptos" pitchFamily="34" charset="-120"/>
                        </a:rPr>
                        <a:t>Personality trait 2 b</a:t>
                      </a:r>
                      <a:endParaRPr lang="en-US" sz="1350" dirty="0">
                        <a:latin typeface="Aptos" charset="0"/>
                        <a:ea typeface="Aptos" charset="0"/>
                        <a:cs typeface="Aptos" charset="0"/>
                      </a:endParaRPr>
                    </a:p>
                  </a:txBody>
                  <a:tcPr marL="73152" marR="73152" marT="73152" marB="73152">
                    <a:lnL w="10160" cap="flat" cmpd="sng" algn="ctr">
                      <a:solidFill>
                        <a:srgbClr val="475569"/>
                      </a:solidFill>
                      <a:prstDash val="solid"/>
                      <a:round/>
                      <a:headEnd type="none" w="med" len="med"/>
                      <a:tailEnd type="none" w="med" len="med"/>
                    </a:lnL>
                    <a:lnR w="10160" cap="flat" cmpd="sng" algn="ctr">
                      <a:solidFill>
                        <a:srgbClr val="475569"/>
                      </a:solidFill>
                      <a:prstDash val="solid"/>
                      <a:round/>
                      <a:headEnd type="none" w="med" len="med"/>
                      <a:tailEnd type="none" w="med" len="med"/>
                    </a:lnR>
                    <a:lnT w="10160" cap="flat" cmpd="sng" algn="ctr">
                      <a:solidFill>
                        <a:srgbClr val="475569"/>
                      </a:solidFill>
                      <a:prstDash val="solid"/>
                      <a:round/>
                      <a:headEnd type="none" w="med" len="med"/>
                      <a:tailEnd type="none" w="med" len="med"/>
                    </a:lnT>
                    <a:lnB w="10160" cap="flat" cmpd="sng" algn="ctr">
                      <a:solidFill>
                        <a:srgbClr val="475569"/>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7" name="Text 4"/>
          <p:cNvSpPr/>
          <p:nvPr/>
        </p:nvSpPr>
        <p:spPr>
          <a:xfrm>
            <a:off x="777240" y="3337560"/>
            <a:ext cx="4114800" cy="320040"/>
          </a:xfrm>
          <a:prstGeom prst="rect">
            <a:avLst/>
          </a:prstGeom>
          <a:noFill/>
          <a:ln/>
        </p:spPr>
        <p:txBody>
          <a:bodyPr wrap="square" lIns="0" tIns="0" rIns="0" bIns="0" rtlCol="0" anchor="ctr"/>
          <a:lstStyle/>
          <a:p>
            <a:pPr marL="0" indent="0">
              <a:buNone/>
            </a:pPr>
            <a:r>
              <a:rPr lang="en-US" sz="2000" b="1" dirty="0">
                <a:solidFill>
                  <a:srgbClr val="0B1F33"/>
                </a:solidFill>
                <a:latin typeface="Aptos Display" pitchFamily="34" charset="0"/>
                <a:ea typeface="Aptos Display" pitchFamily="34" charset="-122"/>
                <a:cs typeface="Aptos Display" pitchFamily="34" charset="-120"/>
              </a:rPr>
              <a:t>Dataset B</a:t>
            </a:r>
            <a:endParaRPr lang="en-US" sz="2000" dirty="0"/>
          </a:p>
        </p:txBody>
      </p:sp>
      <p:graphicFrame>
        <p:nvGraphicFramePr>
          <p:cNvPr id="21" name="Table 1"/>
          <p:cNvGraphicFramePr>
            <a:graphicFrameLocks noGrp="1"/>
          </p:cNvGraphicFramePr>
          <p:nvPr>
            <p:extLst>
              <p:ext uri="{D42A27DB-BD31-4B8C-83A1-F6EECF244321}">
                <p14:modId xmlns:p14="http://schemas.microsoft.com/office/powerpoint/2010/main" val="1579011935"/>
              </p:ext>
            </p:extLst>
          </p:nvPr>
        </p:nvGraphicFramePr>
        <p:xfrm>
          <a:off x="777240" y="3977640"/>
          <a:ext cx="7863840" cy="1234440"/>
        </p:xfrm>
        <a:graphic>
          <a:graphicData uri="http://schemas.openxmlformats.org/drawingml/2006/table">
            <a:tbl>
              <a:tblPr/>
              <a:tblGrid>
                <a:gridCol w="2651760">
                  <a:extLst>
                    <a:ext uri="{9D8B030D-6E8A-4147-A177-3AD203B41FA5}">
                      <a16:colId xmlns:a16="http://schemas.microsoft.com/office/drawing/2014/main" val="20000"/>
                    </a:ext>
                  </a:extLst>
                </a:gridCol>
                <a:gridCol w="2606040">
                  <a:extLst>
                    <a:ext uri="{9D8B030D-6E8A-4147-A177-3AD203B41FA5}">
                      <a16:colId xmlns:a16="http://schemas.microsoft.com/office/drawing/2014/main" val="20001"/>
                    </a:ext>
                  </a:extLst>
                </a:gridCol>
                <a:gridCol w="2606040">
                  <a:extLst>
                    <a:ext uri="{9D8B030D-6E8A-4147-A177-3AD203B41FA5}">
                      <a16:colId xmlns:a16="http://schemas.microsoft.com/office/drawing/2014/main" val="20002"/>
                    </a:ext>
                  </a:extLst>
                </a:gridCol>
              </a:tblGrid>
              <a:tr h="411480">
                <a:tc>
                  <a:txBody>
                    <a:bodyPr/>
                    <a:lstStyle/>
                    <a:p>
                      <a:pPr marL="0" indent="0">
                        <a:buNone/>
                      </a:pPr>
                      <a:r>
                        <a:rPr lang="en-US" sz="1350" dirty="0">
                          <a:solidFill>
                            <a:srgbClr val="0B1F33"/>
                          </a:solidFill>
                          <a:latin typeface="Aptos" pitchFamily="34" charset="0"/>
                          <a:ea typeface="Aptos" pitchFamily="34" charset="-122"/>
                          <a:cs typeface="Aptos" pitchFamily="34" charset="-120"/>
                        </a:rPr>
                        <a:t>Software Developer</a:t>
                      </a:r>
                      <a:endParaRPr lang="en-US" sz="1350" dirty="0">
                        <a:latin typeface="Aptos" charset="0"/>
                        <a:ea typeface="Aptos" charset="0"/>
                        <a:cs typeface="Aptos" charset="0"/>
                      </a:endParaRPr>
                    </a:p>
                  </a:txBody>
                  <a:tcPr marL="73152" marR="73152" marT="73152" marB="73152">
                    <a:lnL w="10160" cap="flat" cmpd="sng" algn="ctr">
                      <a:solidFill>
                        <a:srgbClr val="475569"/>
                      </a:solidFill>
                      <a:prstDash val="solid"/>
                      <a:round/>
                      <a:headEnd type="none" w="med" len="med"/>
                      <a:tailEnd type="none" w="med" len="med"/>
                    </a:lnL>
                    <a:lnR w="10160" cap="flat" cmpd="sng" algn="ctr">
                      <a:solidFill>
                        <a:srgbClr val="475569"/>
                      </a:solidFill>
                      <a:prstDash val="solid"/>
                      <a:round/>
                      <a:headEnd type="none" w="med" len="med"/>
                      <a:tailEnd type="none" w="med" len="med"/>
                    </a:lnR>
                    <a:lnT w="10160" cap="flat" cmpd="sng" algn="ctr">
                      <a:solidFill>
                        <a:srgbClr val="475569"/>
                      </a:solidFill>
                      <a:prstDash val="solid"/>
                      <a:round/>
                      <a:headEnd type="none" w="med" len="med"/>
                      <a:tailEnd type="none" w="med" len="med"/>
                    </a:lnT>
                    <a:lnB w="10160" cap="flat" cmpd="sng" algn="ctr">
                      <a:solidFill>
                        <a:srgbClr val="475569"/>
                      </a:solidFill>
                      <a:prstDash val="solid"/>
                      <a:round/>
                      <a:headEnd type="none" w="med" len="med"/>
                      <a:tailEnd type="none" w="med" len="med"/>
                    </a:lnB>
                  </a:tcPr>
                </a:tc>
                <a:tc>
                  <a:txBody>
                    <a:bodyPr/>
                    <a:lstStyle/>
                    <a:p>
                      <a:pPr marL="0" indent="0">
                        <a:buNone/>
                      </a:pPr>
                      <a:r>
                        <a:rPr lang="en-US" sz="1350" dirty="0">
                          <a:solidFill>
                            <a:srgbClr val="0B1F33"/>
                          </a:solidFill>
                          <a:latin typeface="Aptos" pitchFamily="34" charset="0"/>
                          <a:ea typeface="Aptos" pitchFamily="34" charset="-122"/>
                          <a:cs typeface="Aptos" pitchFamily="34" charset="-120"/>
                        </a:rPr>
                        <a:t>Personality trait 1 a</a:t>
                      </a:r>
                      <a:endParaRPr lang="en-US" sz="1350" dirty="0">
                        <a:latin typeface="Aptos" charset="0"/>
                        <a:ea typeface="Aptos" charset="0"/>
                        <a:cs typeface="Aptos" charset="0"/>
                      </a:endParaRPr>
                    </a:p>
                  </a:txBody>
                  <a:tcPr marL="73152" marR="73152" marT="73152" marB="73152">
                    <a:lnL w="10160" cap="flat" cmpd="sng" algn="ctr">
                      <a:solidFill>
                        <a:srgbClr val="475569"/>
                      </a:solidFill>
                      <a:prstDash val="solid"/>
                      <a:round/>
                      <a:headEnd type="none" w="med" len="med"/>
                      <a:tailEnd type="none" w="med" len="med"/>
                    </a:lnL>
                    <a:lnR w="10160" cap="flat" cmpd="sng" algn="ctr">
                      <a:solidFill>
                        <a:srgbClr val="475569"/>
                      </a:solidFill>
                      <a:prstDash val="solid"/>
                      <a:round/>
                      <a:headEnd type="none" w="med" len="med"/>
                      <a:tailEnd type="none" w="med" len="med"/>
                    </a:lnR>
                    <a:lnT w="10160" cap="flat" cmpd="sng" algn="ctr">
                      <a:solidFill>
                        <a:srgbClr val="475569"/>
                      </a:solidFill>
                      <a:prstDash val="solid"/>
                      <a:round/>
                      <a:headEnd type="none" w="med" len="med"/>
                      <a:tailEnd type="none" w="med" len="med"/>
                    </a:lnT>
                    <a:lnB w="10160" cap="flat" cmpd="sng" algn="ctr">
                      <a:solidFill>
                        <a:srgbClr val="475569"/>
                      </a:solidFill>
                      <a:prstDash val="solid"/>
                      <a:round/>
                      <a:headEnd type="none" w="med" len="med"/>
                      <a:tailEnd type="none" w="med" len="med"/>
                    </a:lnB>
                  </a:tcPr>
                </a:tc>
                <a:tc>
                  <a:txBody>
                    <a:bodyPr/>
                    <a:lstStyle/>
                    <a:p>
                      <a:pPr marL="0" indent="0">
                        <a:buNone/>
                      </a:pPr>
                      <a:r>
                        <a:rPr lang="en-US" sz="1350" dirty="0">
                          <a:solidFill>
                            <a:srgbClr val="0B1F33"/>
                          </a:solidFill>
                          <a:latin typeface="Aptos" pitchFamily="34" charset="0"/>
                          <a:ea typeface="Aptos" pitchFamily="34" charset="-122"/>
                          <a:cs typeface="Aptos" pitchFamily="34" charset="-120"/>
                        </a:rPr>
                        <a:t>Personality 2 a</a:t>
                      </a:r>
                      <a:endParaRPr lang="en-US" sz="1350" dirty="0">
                        <a:latin typeface="Aptos" charset="0"/>
                        <a:ea typeface="Aptos" charset="0"/>
                        <a:cs typeface="Aptos" charset="0"/>
                      </a:endParaRPr>
                    </a:p>
                  </a:txBody>
                  <a:tcPr marL="73152" marR="73152" marT="73152" marB="73152">
                    <a:lnL w="10160" cap="flat" cmpd="sng" algn="ctr">
                      <a:solidFill>
                        <a:srgbClr val="475569"/>
                      </a:solidFill>
                      <a:prstDash val="solid"/>
                      <a:round/>
                      <a:headEnd type="none" w="med" len="med"/>
                      <a:tailEnd type="none" w="med" len="med"/>
                    </a:lnL>
                    <a:lnR w="10160" cap="flat" cmpd="sng" algn="ctr">
                      <a:solidFill>
                        <a:srgbClr val="475569"/>
                      </a:solidFill>
                      <a:prstDash val="solid"/>
                      <a:round/>
                      <a:headEnd type="none" w="med" len="med"/>
                      <a:tailEnd type="none" w="med" len="med"/>
                    </a:lnR>
                    <a:lnT w="10160" cap="flat" cmpd="sng" algn="ctr">
                      <a:solidFill>
                        <a:srgbClr val="475569"/>
                      </a:solidFill>
                      <a:prstDash val="solid"/>
                      <a:round/>
                      <a:headEnd type="none" w="med" len="med"/>
                      <a:tailEnd type="none" w="med" len="med"/>
                    </a:lnT>
                    <a:lnB w="10160" cap="flat" cmpd="sng" algn="ctr">
                      <a:solidFill>
                        <a:srgbClr val="475569"/>
                      </a:solidFill>
                      <a:prstDash val="solid"/>
                      <a:round/>
                      <a:headEnd type="none" w="med" len="med"/>
                      <a:tailEnd type="none" w="med" len="med"/>
                    </a:lnB>
                  </a:tcPr>
                </a:tc>
                <a:extLst>
                  <a:ext uri="{0D108BD9-81ED-4DB2-BD59-A6C34878D82A}">
                    <a16:rowId xmlns:a16="http://schemas.microsoft.com/office/drawing/2014/main" val="10000"/>
                  </a:ext>
                </a:extLst>
              </a:tr>
              <a:tr h="411480">
                <a:tc>
                  <a:txBody>
                    <a:bodyPr/>
                    <a:lstStyle/>
                    <a:p>
                      <a:pPr marL="0" indent="0">
                        <a:buNone/>
                      </a:pPr>
                      <a:r>
                        <a:rPr lang="en-US" sz="1350" dirty="0">
                          <a:solidFill>
                            <a:srgbClr val="0B1F33"/>
                          </a:solidFill>
                          <a:latin typeface="Aptos" pitchFamily="34" charset="0"/>
                          <a:ea typeface="Aptos" pitchFamily="34" charset="-122"/>
                          <a:cs typeface="Aptos" pitchFamily="34" charset="-120"/>
                        </a:rPr>
                        <a:t>Software Developer</a:t>
                      </a:r>
                      <a:endParaRPr lang="en-US" sz="1350" dirty="0">
                        <a:latin typeface="Aptos" charset="0"/>
                        <a:ea typeface="Aptos" charset="0"/>
                        <a:cs typeface="Aptos" charset="0"/>
                      </a:endParaRPr>
                    </a:p>
                  </a:txBody>
                  <a:tcPr marL="73152" marR="73152" marT="73152" marB="73152">
                    <a:lnL w="10160" cap="flat" cmpd="sng" algn="ctr">
                      <a:solidFill>
                        <a:srgbClr val="475569"/>
                      </a:solidFill>
                      <a:prstDash val="solid"/>
                      <a:round/>
                      <a:headEnd type="none" w="med" len="med"/>
                      <a:tailEnd type="none" w="med" len="med"/>
                    </a:lnL>
                    <a:lnR w="10160" cap="flat" cmpd="sng" algn="ctr">
                      <a:solidFill>
                        <a:srgbClr val="475569"/>
                      </a:solidFill>
                      <a:prstDash val="solid"/>
                      <a:round/>
                      <a:headEnd type="none" w="med" len="med"/>
                      <a:tailEnd type="none" w="med" len="med"/>
                    </a:lnR>
                    <a:lnT w="10160" cap="flat" cmpd="sng" algn="ctr">
                      <a:solidFill>
                        <a:srgbClr val="475569"/>
                      </a:solidFill>
                      <a:prstDash val="solid"/>
                      <a:round/>
                      <a:headEnd type="none" w="med" len="med"/>
                      <a:tailEnd type="none" w="med" len="med"/>
                    </a:lnT>
                    <a:lnB w="10160" cap="flat" cmpd="sng" algn="ctr">
                      <a:solidFill>
                        <a:srgbClr val="475569"/>
                      </a:solidFill>
                      <a:prstDash val="solid"/>
                      <a:round/>
                      <a:headEnd type="none" w="med" len="med"/>
                      <a:tailEnd type="none" w="med" len="med"/>
                    </a:lnB>
                  </a:tcPr>
                </a:tc>
                <a:tc>
                  <a:txBody>
                    <a:bodyPr/>
                    <a:lstStyle/>
                    <a:p>
                      <a:pPr marL="0" indent="0">
                        <a:buNone/>
                      </a:pPr>
                      <a:r>
                        <a:rPr lang="en-US" sz="1350" dirty="0">
                          <a:solidFill>
                            <a:srgbClr val="0B1F33"/>
                          </a:solidFill>
                          <a:latin typeface="Aptos" pitchFamily="34" charset="0"/>
                          <a:ea typeface="Aptos" pitchFamily="34" charset="-122"/>
                          <a:cs typeface="Aptos" pitchFamily="34" charset="-120"/>
                        </a:rPr>
                        <a:t>Personality trait 1 b</a:t>
                      </a:r>
                      <a:endParaRPr lang="en-US" sz="1350" dirty="0">
                        <a:latin typeface="Aptos" charset="0"/>
                        <a:ea typeface="Aptos" charset="0"/>
                        <a:cs typeface="Aptos" charset="0"/>
                      </a:endParaRPr>
                    </a:p>
                  </a:txBody>
                  <a:tcPr marL="73152" marR="73152" marT="73152" marB="73152">
                    <a:lnL w="10160" cap="flat" cmpd="sng" algn="ctr">
                      <a:solidFill>
                        <a:srgbClr val="475569"/>
                      </a:solidFill>
                      <a:prstDash val="solid"/>
                      <a:round/>
                      <a:headEnd type="none" w="med" len="med"/>
                      <a:tailEnd type="none" w="med" len="med"/>
                    </a:lnL>
                    <a:lnR w="10160" cap="flat" cmpd="sng" algn="ctr">
                      <a:solidFill>
                        <a:srgbClr val="475569"/>
                      </a:solidFill>
                      <a:prstDash val="solid"/>
                      <a:round/>
                      <a:headEnd type="none" w="med" len="med"/>
                      <a:tailEnd type="none" w="med" len="med"/>
                    </a:lnR>
                    <a:lnT w="10160" cap="flat" cmpd="sng" algn="ctr">
                      <a:solidFill>
                        <a:srgbClr val="475569"/>
                      </a:solidFill>
                      <a:prstDash val="solid"/>
                      <a:round/>
                      <a:headEnd type="none" w="med" len="med"/>
                      <a:tailEnd type="none" w="med" len="med"/>
                    </a:lnT>
                    <a:lnB w="10160" cap="flat" cmpd="sng" algn="ctr">
                      <a:solidFill>
                        <a:srgbClr val="475569"/>
                      </a:solidFill>
                      <a:prstDash val="solid"/>
                      <a:round/>
                      <a:headEnd type="none" w="med" len="med"/>
                      <a:tailEnd type="none" w="med" len="med"/>
                    </a:lnB>
                  </a:tcPr>
                </a:tc>
                <a:tc>
                  <a:txBody>
                    <a:bodyPr/>
                    <a:lstStyle/>
                    <a:p>
                      <a:pPr marL="0" indent="0">
                        <a:buNone/>
                      </a:pPr>
                      <a:r>
                        <a:rPr lang="en-US" sz="1350" dirty="0">
                          <a:solidFill>
                            <a:srgbClr val="0B1F33"/>
                          </a:solidFill>
                          <a:latin typeface="Aptos" pitchFamily="34" charset="0"/>
                          <a:ea typeface="Aptos" pitchFamily="34" charset="-122"/>
                          <a:cs typeface="Aptos" pitchFamily="34" charset="-120"/>
                        </a:rPr>
                        <a:t>Personality 2 b</a:t>
                      </a:r>
                      <a:endParaRPr lang="en-US" sz="1350" dirty="0">
                        <a:latin typeface="Aptos" charset="0"/>
                        <a:ea typeface="Aptos" charset="0"/>
                        <a:cs typeface="Aptos" charset="0"/>
                      </a:endParaRPr>
                    </a:p>
                  </a:txBody>
                  <a:tcPr marL="73152" marR="73152" marT="73152" marB="73152">
                    <a:lnL w="10160" cap="flat" cmpd="sng" algn="ctr">
                      <a:solidFill>
                        <a:srgbClr val="475569"/>
                      </a:solidFill>
                      <a:prstDash val="solid"/>
                      <a:round/>
                      <a:headEnd type="none" w="med" len="med"/>
                      <a:tailEnd type="none" w="med" len="med"/>
                    </a:lnL>
                    <a:lnR w="10160" cap="flat" cmpd="sng" algn="ctr">
                      <a:solidFill>
                        <a:srgbClr val="475569"/>
                      </a:solidFill>
                      <a:prstDash val="solid"/>
                      <a:round/>
                      <a:headEnd type="none" w="med" len="med"/>
                      <a:tailEnd type="none" w="med" len="med"/>
                    </a:lnR>
                    <a:lnT w="10160" cap="flat" cmpd="sng" algn="ctr">
                      <a:solidFill>
                        <a:srgbClr val="475569"/>
                      </a:solidFill>
                      <a:prstDash val="solid"/>
                      <a:round/>
                      <a:headEnd type="none" w="med" len="med"/>
                      <a:tailEnd type="none" w="med" len="med"/>
                    </a:lnT>
                    <a:lnB w="10160" cap="flat" cmpd="sng" algn="ctr">
                      <a:solidFill>
                        <a:srgbClr val="475569"/>
                      </a:solidFill>
                      <a:prstDash val="solid"/>
                      <a:round/>
                      <a:headEnd type="none" w="med" len="med"/>
                      <a:tailEnd type="none" w="med" len="med"/>
                    </a:lnB>
                  </a:tcPr>
                </a:tc>
                <a:extLst>
                  <a:ext uri="{0D108BD9-81ED-4DB2-BD59-A6C34878D82A}">
                    <a16:rowId xmlns:a16="http://schemas.microsoft.com/office/drawing/2014/main" val="10001"/>
                  </a:ext>
                </a:extLst>
              </a:tr>
              <a:tr h="411480">
                <a:tc>
                  <a:txBody>
                    <a:bodyPr/>
                    <a:lstStyle/>
                    <a:p>
                      <a:pPr marL="0" indent="0">
                        <a:buNone/>
                      </a:pPr>
                      <a:r>
                        <a:rPr lang="en-US" sz="1350" dirty="0">
                          <a:solidFill>
                            <a:srgbClr val="0B1F33"/>
                          </a:solidFill>
                          <a:latin typeface="Aptos" pitchFamily="34" charset="0"/>
                          <a:ea typeface="Aptos" pitchFamily="34" charset="-122"/>
                          <a:cs typeface="Aptos" pitchFamily="34" charset="-120"/>
                        </a:rPr>
                        <a:t>Software Developer</a:t>
                      </a:r>
                      <a:endParaRPr lang="en-US" sz="1350" dirty="0">
                        <a:latin typeface="Aptos" charset="0"/>
                        <a:ea typeface="Aptos" charset="0"/>
                        <a:cs typeface="Aptos" charset="0"/>
                      </a:endParaRPr>
                    </a:p>
                  </a:txBody>
                  <a:tcPr marL="73152" marR="73152" marT="73152" marB="73152">
                    <a:lnL w="10160" cap="flat" cmpd="sng" algn="ctr">
                      <a:solidFill>
                        <a:srgbClr val="475569"/>
                      </a:solidFill>
                      <a:prstDash val="solid"/>
                      <a:round/>
                      <a:headEnd type="none" w="med" len="med"/>
                      <a:tailEnd type="none" w="med" len="med"/>
                    </a:lnL>
                    <a:lnR w="10160" cap="flat" cmpd="sng" algn="ctr">
                      <a:solidFill>
                        <a:srgbClr val="475569"/>
                      </a:solidFill>
                      <a:prstDash val="solid"/>
                      <a:round/>
                      <a:headEnd type="none" w="med" len="med"/>
                      <a:tailEnd type="none" w="med" len="med"/>
                    </a:lnR>
                    <a:lnT w="10160" cap="flat" cmpd="sng" algn="ctr">
                      <a:solidFill>
                        <a:srgbClr val="475569"/>
                      </a:solidFill>
                      <a:prstDash val="solid"/>
                      <a:round/>
                      <a:headEnd type="none" w="med" len="med"/>
                      <a:tailEnd type="none" w="med" len="med"/>
                    </a:lnT>
                    <a:lnB w="10160" cap="flat" cmpd="sng" algn="ctr">
                      <a:solidFill>
                        <a:srgbClr val="475569"/>
                      </a:solidFill>
                      <a:prstDash val="solid"/>
                      <a:round/>
                      <a:headEnd type="none" w="med" len="med"/>
                      <a:tailEnd type="none" w="med" len="med"/>
                    </a:lnB>
                  </a:tcPr>
                </a:tc>
                <a:tc>
                  <a:txBody>
                    <a:bodyPr/>
                    <a:lstStyle/>
                    <a:p>
                      <a:pPr marL="0" indent="0">
                        <a:buNone/>
                      </a:pPr>
                      <a:r>
                        <a:rPr lang="en-US" sz="1350" dirty="0">
                          <a:solidFill>
                            <a:srgbClr val="0B1F33"/>
                          </a:solidFill>
                          <a:latin typeface="Aptos" pitchFamily="34" charset="0"/>
                          <a:ea typeface="Aptos" pitchFamily="34" charset="-122"/>
                          <a:cs typeface="Aptos" pitchFamily="34" charset="-120"/>
                        </a:rPr>
                        <a:t>Personality trait 1 c</a:t>
                      </a:r>
                      <a:endParaRPr lang="en-US" sz="1350" dirty="0">
                        <a:latin typeface="Aptos" charset="0"/>
                        <a:ea typeface="Aptos" charset="0"/>
                        <a:cs typeface="Aptos" charset="0"/>
                      </a:endParaRPr>
                    </a:p>
                  </a:txBody>
                  <a:tcPr marL="73152" marR="73152" marT="73152" marB="73152">
                    <a:lnL w="10160" cap="flat" cmpd="sng" algn="ctr">
                      <a:solidFill>
                        <a:srgbClr val="475569"/>
                      </a:solidFill>
                      <a:prstDash val="solid"/>
                      <a:round/>
                      <a:headEnd type="none" w="med" len="med"/>
                      <a:tailEnd type="none" w="med" len="med"/>
                    </a:lnL>
                    <a:lnR w="10160" cap="flat" cmpd="sng" algn="ctr">
                      <a:solidFill>
                        <a:srgbClr val="475569"/>
                      </a:solidFill>
                      <a:prstDash val="solid"/>
                      <a:round/>
                      <a:headEnd type="none" w="med" len="med"/>
                      <a:tailEnd type="none" w="med" len="med"/>
                    </a:lnR>
                    <a:lnT w="10160" cap="flat" cmpd="sng" algn="ctr">
                      <a:solidFill>
                        <a:srgbClr val="475569"/>
                      </a:solidFill>
                      <a:prstDash val="solid"/>
                      <a:round/>
                      <a:headEnd type="none" w="med" len="med"/>
                      <a:tailEnd type="none" w="med" len="med"/>
                    </a:lnT>
                    <a:lnB w="10160" cap="flat" cmpd="sng" algn="ctr">
                      <a:solidFill>
                        <a:srgbClr val="475569"/>
                      </a:solidFill>
                      <a:prstDash val="solid"/>
                      <a:round/>
                      <a:headEnd type="none" w="med" len="med"/>
                      <a:tailEnd type="none" w="med" len="med"/>
                    </a:lnB>
                  </a:tcPr>
                </a:tc>
                <a:tc>
                  <a:txBody>
                    <a:bodyPr/>
                    <a:lstStyle/>
                    <a:p>
                      <a:pPr marL="0" indent="0">
                        <a:buNone/>
                      </a:pPr>
                      <a:r>
                        <a:rPr lang="en-US" sz="1350" dirty="0">
                          <a:solidFill>
                            <a:srgbClr val="0B1F33"/>
                          </a:solidFill>
                          <a:latin typeface="Aptos" pitchFamily="34" charset="0"/>
                          <a:ea typeface="Aptos" pitchFamily="34" charset="-122"/>
                          <a:cs typeface="Aptos" pitchFamily="34" charset="-120"/>
                        </a:rPr>
                        <a:t>Personality 2 c</a:t>
                      </a:r>
                      <a:endParaRPr lang="en-US" sz="1350" dirty="0">
                        <a:latin typeface="Aptos" charset="0"/>
                        <a:ea typeface="Aptos" charset="0"/>
                        <a:cs typeface="Aptos" charset="0"/>
                      </a:endParaRPr>
                    </a:p>
                  </a:txBody>
                  <a:tcPr marL="73152" marR="73152" marT="73152" marB="73152">
                    <a:lnL w="10160" cap="flat" cmpd="sng" algn="ctr">
                      <a:solidFill>
                        <a:srgbClr val="475569"/>
                      </a:solidFill>
                      <a:prstDash val="solid"/>
                      <a:round/>
                      <a:headEnd type="none" w="med" len="med"/>
                      <a:tailEnd type="none" w="med" len="med"/>
                    </a:lnL>
                    <a:lnR w="10160" cap="flat" cmpd="sng" algn="ctr">
                      <a:solidFill>
                        <a:srgbClr val="475569"/>
                      </a:solidFill>
                      <a:prstDash val="solid"/>
                      <a:round/>
                      <a:headEnd type="none" w="med" len="med"/>
                      <a:tailEnd type="none" w="med" len="med"/>
                    </a:lnR>
                    <a:lnT w="10160" cap="flat" cmpd="sng" algn="ctr">
                      <a:solidFill>
                        <a:srgbClr val="475569"/>
                      </a:solidFill>
                      <a:prstDash val="solid"/>
                      <a:round/>
                      <a:headEnd type="none" w="med" len="med"/>
                      <a:tailEnd type="none" w="med" len="med"/>
                    </a:lnT>
                    <a:lnB w="10160" cap="flat" cmpd="sng" algn="ctr">
                      <a:solidFill>
                        <a:srgbClr val="475569"/>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9" name="Shape 5"/>
          <p:cNvSpPr/>
          <p:nvPr/>
        </p:nvSpPr>
        <p:spPr>
          <a:xfrm>
            <a:off x="9098280" y="4251960"/>
            <a:ext cx="960120" cy="502920"/>
          </a:xfrm>
          <a:prstGeom prst="leftArrow">
            <a:avLst/>
          </a:prstGeom>
          <a:solidFill>
            <a:srgbClr val="DBEAFE"/>
          </a:solidFill>
          <a:ln w="12700">
            <a:solidFill>
              <a:srgbClr val="1E3A8A">
                <a:alpha val="85000"/>
              </a:srgbClr>
            </a:solidFill>
            <a:prstDash val="solid"/>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F766E"/>
          </a:solidFill>
          <a:ln w="12700">
            <a:solidFill>
              <a:srgbClr val="0F766E"/>
            </a:solidFill>
            <a:prstDash val="solid"/>
          </a:ln>
        </p:spPr>
      </p:sp>
      <p:sp>
        <p:nvSpPr>
          <p:cNvPr id="3" name="Shape 1"/>
          <p:cNvSpPr/>
          <p:nvPr/>
        </p:nvSpPr>
        <p:spPr>
          <a:xfrm>
            <a:off x="0" y="146304"/>
            <a:ext cx="12191695" cy="45720"/>
          </a:xfrm>
          <a:prstGeom prst="rect">
            <a:avLst/>
          </a:prstGeom>
          <a:solidFill>
            <a:srgbClr val="1E3A8A">
              <a:alpha val="80000"/>
            </a:srgbClr>
          </a:solidFill>
          <a:ln w="12700">
            <a:solidFill>
              <a:srgbClr val="1E3A8A">
                <a:alpha val="0"/>
              </a:srgbClr>
            </a:solidFill>
            <a:prstDash val="solid"/>
          </a:ln>
        </p:spPr>
      </p:sp>
      <p:sp>
        <p:nvSpPr>
          <p:cNvPr id="4" name="Text 2"/>
          <p:cNvSpPr/>
          <p:nvPr/>
        </p:nvSpPr>
        <p:spPr>
          <a:xfrm>
            <a:off x="502920" y="384048"/>
            <a:ext cx="11155680" cy="502920"/>
          </a:xfrm>
          <a:prstGeom prst="rect">
            <a:avLst/>
          </a:prstGeom>
          <a:noFill/>
          <a:ln/>
        </p:spPr>
        <p:txBody>
          <a:bodyPr wrap="square" lIns="0" tIns="0" rIns="0" bIns="0" rtlCol="0" anchor="ctr">
            <a:normAutofit/>
          </a:bodyPr>
          <a:lstStyle/>
          <a:p>
            <a:pPr marL="0" indent="0">
              <a:buNone/>
            </a:pPr>
            <a:r>
              <a:rPr lang="en-US" sz="3000" b="1" dirty="0">
                <a:solidFill>
                  <a:srgbClr val="0B1F33"/>
                </a:solidFill>
                <a:latin typeface="Aptos Display" pitchFamily="34" charset="0"/>
                <a:ea typeface="Aptos Display" pitchFamily="34" charset="-122"/>
                <a:cs typeface="Aptos Display" pitchFamily="34" charset="-120"/>
              </a:rPr>
              <a:t>Design Diagrams</a:t>
            </a:r>
            <a:endParaRPr lang="en-US" sz="3000" dirty="0"/>
          </a:p>
        </p:txBody>
      </p:sp>
      <p:sp>
        <p:nvSpPr>
          <p:cNvPr id="5" name="Shape 3"/>
          <p:cNvSpPr/>
          <p:nvPr/>
        </p:nvSpPr>
        <p:spPr>
          <a:xfrm>
            <a:off x="502920" y="960120"/>
            <a:ext cx="2103120" cy="0"/>
          </a:xfrm>
          <a:prstGeom prst="line">
            <a:avLst/>
          </a:prstGeom>
          <a:noFill/>
          <a:ln w="12700">
            <a:solidFill>
              <a:srgbClr val="14B8A6"/>
            </a:solidFill>
            <a:prstDash val="solid"/>
          </a:ln>
        </p:spPr>
      </p:sp>
      <p:sp>
        <p:nvSpPr>
          <p:cNvPr id="6" name="Text 4"/>
          <p:cNvSpPr/>
          <p:nvPr/>
        </p:nvSpPr>
        <p:spPr>
          <a:xfrm>
            <a:off x="11475720" y="6446520"/>
            <a:ext cx="320040" cy="182880"/>
          </a:xfrm>
          <a:prstGeom prst="rect">
            <a:avLst/>
          </a:prstGeom>
          <a:noFill/>
          <a:ln/>
        </p:spPr>
        <p:txBody>
          <a:bodyPr wrap="square" lIns="0" tIns="0" rIns="0" bIns="0" rtlCol="0" anchor="ctr"/>
          <a:lstStyle/>
          <a:p>
            <a:pPr marL="0" indent="0" algn="r">
              <a:buNone/>
            </a:pPr>
            <a:r>
              <a:rPr lang="en-US" sz="900" dirty="0">
                <a:solidFill>
                  <a:srgbClr val="64748B"/>
                </a:solidFill>
                <a:latin typeface="Aptos" pitchFamily="34" charset="0"/>
                <a:ea typeface="Aptos" pitchFamily="34" charset="-122"/>
                <a:cs typeface="Aptos" pitchFamily="34" charset="-120"/>
              </a:rPr>
              <a:t>11</a:t>
            </a:r>
            <a:endParaRPr lang="en-US" sz="900" dirty="0"/>
          </a:p>
        </p:txBody>
      </p:sp>
      <p:sp>
        <p:nvSpPr>
          <p:cNvPr id="7" name="Shape 5"/>
          <p:cNvSpPr/>
          <p:nvPr/>
        </p:nvSpPr>
        <p:spPr>
          <a:xfrm>
            <a:off x="594360" y="1234440"/>
            <a:ext cx="5394960" cy="4160520"/>
          </a:xfrm>
          <a:prstGeom prst="roundRect">
            <a:avLst>
              <a:gd name="adj" fmla="val 1758"/>
            </a:avLst>
          </a:prstGeom>
          <a:solidFill>
            <a:srgbClr val="FFFFFF"/>
          </a:solidFill>
          <a:ln w="12700">
            <a:solidFill>
              <a:srgbClr val="E2E8F0"/>
            </a:solidFill>
            <a:prstDash val="solid"/>
          </a:ln>
          <a:effectLst>
            <a:outerShdw blurRad="12700" dist="50800" dir="2700000" algn="bl" rotWithShape="0">
              <a:srgbClr val="000000">
                <a:alpha val="10000"/>
              </a:srgbClr>
            </a:outerShdw>
          </a:effectLst>
        </p:spPr>
      </p:sp>
      <p:pic>
        <p:nvPicPr>
          <p:cNvPr id="8" name="Image 0" descr="/mnt/data/assets/dfd_level0_p11.png"/>
          <p:cNvPicPr>
            <a:picLocks noChangeAspect="1"/>
          </p:cNvPicPr>
          <p:nvPr/>
        </p:nvPicPr>
        <p:blipFill>
          <a:blip r:embed="rId3"/>
          <a:stretch>
            <a:fillRect/>
          </a:stretch>
        </p:blipFill>
        <p:spPr>
          <a:xfrm>
            <a:off x="667512" y="1368583"/>
            <a:ext cx="5248656" cy="3809938"/>
          </a:xfrm>
          <a:prstGeom prst="rect">
            <a:avLst/>
          </a:prstGeom>
        </p:spPr>
      </p:pic>
      <p:sp>
        <p:nvSpPr>
          <p:cNvPr id="9" name="Text 6"/>
          <p:cNvSpPr/>
          <p:nvPr/>
        </p:nvSpPr>
        <p:spPr>
          <a:xfrm>
            <a:off x="594360" y="5486400"/>
            <a:ext cx="5394960" cy="256032"/>
          </a:xfrm>
          <a:prstGeom prst="rect">
            <a:avLst/>
          </a:prstGeom>
          <a:noFill/>
          <a:ln/>
        </p:spPr>
        <p:txBody>
          <a:bodyPr wrap="square" lIns="0" tIns="0" rIns="0" bIns="0" rtlCol="0" anchor="ctr"/>
          <a:lstStyle/>
          <a:p>
            <a:pPr marL="0" indent="0" algn="ctr">
              <a:buNone/>
            </a:pPr>
            <a:r>
              <a:rPr lang="en-US" sz="1300" b="1" dirty="0">
                <a:solidFill>
                  <a:srgbClr val="0B1F33"/>
                </a:solidFill>
                <a:latin typeface="Aptos" pitchFamily="34" charset="0"/>
                <a:ea typeface="Aptos" pitchFamily="34" charset="-122"/>
                <a:cs typeface="Aptos" pitchFamily="34" charset="-120"/>
              </a:rPr>
              <a:t>Data Flow Diagram (Level 0)</a:t>
            </a:r>
            <a:endParaRPr lang="en-US" sz="1300" dirty="0"/>
          </a:p>
        </p:txBody>
      </p:sp>
      <p:sp>
        <p:nvSpPr>
          <p:cNvPr id="10" name="Shape 7"/>
          <p:cNvSpPr/>
          <p:nvPr/>
        </p:nvSpPr>
        <p:spPr>
          <a:xfrm>
            <a:off x="6217920" y="1234440"/>
            <a:ext cx="5394960" cy="4160520"/>
          </a:xfrm>
          <a:prstGeom prst="roundRect">
            <a:avLst>
              <a:gd name="adj" fmla="val 1758"/>
            </a:avLst>
          </a:prstGeom>
          <a:solidFill>
            <a:srgbClr val="FFFFFF"/>
          </a:solidFill>
          <a:ln w="12700">
            <a:solidFill>
              <a:srgbClr val="E2E8F0"/>
            </a:solidFill>
            <a:prstDash val="solid"/>
          </a:ln>
          <a:effectLst>
            <a:outerShdw blurRad="12700" dist="50800" dir="2700000" algn="bl" rotWithShape="0">
              <a:srgbClr val="000000">
                <a:alpha val="10000"/>
              </a:srgbClr>
            </a:outerShdw>
          </a:effectLst>
        </p:spPr>
      </p:sp>
      <p:pic>
        <p:nvPicPr>
          <p:cNvPr id="11" name="Image 1" descr="/mnt/data/assets/dfd_level1_p11.png"/>
          <p:cNvPicPr>
            <a:picLocks noChangeAspect="1"/>
          </p:cNvPicPr>
          <p:nvPr/>
        </p:nvPicPr>
        <p:blipFill>
          <a:blip r:embed="rId4"/>
          <a:stretch>
            <a:fillRect/>
          </a:stretch>
        </p:blipFill>
        <p:spPr>
          <a:xfrm>
            <a:off x="6291072" y="1387728"/>
            <a:ext cx="5248656" cy="3771647"/>
          </a:xfrm>
          <a:prstGeom prst="rect">
            <a:avLst/>
          </a:prstGeom>
        </p:spPr>
      </p:pic>
      <p:sp>
        <p:nvSpPr>
          <p:cNvPr id="12" name="Text 8"/>
          <p:cNvSpPr/>
          <p:nvPr/>
        </p:nvSpPr>
        <p:spPr>
          <a:xfrm>
            <a:off x="6217920" y="5486400"/>
            <a:ext cx="5394960" cy="256032"/>
          </a:xfrm>
          <a:prstGeom prst="rect">
            <a:avLst/>
          </a:prstGeom>
          <a:noFill/>
          <a:ln/>
        </p:spPr>
        <p:txBody>
          <a:bodyPr wrap="square" lIns="0" tIns="0" rIns="0" bIns="0" rtlCol="0" anchor="ctr"/>
          <a:lstStyle/>
          <a:p>
            <a:pPr marL="0" indent="0" algn="ctr">
              <a:buNone/>
            </a:pPr>
            <a:r>
              <a:rPr lang="en-US" sz="1300" b="1" dirty="0">
                <a:solidFill>
                  <a:srgbClr val="0B1F33"/>
                </a:solidFill>
                <a:latin typeface="Aptos" pitchFamily="34" charset="0"/>
                <a:ea typeface="Aptos" pitchFamily="34" charset="-122"/>
                <a:cs typeface="Aptos" pitchFamily="34" charset="-120"/>
              </a:rPr>
              <a:t>Data Flow Diagram (Level 1)</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F766E"/>
          </a:solidFill>
          <a:ln w="12700">
            <a:solidFill>
              <a:srgbClr val="0F766E"/>
            </a:solidFill>
            <a:prstDash val="solid"/>
          </a:ln>
        </p:spPr>
      </p:sp>
      <p:sp>
        <p:nvSpPr>
          <p:cNvPr id="3" name="Shape 1"/>
          <p:cNvSpPr/>
          <p:nvPr/>
        </p:nvSpPr>
        <p:spPr>
          <a:xfrm>
            <a:off x="0" y="146304"/>
            <a:ext cx="12191695" cy="45720"/>
          </a:xfrm>
          <a:prstGeom prst="rect">
            <a:avLst/>
          </a:prstGeom>
          <a:solidFill>
            <a:srgbClr val="1E3A8A">
              <a:alpha val="80000"/>
            </a:srgbClr>
          </a:solidFill>
          <a:ln w="12700">
            <a:solidFill>
              <a:srgbClr val="1E3A8A">
                <a:alpha val="0"/>
              </a:srgbClr>
            </a:solidFill>
            <a:prstDash val="solid"/>
          </a:ln>
        </p:spPr>
      </p:sp>
      <p:sp>
        <p:nvSpPr>
          <p:cNvPr id="4" name="Text 2"/>
          <p:cNvSpPr/>
          <p:nvPr/>
        </p:nvSpPr>
        <p:spPr>
          <a:xfrm>
            <a:off x="502920" y="384048"/>
            <a:ext cx="11155680" cy="502920"/>
          </a:xfrm>
          <a:prstGeom prst="rect">
            <a:avLst/>
          </a:prstGeom>
          <a:noFill/>
          <a:ln/>
        </p:spPr>
        <p:txBody>
          <a:bodyPr wrap="square" lIns="0" tIns="0" rIns="0" bIns="0" rtlCol="0" anchor="ctr">
            <a:normAutofit/>
          </a:bodyPr>
          <a:lstStyle/>
          <a:p>
            <a:pPr marL="0" indent="0">
              <a:buNone/>
            </a:pPr>
            <a:r>
              <a:rPr lang="en-US" sz="3000" b="1" dirty="0">
                <a:solidFill>
                  <a:srgbClr val="0B1F33"/>
                </a:solidFill>
                <a:latin typeface="Aptos Display" pitchFamily="34" charset="0"/>
                <a:ea typeface="Aptos Display" pitchFamily="34" charset="-122"/>
                <a:cs typeface="Aptos Display" pitchFamily="34" charset="-120"/>
              </a:rPr>
              <a:t>Design Diagrams</a:t>
            </a:r>
            <a:endParaRPr lang="en-US" sz="3000" dirty="0"/>
          </a:p>
        </p:txBody>
      </p:sp>
      <p:sp>
        <p:nvSpPr>
          <p:cNvPr id="5" name="Shape 3"/>
          <p:cNvSpPr/>
          <p:nvPr/>
        </p:nvSpPr>
        <p:spPr>
          <a:xfrm>
            <a:off x="502920" y="960120"/>
            <a:ext cx="2103120" cy="0"/>
          </a:xfrm>
          <a:prstGeom prst="line">
            <a:avLst/>
          </a:prstGeom>
          <a:noFill/>
          <a:ln w="12700">
            <a:solidFill>
              <a:srgbClr val="14B8A6"/>
            </a:solidFill>
            <a:prstDash val="solid"/>
          </a:ln>
        </p:spPr>
      </p:sp>
      <p:sp>
        <p:nvSpPr>
          <p:cNvPr id="6" name="Text 4"/>
          <p:cNvSpPr/>
          <p:nvPr/>
        </p:nvSpPr>
        <p:spPr>
          <a:xfrm>
            <a:off x="11475720" y="6446520"/>
            <a:ext cx="320040" cy="182880"/>
          </a:xfrm>
          <a:prstGeom prst="rect">
            <a:avLst/>
          </a:prstGeom>
          <a:noFill/>
          <a:ln/>
        </p:spPr>
        <p:txBody>
          <a:bodyPr wrap="square" lIns="0" tIns="0" rIns="0" bIns="0" rtlCol="0" anchor="ctr"/>
          <a:lstStyle/>
          <a:p>
            <a:pPr marL="0" indent="0" algn="r">
              <a:buNone/>
            </a:pPr>
            <a:r>
              <a:rPr lang="en-US" sz="900" dirty="0">
                <a:solidFill>
                  <a:srgbClr val="64748B"/>
                </a:solidFill>
                <a:latin typeface="Aptos" pitchFamily="34" charset="0"/>
                <a:ea typeface="Aptos" pitchFamily="34" charset="-122"/>
                <a:cs typeface="Aptos" pitchFamily="34" charset="-120"/>
              </a:rPr>
              <a:t>12</a:t>
            </a:r>
            <a:endParaRPr lang="en-US" sz="900" dirty="0"/>
          </a:p>
        </p:txBody>
      </p:sp>
      <p:sp>
        <p:nvSpPr>
          <p:cNvPr id="7" name="Shape 5"/>
          <p:cNvSpPr/>
          <p:nvPr/>
        </p:nvSpPr>
        <p:spPr>
          <a:xfrm>
            <a:off x="594360" y="1234440"/>
            <a:ext cx="5394960" cy="4160520"/>
          </a:xfrm>
          <a:prstGeom prst="roundRect">
            <a:avLst>
              <a:gd name="adj" fmla="val 1758"/>
            </a:avLst>
          </a:prstGeom>
          <a:solidFill>
            <a:srgbClr val="FFFFFF"/>
          </a:solidFill>
          <a:ln w="12700">
            <a:solidFill>
              <a:srgbClr val="E2E8F0"/>
            </a:solidFill>
            <a:prstDash val="solid"/>
          </a:ln>
          <a:effectLst>
            <a:outerShdw blurRad="12700" dist="50800" dir="2700000" algn="bl" rotWithShape="0">
              <a:srgbClr val="000000">
                <a:alpha val="10000"/>
              </a:srgbClr>
            </a:outerShdw>
          </a:effectLst>
        </p:spPr>
      </p:sp>
      <p:pic>
        <p:nvPicPr>
          <p:cNvPr id="8" name="Image 0" descr="/mnt/data/assets/usecase_p12.png"/>
          <p:cNvPicPr>
            <a:picLocks noChangeAspect="1"/>
          </p:cNvPicPr>
          <p:nvPr/>
        </p:nvPicPr>
        <p:blipFill>
          <a:blip r:embed="rId3"/>
          <a:stretch>
            <a:fillRect/>
          </a:stretch>
        </p:blipFill>
        <p:spPr>
          <a:xfrm>
            <a:off x="667512" y="1336221"/>
            <a:ext cx="5248656" cy="3874662"/>
          </a:xfrm>
          <a:prstGeom prst="rect">
            <a:avLst/>
          </a:prstGeom>
        </p:spPr>
      </p:pic>
      <p:sp>
        <p:nvSpPr>
          <p:cNvPr id="9" name="Text 6"/>
          <p:cNvSpPr/>
          <p:nvPr/>
        </p:nvSpPr>
        <p:spPr>
          <a:xfrm>
            <a:off x="594360" y="5486400"/>
            <a:ext cx="5394960" cy="256032"/>
          </a:xfrm>
          <a:prstGeom prst="rect">
            <a:avLst/>
          </a:prstGeom>
          <a:noFill/>
          <a:ln/>
        </p:spPr>
        <p:txBody>
          <a:bodyPr wrap="square" lIns="0" tIns="0" rIns="0" bIns="0" rtlCol="0" anchor="ctr"/>
          <a:lstStyle/>
          <a:p>
            <a:pPr marL="0" indent="0" algn="ctr">
              <a:buNone/>
            </a:pPr>
            <a:r>
              <a:rPr lang="en-US" sz="1300" b="1" dirty="0">
                <a:solidFill>
                  <a:srgbClr val="0B1F33"/>
                </a:solidFill>
                <a:latin typeface="Aptos" pitchFamily="34" charset="0"/>
                <a:ea typeface="Aptos" pitchFamily="34" charset="-122"/>
                <a:cs typeface="Aptos" pitchFamily="34" charset="-120"/>
              </a:rPr>
              <a:t>Use Case Diagram</a:t>
            </a:r>
            <a:endParaRPr lang="en-US" sz="1300" dirty="0"/>
          </a:p>
        </p:txBody>
      </p:sp>
      <p:sp>
        <p:nvSpPr>
          <p:cNvPr id="10" name="Shape 7"/>
          <p:cNvSpPr/>
          <p:nvPr/>
        </p:nvSpPr>
        <p:spPr>
          <a:xfrm>
            <a:off x="6217920" y="1234440"/>
            <a:ext cx="5394960" cy="4160520"/>
          </a:xfrm>
          <a:prstGeom prst="roundRect">
            <a:avLst>
              <a:gd name="adj" fmla="val 1758"/>
            </a:avLst>
          </a:prstGeom>
          <a:solidFill>
            <a:srgbClr val="FFFFFF"/>
          </a:solidFill>
          <a:ln w="12700">
            <a:solidFill>
              <a:srgbClr val="E2E8F0"/>
            </a:solidFill>
            <a:prstDash val="solid"/>
          </a:ln>
          <a:effectLst>
            <a:outerShdw blurRad="12700" dist="50800" dir="2700000" algn="bl" rotWithShape="0">
              <a:srgbClr val="000000">
                <a:alpha val="10000"/>
              </a:srgbClr>
            </a:outerShdw>
          </a:effectLst>
        </p:spPr>
      </p:sp>
      <p:pic>
        <p:nvPicPr>
          <p:cNvPr id="11" name="Image 1" descr="/mnt/data/assets/class_p12.png"/>
          <p:cNvPicPr>
            <a:picLocks noChangeAspect="1"/>
          </p:cNvPicPr>
          <p:nvPr/>
        </p:nvPicPr>
        <p:blipFill>
          <a:blip r:embed="rId4"/>
          <a:stretch>
            <a:fillRect/>
          </a:stretch>
        </p:blipFill>
        <p:spPr>
          <a:xfrm>
            <a:off x="6330028" y="1307592"/>
            <a:ext cx="5170744" cy="3931920"/>
          </a:xfrm>
          <a:prstGeom prst="rect">
            <a:avLst/>
          </a:prstGeom>
        </p:spPr>
      </p:pic>
      <p:sp>
        <p:nvSpPr>
          <p:cNvPr id="12" name="Text 8"/>
          <p:cNvSpPr/>
          <p:nvPr/>
        </p:nvSpPr>
        <p:spPr>
          <a:xfrm>
            <a:off x="6217920" y="5486400"/>
            <a:ext cx="5394960" cy="256032"/>
          </a:xfrm>
          <a:prstGeom prst="rect">
            <a:avLst/>
          </a:prstGeom>
          <a:noFill/>
          <a:ln/>
        </p:spPr>
        <p:txBody>
          <a:bodyPr wrap="square" lIns="0" tIns="0" rIns="0" bIns="0" rtlCol="0" anchor="ctr"/>
          <a:lstStyle/>
          <a:p>
            <a:pPr marL="0" indent="0" algn="ctr">
              <a:buNone/>
            </a:pPr>
            <a:r>
              <a:rPr lang="en-US" sz="1300" b="1" dirty="0">
                <a:solidFill>
                  <a:srgbClr val="0B1F33"/>
                </a:solidFill>
                <a:latin typeface="Aptos" pitchFamily="34" charset="0"/>
                <a:ea typeface="Aptos" pitchFamily="34" charset="-122"/>
                <a:cs typeface="Aptos" pitchFamily="34" charset="-120"/>
              </a:rPr>
              <a:t>Class Diagram</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F766E"/>
          </a:solidFill>
          <a:ln w="12700">
            <a:solidFill>
              <a:srgbClr val="0F766E"/>
            </a:solidFill>
            <a:prstDash val="solid"/>
          </a:ln>
        </p:spPr>
      </p:sp>
      <p:sp>
        <p:nvSpPr>
          <p:cNvPr id="3" name="Shape 1"/>
          <p:cNvSpPr/>
          <p:nvPr/>
        </p:nvSpPr>
        <p:spPr>
          <a:xfrm>
            <a:off x="0" y="146304"/>
            <a:ext cx="12191695" cy="45720"/>
          </a:xfrm>
          <a:prstGeom prst="rect">
            <a:avLst/>
          </a:prstGeom>
          <a:solidFill>
            <a:srgbClr val="1E3A8A">
              <a:alpha val="80000"/>
            </a:srgbClr>
          </a:solidFill>
          <a:ln w="12700">
            <a:solidFill>
              <a:srgbClr val="1E3A8A">
                <a:alpha val="0"/>
              </a:srgbClr>
            </a:solidFill>
            <a:prstDash val="solid"/>
          </a:ln>
        </p:spPr>
      </p:sp>
      <p:sp>
        <p:nvSpPr>
          <p:cNvPr id="4" name="Text 2"/>
          <p:cNvSpPr/>
          <p:nvPr/>
        </p:nvSpPr>
        <p:spPr>
          <a:xfrm>
            <a:off x="502920" y="384048"/>
            <a:ext cx="11155680" cy="502920"/>
          </a:xfrm>
          <a:prstGeom prst="rect">
            <a:avLst/>
          </a:prstGeom>
          <a:noFill/>
          <a:ln/>
        </p:spPr>
        <p:txBody>
          <a:bodyPr wrap="square" lIns="0" tIns="0" rIns="0" bIns="0" rtlCol="0" anchor="ctr">
            <a:normAutofit/>
          </a:bodyPr>
          <a:lstStyle/>
          <a:p>
            <a:pPr marL="0" indent="0">
              <a:buNone/>
            </a:pPr>
            <a:r>
              <a:rPr lang="en-US" sz="3000" b="1" dirty="0">
                <a:solidFill>
                  <a:srgbClr val="0B1F33"/>
                </a:solidFill>
                <a:latin typeface="Aptos Display" pitchFamily="34" charset="0"/>
                <a:ea typeface="Aptos Display" pitchFamily="34" charset="-122"/>
                <a:cs typeface="Aptos Display" pitchFamily="34" charset="-120"/>
              </a:rPr>
              <a:t>Design Diagrams</a:t>
            </a:r>
            <a:endParaRPr lang="en-US" sz="3000" dirty="0"/>
          </a:p>
        </p:txBody>
      </p:sp>
      <p:sp>
        <p:nvSpPr>
          <p:cNvPr id="5" name="Shape 3"/>
          <p:cNvSpPr/>
          <p:nvPr/>
        </p:nvSpPr>
        <p:spPr>
          <a:xfrm>
            <a:off x="502920" y="960120"/>
            <a:ext cx="2103120" cy="0"/>
          </a:xfrm>
          <a:prstGeom prst="line">
            <a:avLst/>
          </a:prstGeom>
          <a:noFill/>
          <a:ln w="12700">
            <a:solidFill>
              <a:srgbClr val="14B8A6"/>
            </a:solidFill>
            <a:prstDash val="solid"/>
          </a:ln>
        </p:spPr>
      </p:sp>
      <p:sp>
        <p:nvSpPr>
          <p:cNvPr id="6" name="Text 4"/>
          <p:cNvSpPr/>
          <p:nvPr/>
        </p:nvSpPr>
        <p:spPr>
          <a:xfrm>
            <a:off x="11475720" y="6446520"/>
            <a:ext cx="320040" cy="182880"/>
          </a:xfrm>
          <a:prstGeom prst="rect">
            <a:avLst/>
          </a:prstGeom>
          <a:noFill/>
          <a:ln/>
        </p:spPr>
        <p:txBody>
          <a:bodyPr wrap="square" lIns="0" tIns="0" rIns="0" bIns="0" rtlCol="0" anchor="ctr"/>
          <a:lstStyle/>
          <a:p>
            <a:pPr marL="0" indent="0" algn="r">
              <a:buNone/>
            </a:pPr>
            <a:r>
              <a:rPr lang="en-US" sz="900" dirty="0">
                <a:solidFill>
                  <a:srgbClr val="64748B"/>
                </a:solidFill>
                <a:latin typeface="Aptos" pitchFamily="34" charset="0"/>
                <a:ea typeface="Aptos" pitchFamily="34" charset="-122"/>
                <a:cs typeface="Aptos" pitchFamily="34" charset="-120"/>
              </a:rPr>
              <a:t>13</a:t>
            </a:r>
            <a:endParaRPr lang="en-US" sz="900" dirty="0"/>
          </a:p>
        </p:txBody>
      </p:sp>
      <p:sp>
        <p:nvSpPr>
          <p:cNvPr id="7" name="Shape 5"/>
          <p:cNvSpPr/>
          <p:nvPr/>
        </p:nvSpPr>
        <p:spPr>
          <a:xfrm>
            <a:off x="594360" y="1207008"/>
            <a:ext cx="5394960" cy="4315968"/>
          </a:xfrm>
          <a:prstGeom prst="roundRect">
            <a:avLst>
              <a:gd name="adj" fmla="val 1695"/>
            </a:avLst>
          </a:prstGeom>
          <a:solidFill>
            <a:srgbClr val="FFFFFF"/>
          </a:solidFill>
          <a:ln w="12700">
            <a:solidFill>
              <a:srgbClr val="E2E8F0"/>
            </a:solidFill>
            <a:prstDash val="solid"/>
          </a:ln>
          <a:effectLst>
            <a:outerShdw blurRad="12700" dist="50800" dir="2700000" algn="bl" rotWithShape="0">
              <a:srgbClr val="000000">
                <a:alpha val="10000"/>
              </a:srgbClr>
            </a:outerShdw>
          </a:effectLst>
        </p:spPr>
      </p:sp>
      <p:pic>
        <p:nvPicPr>
          <p:cNvPr id="8" name="Image 0" descr="/mnt/data/assets/sequence_p13.png"/>
          <p:cNvPicPr>
            <a:picLocks noChangeAspect="1"/>
          </p:cNvPicPr>
          <p:nvPr/>
        </p:nvPicPr>
        <p:blipFill>
          <a:blip r:embed="rId3"/>
          <a:stretch>
            <a:fillRect/>
          </a:stretch>
        </p:blipFill>
        <p:spPr>
          <a:xfrm>
            <a:off x="667512" y="1321779"/>
            <a:ext cx="5248656" cy="4004129"/>
          </a:xfrm>
          <a:prstGeom prst="rect">
            <a:avLst/>
          </a:prstGeom>
        </p:spPr>
      </p:pic>
      <p:sp>
        <p:nvSpPr>
          <p:cNvPr id="9" name="Text 6"/>
          <p:cNvSpPr/>
          <p:nvPr/>
        </p:nvSpPr>
        <p:spPr>
          <a:xfrm>
            <a:off x="594360" y="5614416"/>
            <a:ext cx="5394960" cy="256032"/>
          </a:xfrm>
          <a:prstGeom prst="rect">
            <a:avLst/>
          </a:prstGeom>
          <a:noFill/>
          <a:ln/>
        </p:spPr>
        <p:txBody>
          <a:bodyPr wrap="square" lIns="0" tIns="0" rIns="0" bIns="0" rtlCol="0" anchor="ctr"/>
          <a:lstStyle/>
          <a:p>
            <a:pPr marL="0" indent="0" algn="ctr">
              <a:buNone/>
            </a:pPr>
            <a:r>
              <a:rPr lang="en-US" sz="1300" b="1" dirty="0">
                <a:solidFill>
                  <a:srgbClr val="0B1F33"/>
                </a:solidFill>
                <a:latin typeface="Aptos" pitchFamily="34" charset="0"/>
                <a:ea typeface="Aptos" pitchFamily="34" charset="-122"/>
                <a:cs typeface="Aptos" pitchFamily="34" charset="-120"/>
              </a:rPr>
              <a:t>Sequence Diagram</a:t>
            </a:r>
            <a:endParaRPr lang="en-US" sz="1300" dirty="0"/>
          </a:p>
        </p:txBody>
      </p:sp>
      <p:sp>
        <p:nvSpPr>
          <p:cNvPr id="10" name="Shape 7"/>
          <p:cNvSpPr/>
          <p:nvPr/>
        </p:nvSpPr>
        <p:spPr>
          <a:xfrm>
            <a:off x="6217920" y="1207008"/>
            <a:ext cx="5394960" cy="4315968"/>
          </a:xfrm>
          <a:prstGeom prst="roundRect">
            <a:avLst>
              <a:gd name="adj" fmla="val 1695"/>
            </a:avLst>
          </a:prstGeom>
          <a:solidFill>
            <a:srgbClr val="FFFFFF"/>
          </a:solidFill>
          <a:ln w="12700">
            <a:solidFill>
              <a:srgbClr val="E2E8F0"/>
            </a:solidFill>
            <a:prstDash val="solid"/>
          </a:ln>
          <a:effectLst>
            <a:outerShdw blurRad="12700" dist="50800" dir="2700000" algn="bl" rotWithShape="0">
              <a:srgbClr val="000000">
                <a:alpha val="10000"/>
              </a:srgbClr>
            </a:outerShdw>
          </a:effectLst>
        </p:spPr>
      </p:sp>
      <p:pic>
        <p:nvPicPr>
          <p:cNvPr id="11" name="Image 1" descr="/mnt/data/assets/activity_p13.png"/>
          <p:cNvPicPr>
            <a:picLocks noChangeAspect="1"/>
          </p:cNvPicPr>
          <p:nvPr/>
        </p:nvPicPr>
        <p:blipFill>
          <a:blip r:embed="rId4"/>
          <a:stretch>
            <a:fillRect/>
          </a:stretch>
        </p:blipFill>
        <p:spPr>
          <a:xfrm>
            <a:off x="6291072" y="1290333"/>
            <a:ext cx="5248656" cy="4067021"/>
          </a:xfrm>
          <a:prstGeom prst="rect">
            <a:avLst/>
          </a:prstGeom>
        </p:spPr>
      </p:pic>
      <p:sp>
        <p:nvSpPr>
          <p:cNvPr id="12" name="Text 8"/>
          <p:cNvSpPr/>
          <p:nvPr/>
        </p:nvSpPr>
        <p:spPr>
          <a:xfrm>
            <a:off x="6217920" y="5614416"/>
            <a:ext cx="5394960" cy="256032"/>
          </a:xfrm>
          <a:prstGeom prst="rect">
            <a:avLst/>
          </a:prstGeom>
          <a:noFill/>
          <a:ln/>
        </p:spPr>
        <p:txBody>
          <a:bodyPr wrap="square" lIns="0" tIns="0" rIns="0" bIns="0" rtlCol="0" anchor="ctr"/>
          <a:lstStyle/>
          <a:p>
            <a:pPr marL="0" indent="0" algn="ctr">
              <a:buNone/>
            </a:pPr>
            <a:r>
              <a:rPr lang="en-US" sz="1300" b="1" dirty="0">
                <a:solidFill>
                  <a:srgbClr val="0B1F33"/>
                </a:solidFill>
                <a:latin typeface="Aptos" pitchFamily="34" charset="0"/>
                <a:ea typeface="Aptos" pitchFamily="34" charset="-122"/>
                <a:cs typeface="Aptos" pitchFamily="34" charset="-120"/>
              </a:rPr>
              <a:t>Activity Diagram</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F766E"/>
          </a:solidFill>
          <a:ln w="12700">
            <a:solidFill>
              <a:srgbClr val="0F766E"/>
            </a:solidFill>
            <a:prstDash val="solid"/>
          </a:ln>
        </p:spPr>
      </p:sp>
      <p:sp>
        <p:nvSpPr>
          <p:cNvPr id="3" name="Shape 1"/>
          <p:cNvSpPr/>
          <p:nvPr/>
        </p:nvSpPr>
        <p:spPr>
          <a:xfrm>
            <a:off x="0" y="146304"/>
            <a:ext cx="12191695" cy="45720"/>
          </a:xfrm>
          <a:prstGeom prst="rect">
            <a:avLst/>
          </a:prstGeom>
          <a:solidFill>
            <a:srgbClr val="1E3A8A">
              <a:alpha val="80000"/>
            </a:srgbClr>
          </a:solidFill>
          <a:ln w="12700">
            <a:solidFill>
              <a:srgbClr val="1E3A8A">
                <a:alpha val="0"/>
              </a:srgbClr>
            </a:solidFill>
            <a:prstDash val="solid"/>
          </a:ln>
        </p:spPr>
      </p:sp>
      <p:sp>
        <p:nvSpPr>
          <p:cNvPr id="4" name="Text 2"/>
          <p:cNvSpPr/>
          <p:nvPr/>
        </p:nvSpPr>
        <p:spPr>
          <a:xfrm>
            <a:off x="502920" y="384048"/>
            <a:ext cx="11155680" cy="502920"/>
          </a:xfrm>
          <a:prstGeom prst="rect">
            <a:avLst/>
          </a:prstGeom>
          <a:noFill/>
          <a:ln/>
        </p:spPr>
        <p:txBody>
          <a:bodyPr wrap="square" lIns="0" tIns="0" rIns="0" bIns="0" rtlCol="0" anchor="ctr">
            <a:normAutofit/>
          </a:bodyPr>
          <a:lstStyle/>
          <a:p>
            <a:pPr marL="0" indent="0">
              <a:buNone/>
            </a:pPr>
            <a:r>
              <a:rPr lang="en-US" sz="3000" b="1" dirty="0">
                <a:solidFill>
                  <a:srgbClr val="0B1F33"/>
                </a:solidFill>
                <a:latin typeface="Aptos Display" pitchFamily="34" charset="0"/>
                <a:ea typeface="Aptos Display" pitchFamily="34" charset="-122"/>
                <a:cs typeface="Aptos Display" pitchFamily="34" charset="-120"/>
              </a:rPr>
              <a:t>Tech Stack</a:t>
            </a:r>
            <a:endParaRPr lang="en-US" sz="3000" dirty="0"/>
          </a:p>
        </p:txBody>
      </p:sp>
      <p:sp>
        <p:nvSpPr>
          <p:cNvPr id="5" name="Shape 3"/>
          <p:cNvSpPr/>
          <p:nvPr/>
        </p:nvSpPr>
        <p:spPr>
          <a:xfrm>
            <a:off x="502920" y="960120"/>
            <a:ext cx="2103120" cy="0"/>
          </a:xfrm>
          <a:prstGeom prst="line">
            <a:avLst/>
          </a:prstGeom>
          <a:noFill/>
          <a:ln w="12700">
            <a:solidFill>
              <a:srgbClr val="14B8A6"/>
            </a:solidFill>
            <a:prstDash val="solid"/>
          </a:ln>
        </p:spPr>
      </p:sp>
      <p:sp>
        <p:nvSpPr>
          <p:cNvPr id="6" name="Text 4"/>
          <p:cNvSpPr/>
          <p:nvPr/>
        </p:nvSpPr>
        <p:spPr>
          <a:xfrm>
            <a:off x="11475720" y="6446520"/>
            <a:ext cx="320040" cy="182880"/>
          </a:xfrm>
          <a:prstGeom prst="rect">
            <a:avLst/>
          </a:prstGeom>
          <a:noFill/>
          <a:ln/>
        </p:spPr>
        <p:txBody>
          <a:bodyPr wrap="square" lIns="0" tIns="0" rIns="0" bIns="0" rtlCol="0" anchor="ctr"/>
          <a:lstStyle/>
          <a:p>
            <a:pPr marL="0" indent="0" algn="r">
              <a:buNone/>
            </a:pPr>
            <a:r>
              <a:rPr lang="en-US" sz="900" dirty="0">
                <a:solidFill>
                  <a:srgbClr val="64748B"/>
                </a:solidFill>
                <a:latin typeface="Aptos" pitchFamily="34" charset="0"/>
                <a:ea typeface="Aptos" pitchFamily="34" charset="-122"/>
                <a:cs typeface="Aptos" pitchFamily="34" charset="-120"/>
              </a:rPr>
              <a:t>14</a:t>
            </a:r>
            <a:endParaRPr lang="en-US" sz="900" dirty="0"/>
          </a:p>
        </p:txBody>
      </p:sp>
      <p:sp>
        <p:nvSpPr>
          <p:cNvPr id="7" name="Shape 5"/>
          <p:cNvSpPr/>
          <p:nvPr/>
        </p:nvSpPr>
        <p:spPr>
          <a:xfrm>
            <a:off x="1920240" y="1124712"/>
            <a:ext cx="8321040" cy="5166360"/>
          </a:xfrm>
          <a:prstGeom prst="roundRect">
            <a:avLst>
              <a:gd name="adj" fmla="val 1416"/>
            </a:avLst>
          </a:prstGeom>
          <a:solidFill>
            <a:srgbClr val="FFFFFF"/>
          </a:solidFill>
          <a:ln w="12700">
            <a:solidFill>
              <a:srgbClr val="E2E8F0"/>
            </a:solidFill>
            <a:prstDash val="solid"/>
          </a:ln>
          <a:effectLst>
            <a:outerShdw blurRad="12700" dist="50800" dir="2700000" algn="bl" rotWithShape="0">
              <a:srgbClr val="000000">
                <a:alpha val="10000"/>
              </a:srgbClr>
            </a:outerShdw>
          </a:effectLst>
        </p:spPr>
      </p:sp>
      <p:pic>
        <p:nvPicPr>
          <p:cNvPr id="8" name="Image 0" descr="/mnt/data/assets/tech_stack_p14.png"/>
          <p:cNvPicPr>
            <a:picLocks noChangeAspect="1"/>
          </p:cNvPicPr>
          <p:nvPr/>
        </p:nvPicPr>
        <p:blipFill>
          <a:blip r:embed="rId3"/>
          <a:stretch>
            <a:fillRect/>
          </a:stretch>
        </p:blipFill>
        <p:spPr>
          <a:xfrm>
            <a:off x="2966857" y="1197864"/>
            <a:ext cx="6227805" cy="493776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F766E"/>
          </a:solidFill>
          <a:ln w="12700">
            <a:solidFill>
              <a:srgbClr val="0F766E"/>
            </a:solidFill>
            <a:prstDash val="solid"/>
          </a:ln>
        </p:spPr>
      </p:sp>
      <p:sp>
        <p:nvSpPr>
          <p:cNvPr id="3" name="Shape 1"/>
          <p:cNvSpPr/>
          <p:nvPr/>
        </p:nvSpPr>
        <p:spPr>
          <a:xfrm>
            <a:off x="0" y="146304"/>
            <a:ext cx="12191695" cy="45720"/>
          </a:xfrm>
          <a:prstGeom prst="rect">
            <a:avLst/>
          </a:prstGeom>
          <a:solidFill>
            <a:srgbClr val="1E3A8A">
              <a:alpha val="80000"/>
            </a:srgbClr>
          </a:solidFill>
          <a:ln w="12700">
            <a:solidFill>
              <a:srgbClr val="1E3A8A">
                <a:alpha val="0"/>
              </a:srgbClr>
            </a:solidFill>
            <a:prstDash val="solid"/>
          </a:ln>
        </p:spPr>
      </p:sp>
      <p:sp>
        <p:nvSpPr>
          <p:cNvPr id="4" name="Text 2"/>
          <p:cNvSpPr/>
          <p:nvPr/>
        </p:nvSpPr>
        <p:spPr>
          <a:xfrm>
            <a:off x="502920" y="384048"/>
            <a:ext cx="11155680" cy="502920"/>
          </a:xfrm>
          <a:prstGeom prst="rect">
            <a:avLst/>
          </a:prstGeom>
          <a:noFill/>
          <a:ln/>
        </p:spPr>
        <p:txBody>
          <a:bodyPr wrap="square" lIns="0" tIns="0" rIns="0" bIns="0" rtlCol="0" anchor="ctr">
            <a:normAutofit/>
          </a:bodyPr>
          <a:lstStyle/>
          <a:p>
            <a:pPr marL="0" indent="0">
              <a:buNone/>
            </a:pPr>
            <a:r>
              <a:rPr lang="en-US" sz="2600" b="1" dirty="0">
                <a:solidFill>
                  <a:srgbClr val="0B1F33"/>
                </a:solidFill>
                <a:latin typeface="Aptos Display" pitchFamily="34" charset="0"/>
                <a:ea typeface="Aptos Display" pitchFamily="34" charset="-122"/>
                <a:cs typeface="Aptos Display" pitchFamily="34" charset="-120"/>
              </a:rPr>
              <a:t>Implementation and Result Discussion</a:t>
            </a:r>
            <a:endParaRPr lang="en-US" sz="2600" dirty="0"/>
          </a:p>
        </p:txBody>
      </p:sp>
      <p:sp>
        <p:nvSpPr>
          <p:cNvPr id="5" name="Shape 3"/>
          <p:cNvSpPr/>
          <p:nvPr/>
        </p:nvSpPr>
        <p:spPr>
          <a:xfrm>
            <a:off x="502920" y="960120"/>
            <a:ext cx="2103120" cy="0"/>
          </a:xfrm>
          <a:prstGeom prst="line">
            <a:avLst/>
          </a:prstGeom>
          <a:noFill/>
          <a:ln w="12700">
            <a:solidFill>
              <a:srgbClr val="14B8A6"/>
            </a:solidFill>
            <a:prstDash val="solid"/>
          </a:ln>
        </p:spPr>
      </p:sp>
      <p:sp>
        <p:nvSpPr>
          <p:cNvPr id="6" name="Text 4"/>
          <p:cNvSpPr/>
          <p:nvPr/>
        </p:nvSpPr>
        <p:spPr>
          <a:xfrm>
            <a:off x="11475720" y="6446520"/>
            <a:ext cx="320040" cy="182880"/>
          </a:xfrm>
          <a:prstGeom prst="rect">
            <a:avLst/>
          </a:prstGeom>
          <a:noFill/>
          <a:ln/>
        </p:spPr>
        <p:txBody>
          <a:bodyPr wrap="square" lIns="0" tIns="0" rIns="0" bIns="0" rtlCol="0" anchor="ctr"/>
          <a:lstStyle/>
          <a:p>
            <a:pPr marL="0" indent="0" algn="r">
              <a:buNone/>
            </a:pPr>
            <a:r>
              <a:rPr lang="en-US" sz="900" dirty="0">
                <a:solidFill>
                  <a:srgbClr val="64748B"/>
                </a:solidFill>
                <a:latin typeface="Aptos" pitchFamily="34" charset="0"/>
                <a:ea typeface="Aptos" pitchFamily="34" charset="-122"/>
                <a:cs typeface="Aptos" pitchFamily="34" charset="-120"/>
              </a:rPr>
              <a:t>15</a:t>
            </a:r>
            <a:endParaRPr lang="en-US" sz="9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1325880" y="1298448"/>
          <a:ext cx="9555480" cy="3803904"/>
        </p:xfrm>
        <a:graphic>
          <a:graphicData uri="http://schemas.openxmlformats.org/drawingml/2006/table">
            <a:tbl>
              <a:tblPr/>
              <a:tblGrid>
                <a:gridCol w="109728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224028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tblGrid>
              <a:tr h="475488">
                <a:tc>
                  <a:txBody>
                    <a:bodyPr/>
                    <a:lstStyle/>
                    <a:p>
                      <a:pPr marL="0" indent="0" algn="ctr">
                        <a:buNone/>
                      </a:pPr>
                      <a:r>
                        <a:rPr lang="en-US" sz="1350" b="1" dirty="0">
                          <a:solidFill>
                            <a:srgbClr val="FFFFFF"/>
                          </a:solidFill>
                          <a:latin typeface="Aptos" pitchFamily="34" charset="0"/>
                          <a:ea typeface="Aptos" pitchFamily="34" charset="-122"/>
                          <a:cs typeface="Aptos" pitchFamily="34" charset="-120"/>
                        </a:rPr>
                        <a:t>SNo.</a:t>
                      </a:r>
                      <a:endParaRPr lang="en-US" sz="1350" dirty="0">
                        <a:latin typeface="Aptos" charset="0"/>
                        <a:ea typeface="Aptos" charset="0"/>
                        <a:cs typeface="Aptos" charset="0"/>
                      </a:endParaRPr>
                    </a:p>
                  </a:txBody>
                  <a:tcPr marL="45720" marR="45720">
                    <a:lnL w="10160" cap="flat" cmpd="sng" algn="ctr">
                      <a:solidFill>
                        <a:srgbClr val="334155"/>
                      </a:solidFill>
                      <a:prstDash val="solid"/>
                      <a:round/>
                      <a:headEnd type="none" w="med" len="med"/>
                      <a:tailEnd type="none" w="med" len="med"/>
                    </a:lnL>
                    <a:lnR w="10160" cap="flat" cmpd="sng" algn="ctr">
                      <a:solidFill>
                        <a:srgbClr val="334155"/>
                      </a:solidFill>
                      <a:prstDash val="solid"/>
                      <a:round/>
                      <a:headEnd type="none" w="med" len="med"/>
                      <a:tailEnd type="none" w="med" len="med"/>
                    </a:lnR>
                    <a:lnT w="10160" cap="flat" cmpd="sng" algn="ctr">
                      <a:solidFill>
                        <a:srgbClr val="334155"/>
                      </a:solidFill>
                      <a:prstDash val="solid"/>
                      <a:round/>
                      <a:headEnd type="none" w="med" len="med"/>
                      <a:tailEnd type="none" w="med" len="med"/>
                    </a:lnT>
                    <a:lnB w="10160" cap="flat" cmpd="sng" algn="ctr">
                      <a:solidFill>
                        <a:srgbClr val="334155"/>
                      </a:solidFill>
                      <a:prstDash val="solid"/>
                      <a:round/>
                      <a:headEnd type="none" w="med" len="med"/>
                      <a:tailEnd type="none" w="med" len="med"/>
                    </a:lnB>
                    <a:solidFill>
                      <a:srgbClr val="1E3A8A"/>
                    </a:solidFill>
                  </a:tcPr>
                </a:tc>
                <a:tc>
                  <a:txBody>
                    <a:bodyPr/>
                    <a:lstStyle/>
                    <a:p>
                      <a:pPr marL="0" indent="0" algn="ctr">
                        <a:buNone/>
                      </a:pPr>
                      <a:r>
                        <a:rPr lang="en-US" sz="1350" b="1" dirty="0">
                          <a:solidFill>
                            <a:srgbClr val="FFFFFF"/>
                          </a:solidFill>
                          <a:latin typeface="Aptos" pitchFamily="34" charset="0"/>
                          <a:ea typeface="Aptos" pitchFamily="34" charset="-122"/>
                          <a:cs typeface="Aptos" pitchFamily="34" charset="-120"/>
                        </a:rPr>
                        <a:t>Algorithm</a:t>
                      </a:r>
                      <a:endParaRPr lang="en-US" sz="1350" dirty="0">
                        <a:latin typeface="Aptos" charset="0"/>
                        <a:ea typeface="Aptos" charset="0"/>
                        <a:cs typeface="Aptos" charset="0"/>
                      </a:endParaRPr>
                    </a:p>
                  </a:txBody>
                  <a:tcPr marL="45720" marR="45720">
                    <a:lnL w="10160" cap="flat" cmpd="sng" algn="ctr">
                      <a:solidFill>
                        <a:srgbClr val="334155"/>
                      </a:solidFill>
                      <a:prstDash val="solid"/>
                      <a:round/>
                      <a:headEnd type="none" w="med" len="med"/>
                      <a:tailEnd type="none" w="med" len="med"/>
                    </a:lnL>
                    <a:lnR w="10160" cap="flat" cmpd="sng" algn="ctr">
                      <a:solidFill>
                        <a:srgbClr val="334155"/>
                      </a:solidFill>
                      <a:prstDash val="solid"/>
                      <a:round/>
                      <a:headEnd type="none" w="med" len="med"/>
                      <a:tailEnd type="none" w="med" len="med"/>
                    </a:lnR>
                    <a:lnT w="10160" cap="flat" cmpd="sng" algn="ctr">
                      <a:solidFill>
                        <a:srgbClr val="334155"/>
                      </a:solidFill>
                      <a:prstDash val="solid"/>
                      <a:round/>
                      <a:headEnd type="none" w="med" len="med"/>
                      <a:tailEnd type="none" w="med" len="med"/>
                    </a:lnT>
                    <a:lnB w="10160" cap="flat" cmpd="sng" algn="ctr">
                      <a:solidFill>
                        <a:srgbClr val="334155"/>
                      </a:solidFill>
                      <a:prstDash val="solid"/>
                      <a:round/>
                      <a:headEnd type="none" w="med" len="med"/>
                      <a:tailEnd type="none" w="med" len="med"/>
                    </a:lnB>
                    <a:solidFill>
                      <a:srgbClr val="1E3A8A"/>
                    </a:solidFill>
                  </a:tcPr>
                </a:tc>
                <a:tc>
                  <a:txBody>
                    <a:bodyPr/>
                    <a:lstStyle/>
                    <a:p>
                      <a:pPr marL="0" indent="0" algn="ctr">
                        <a:buNone/>
                      </a:pPr>
                      <a:r>
                        <a:rPr lang="en-US" sz="1350" b="1" dirty="0">
                          <a:solidFill>
                            <a:srgbClr val="FFFFFF"/>
                          </a:solidFill>
                          <a:latin typeface="Aptos" pitchFamily="34" charset="0"/>
                          <a:ea typeface="Aptos" pitchFamily="34" charset="-122"/>
                          <a:cs typeface="Aptos" pitchFamily="34" charset="-120"/>
                        </a:rPr>
                        <a:t>Training Accuracy</a:t>
                      </a:r>
                      <a:endParaRPr lang="en-US" sz="1350" dirty="0">
                        <a:latin typeface="Aptos" charset="0"/>
                        <a:ea typeface="Aptos" charset="0"/>
                        <a:cs typeface="Aptos" charset="0"/>
                      </a:endParaRPr>
                    </a:p>
                  </a:txBody>
                  <a:tcPr marL="45720" marR="45720">
                    <a:lnL w="10160" cap="flat" cmpd="sng" algn="ctr">
                      <a:solidFill>
                        <a:srgbClr val="334155"/>
                      </a:solidFill>
                      <a:prstDash val="solid"/>
                      <a:round/>
                      <a:headEnd type="none" w="med" len="med"/>
                      <a:tailEnd type="none" w="med" len="med"/>
                    </a:lnL>
                    <a:lnR w="10160" cap="flat" cmpd="sng" algn="ctr">
                      <a:solidFill>
                        <a:srgbClr val="334155"/>
                      </a:solidFill>
                      <a:prstDash val="solid"/>
                      <a:round/>
                      <a:headEnd type="none" w="med" len="med"/>
                      <a:tailEnd type="none" w="med" len="med"/>
                    </a:lnR>
                    <a:lnT w="10160" cap="flat" cmpd="sng" algn="ctr">
                      <a:solidFill>
                        <a:srgbClr val="334155"/>
                      </a:solidFill>
                      <a:prstDash val="solid"/>
                      <a:round/>
                      <a:headEnd type="none" w="med" len="med"/>
                      <a:tailEnd type="none" w="med" len="med"/>
                    </a:lnT>
                    <a:lnB w="10160" cap="flat" cmpd="sng" algn="ctr">
                      <a:solidFill>
                        <a:srgbClr val="334155"/>
                      </a:solidFill>
                      <a:prstDash val="solid"/>
                      <a:round/>
                      <a:headEnd type="none" w="med" len="med"/>
                      <a:tailEnd type="none" w="med" len="med"/>
                    </a:lnB>
                    <a:solidFill>
                      <a:srgbClr val="1E3A8A"/>
                    </a:solidFill>
                  </a:tcPr>
                </a:tc>
                <a:tc>
                  <a:txBody>
                    <a:bodyPr/>
                    <a:lstStyle/>
                    <a:p>
                      <a:pPr marL="0" indent="0" algn="ctr">
                        <a:buNone/>
                      </a:pPr>
                      <a:r>
                        <a:rPr lang="en-US" sz="1350" b="1" dirty="0">
                          <a:solidFill>
                            <a:srgbClr val="FFFFFF"/>
                          </a:solidFill>
                          <a:latin typeface="Aptos" pitchFamily="34" charset="0"/>
                          <a:ea typeface="Aptos" pitchFamily="34" charset="-122"/>
                          <a:cs typeface="Aptos" pitchFamily="34" charset="-120"/>
                        </a:rPr>
                        <a:t>Testing Accuracy</a:t>
                      </a:r>
                      <a:endParaRPr lang="en-US" sz="1350" dirty="0">
                        <a:latin typeface="Aptos" charset="0"/>
                        <a:ea typeface="Aptos" charset="0"/>
                        <a:cs typeface="Aptos" charset="0"/>
                      </a:endParaRPr>
                    </a:p>
                  </a:txBody>
                  <a:tcPr marL="45720" marR="45720">
                    <a:lnL w="10160" cap="flat" cmpd="sng" algn="ctr">
                      <a:solidFill>
                        <a:srgbClr val="334155"/>
                      </a:solidFill>
                      <a:prstDash val="solid"/>
                      <a:round/>
                      <a:headEnd type="none" w="med" len="med"/>
                      <a:tailEnd type="none" w="med" len="med"/>
                    </a:lnL>
                    <a:lnR w="10160" cap="flat" cmpd="sng" algn="ctr">
                      <a:solidFill>
                        <a:srgbClr val="334155"/>
                      </a:solidFill>
                      <a:prstDash val="solid"/>
                      <a:round/>
                      <a:headEnd type="none" w="med" len="med"/>
                      <a:tailEnd type="none" w="med" len="med"/>
                    </a:lnR>
                    <a:lnT w="10160" cap="flat" cmpd="sng" algn="ctr">
                      <a:solidFill>
                        <a:srgbClr val="334155"/>
                      </a:solidFill>
                      <a:prstDash val="solid"/>
                      <a:round/>
                      <a:headEnd type="none" w="med" len="med"/>
                      <a:tailEnd type="none" w="med" len="med"/>
                    </a:lnT>
                    <a:lnB w="10160" cap="flat" cmpd="sng" algn="ctr">
                      <a:solidFill>
                        <a:srgbClr val="334155"/>
                      </a:solidFill>
                      <a:prstDash val="solid"/>
                      <a:round/>
                      <a:headEnd type="none" w="med" len="med"/>
                      <a:tailEnd type="none" w="med" len="med"/>
                    </a:lnB>
                    <a:solidFill>
                      <a:srgbClr val="1E3A8A"/>
                    </a:solidFill>
                  </a:tcPr>
                </a:tc>
                <a:extLst>
                  <a:ext uri="{0D108BD9-81ED-4DB2-BD59-A6C34878D82A}">
                    <a16:rowId xmlns:a16="http://schemas.microsoft.com/office/drawing/2014/main" val="10000"/>
                  </a:ext>
                </a:extLst>
              </a:tr>
              <a:tr h="475488">
                <a:tc>
                  <a:txBody>
                    <a:bodyPr/>
                    <a:lstStyle/>
                    <a:p>
                      <a:pPr marL="0" indent="0" algn="ctr">
                        <a:buNone/>
                      </a:pPr>
                      <a:r>
                        <a:rPr lang="en-US" sz="1350" dirty="0">
                          <a:solidFill>
                            <a:srgbClr val="0B1F33"/>
                          </a:solidFill>
                          <a:latin typeface="Aptos" pitchFamily="34" charset="0"/>
                          <a:ea typeface="Aptos" pitchFamily="34" charset="-122"/>
                          <a:cs typeface="Aptos" pitchFamily="34" charset="-120"/>
                        </a:rPr>
                        <a:t>1.</a:t>
                      </a:r>
                      <a:endParaRPr lang="en-US" sz="1350" dirty="0">
                        <a:latin typeface="Aptos" charset="0"/>
                        <a:ea typeface="Aptos" charset="0"/>
                        <a:cs typeface="Aptos" charset="0"/>
                      </a:endParaRPr>
                    </a:p>
                  </a:txBody>
                  <a:tcPr marL="45720" marR="45720">
                    <a:lnL w="10160" cap="flat" cmpd="sng" algn="ctr">
                      <a:solidFill>
                        <a:srgbClr val="334155"/>
                      </a:solidFill>
                      <a:prstDash val="solid"/>
                      <a:round/>
                      <a:headEnd type="none" w="med" len="med"/>
                      <a:tailEnd type="none" w="med" len="med"/>
                    </a:lnL>
                    <a:lnR w="10160" cap="flat" cmpd="sng" algn="ctr">
                      <a:solidFill>
                        <a:srgbClr val="334155"/>
                      </a:solidFill>
                      <a:prstDash val="solid"/>
                      <a:round/>
                      <a:headEnd type="none" w="med" len="med"/>
                      <a:tailEnd type="none" w="med" len="med"/>
                    </a:lnR>
                    <a:lnT w="10160" cap="flat" cmpd="sng" algn="ctr">
                      <a:solidFill>
                        <a:srgbClr val="334155"/>
                      </a:solidFill>
                      <a:prstDash val="solid"/>
                      <a:round/>
                      <a:headEnd type="none" w="med" len="med"/>
                      <a:tailEnd type="none" w="med" len="med"/>
                    </a:lnT>
                    <a:lnB w="10160" cap="flat" cmpd="sng" algn="ctr">
                      <a:solidFill>
                        <a:srgbClr val="334155"/>
                      </a:solidFill>
                      <a:prstDash val="solid"/>
                      <a:round/>
                      <a:headEnd type="none" w="med" len="med"/>
                      <a:tailEnd type="none" w="med" len="med"/>
                    </a:lnB>
                  </a:tcPr>
                </a:tc>
                <a:tc>
                  <a:txBody>
                    <a:bodyPr/>
                    <a:lstStyle/>
                    <a:p>
                      <a:pPr marL="0" indent="0" algn="ctr">
                        <a:buNone/>
                      </a:pPr>
                      <a:r>
                        <a:rPr lang="en-US" sz="1350" dirty="0">
                          <a:solidFill>
                            <a:srgbClr val="0B1F33"/>
                          </a:solidFill>
                          <a:latin typeface="Aptos" pitchFamily="34" charset="0"/>
                          <a:ea typeface="Aptos" pitchFamily="34" charset="-122"/>
                          <a:cs typeface="Aptos" pitchFamily="34" charset="-120"/>
                        </a:rPr>
                        <a:t>Decision Tree Classifier</a:t>
                      </a:r>
                      <a:endParaRPr lang="en-US" sz="1350" dirty="0">
                        <a:latin typeface="Aptos" charset="0"/>
                        <a:ea typeface="Aptos" charset="0"/>
                        <a:cs typeface="Aptos" charset="0"/>
                      </a:endParaRPr>
                    </a:p>
                  </a:txBody>
                  <a:tcPr marL="45720" marR="45720">
                    <a:lnL w="10160" cap="flat" cmpd="sng" algn="ctr">
                      <a:solidFill>
                        <a:srgbClr val="334155"/>
                      </a:solidFill>
                      <a:prstDash val="solid"/>
                      <a:round/>
                      <a:headEnd type="none" w="med" len="med"/>
                      <a:tailEnd type="none" w="med" len="med"/>
                    </a:lnL>
                    <a:lnR w="10160" cap="flat" cmpd="sng" algn="ctr">
                      <a:solidFill>
                        <a:srgbClr val="334155"/>
                      </a:solidFill>
                      <a:prstDash val="solid"/>
                      <a:round/>
                      <a:headEnd type="none" w="med" len="med"/>
                      <a:tailEnd type="none" w="med" len="med"/>
                    </a:lnR>
                    <a:lnT w="10160" cap="flat" cmpd="sng" algn="ctr">
                      <a:solidFill>
                        <a:srgbClr val="334155"/>
                      </a:solidFill>
                      <a:prstDash val="solid"/>
                      <a:round/>
                      <a:headEnd type="none" w="med" len="med"/>
                      <a:tailEnd type="none" w="med" len="med"/>
                    </a:lnT>
                    <a:lnB w="10160" cap="flat" cmpd="sng" algn="ctr">
                      <a:solidFill>
                        <a:srgbClr val="334155"/>
                      </a:solidFill>
                      <a:prstDash val="solid"/>
                      <a:round/>
                      <a:headEnd type="none" w="med" len="med"/>
                      <a:tailEnd type="none" w="med" len="med"/>
                    </a:lnB>
                  </a:tcPr>
                </a:tc>
                <a:tc>
                  <a:txBody>
                    <a:bodyPr/>
                    <a:lstStyle/>
                    <a:p>
                      <a:pPr marL="0" indent="0" algn="ctr">
                        <a:buNone/>
                      </a:pPr>
                      <a:r>
                        <a:rPr lang="en-US" sz="1350" dirty="0">
                          <a:solidFill>
                            <a:srgbClr val="0B1F33"/>
                          </a:solidFill>
                          <a:latin typeface="Aptos" pitchFamily="34" charset="0"/>
                          <a:ea typeface="Aptos" pitchFamily="34" charset="-122"/>
                          <a:cs typeface="Aptos" pitchFamily="34" charset="-120"/>
                        </a:rPr>
                        <a:t>94.36%</a:t>
                      </a:r>
                      <a:endParaRPr lang="en-US" sz="1350" dirty="0">
                        <a:latin typeface="Aptos" charset="0"/>
                        <a:ea typeface="Aptos" charset="0"/>
                        <a:cs typeface="Aptos" charset="0"/>
                      </a:endParaRPr>
                    </a:p>
                  </a:txBody>
                  <a:tcPr marL="45720" marR="45720">
                    <a:lnL w="10160" cap="flat" cmpd="sng" algn="ctr">
                      <a:solidFill>
                        <a:srgbClr val="334155"/>
                      </a:solidFill>
                      <a:prstDash val="solid"/>
                      <a:round/>
                      <a:headEnd type="none" w="med" len="med"/>
                      <a:tailEnd type="none" w="med" len="med"/>
                    </a:lnL>
                    <a:lnR w="10160" cap="flat" cmpd="sng" algn="ctr">
                      <a:solidFill>
                        <a:srgbClr val="334155"/>
                      </a:solidFill>
                      <a:prstDash val="solid"/>
                      <a:round/>
                      <a:headEnd type="none" w="med" len="med"/>
                      <a:tailEnd type="none" w="med" len="med"/>
                    </a:lnR>
                    <a:lnT w="10160" cap="flat" cmpd="sng" algn="ctr">
                      <a:solidFill>
                        <a:srgbClr val="334155"/>
                      </a:solidFill>
                      <a:prstDash val="solid"/>
                      <a:round/>
                      <a:headEnd type="none" w="med" len="med"/>
                      <a:tailEnd type="none" w="med" len="med"/>
                    </a:lnT>
                    <a:lnB w="10160" cap="flat" cmpd="sng" algn="ctr">
                      <a:solidFill>
                        <a:srgbClr val="334155"/>
                      </a:solidFill>
                      <a:prstDash val="solid"/>
                      <a:round/>
                      <a:headEnd type="none" w="med" len="med"/>
                      <a:tailEnd type="none" w="med" len="med"/>
                    </a:lnB>
                  </a:tcPr>
                </a:tc>
                <a:tc>
                  <a:txBody>
                    <a:bodyPr/>
                    <a:lstStyle/>
                    <a:p>
                      <a:pPr marL="0" indent="0" algn="ctr">
                        <a:buNone/>
                      </a:pPr>
                      <a:r>
                        <a:rPr lang="en-US" sz="1350" dirty="0">
                          <a:solidFill>
                            <a:srgbClr val="0B1F33"/>
                          </a:solidFill>
                          <a:latin typeface="Aptos" pitchFamily="34" charset="0"/>
                          <a:ea typeface="Aptos" pitchFamily="34" charset="-122"/>
                          <a:cs typeface="Aptos" pitchFamily="34" charset="-120"/>
                        </a:rPr>
                        <a:t>93.14%</a:t>
                      </a:r>
                      <a:endParaRPr lang="en-US" sz="1350" dirty="0">
                        <a:latin typeface="Aptos" charset="0"/>
                        <a:ea typeface="Aptos" charset="0"/>
                        <a:cs typeface="Aptos" charset="0"/>
                      </a:endParaRPr>
                    </a:p>
                  </a:txBody>
                  <a:tcPr marL="45720" marR="45720">
                    <a:lnL w="10160" cap="flat" cmpd="sng" algn="ctr">
                      <a:solidFill>
                        <a:srgbClr val="334155"/>
                      </a:solidFill>
                      <a:prstDash val="solid"/>
                      <a:round/>
                      <a:headEnd type="none" w="med" len="med"/>
                      <a:tailEnd type="none" w="med" len="med"/>
                    </a:lnL>
                    <a:lnR w="10160" cap="flat" cmpd="sng" algn="ctr">
                      <a:solidFill>
                        <a:srgbClr val="334155"/>
                      </a:solidFill>
                      <a:prstDash val="solid"/>
                      <a:round/>
                      <a:headEnd type="none" w="med" len="med"/>
                      <a:tailEnd type="none" w="med" len="med"/>
                    </a:lnR>
                    <a:lnT w="10160" cap="flat" cmpd="sng" algn="ctr">
                      <a:solidFill>
                        <a:srgbClr val="334155"/>
                      </a:solidFill>
                      <a:prstDash val="solid"/>
                      <a:round/>
                      <a:headEnd type="none" w="med" len="med"/>
                      <a:tailEnd type="none" w="med" len="med"/>
                    </a:lnT>
                    <a:lnB w="10160" cap="flat" cmpd="sng" algn="ctr">
                      <a:solidFill>
                        <a:srgbClr val="334155"/>
                      </a:solidFill>
                      <a:prstDash val="solid"/>
                      <a:round/>
                      <a:headEnd type="none" w="med" len="med"/>
                      <a:tailEnd type="none" w="med" len="med"/>
                    </a:lnB>
                  </a:tcPr>
                </a:tc>
                <a:extLst>
                  <a:ext uri="{0D108BD9-81ED-4DB2-BD59-A6C34878D82A}">
                    <a16:rowId xmlns:a16="http://schemas.microsoft.com/office/drawing/2014/main" val="10001"/>
                  </a:ext>
                </a:extLst>
              </a:tr>
              <a:tr h="475488">
                <a:tc>
                  <a:txBody>
                    <a:bodyPr/>
                    <a:lstStyle/>
                    <a:p>
                      <a:pPr marL="0" indent="0" algn="ctr">
                        <a:buNone/>
                      </a:pPr>
                      <a:r>
                        <a:rPr lang="en-US" sz="1350" dirty="0">
                          <a:solidFill>
                            <a:srgbClr val="0B1F33"/>
                          </a:solidFill>
                          <a:latin typeface="Aptos" pitchFamily="34" charset="0"/>
                          <a:ea typeface="Aptos" pitchFamily="34" charset="-122"/>
                          <a:cs typeface="Aptos" pitchFamily="34" charset="-120"/>
                        </a:rPr>
                        <a:t>2.</a:t>
                      </a:r>
                      <a:endParaRPr lang="en-US" sz="1350" dirty="0">
                        <a:latin typeface="Aptos" charset="0"/>
                        <a:ea typeface="Aptos" charset="0"/>
                        <a:cs typeface="Aptos" charset="0"/>
                      </a:endParaRPr>
                    </a:p>
                  </a:txBody>
                  <a:tcPr marL="45720" marR="45720">
                    <a:lnL w="10160" cap="flat" cmpd="sng" algn="ctr">
                      <a:solidFill>
                        <a:srgbClr val="334155"/>
                      </a:solidFill>
                      <a:prstDash val="solid"/>
                      <a:round/>
                      <a:headEnd type="none" w="med" len="med"/>
                      <a:tailEnd type="none" w="med" len="med"/>
                    </a:lnL>
                    <a:lnR w="10160" cap="flat" cmpd="sng" algn="ctr">
                      <a:solidFill>
                        <a:srgbClr val="334155"/>
                      </a:solidFill>
                      <a:prstDash val="solid"/>
                      <a:round/>
                      <a:headEnd type="none" w="med" len="med"/>
                      <a:tailEnd type="none" w="med" len="med"/>
                    </a:lnR>
                    <a:lnT w="10160" cap="flat" cmpd="sng" algn="ctr">
                      <a:solidFill>
                        <a:srgbClr val="334155"/>
                      </a:solidFill>
                      <a:prstDash val="solid"/>
                      <a:round/>
                      <a:headEnd type="none" w="med" len="med"/>
                      <a:tailEnd type="none" w="med" len="med"/>
                    </a:lnT>
                    <a:lnB w="10160" cap="flat" cmpd="sng" algn="ctr">
                      <a:solidFill>
                        <a:srgbClr val="334155"/>
                      </a:solidFill>
                      <a:prstDash val="solid"/>
                      <a:round/>
                      <a:headEnd type="none" w="med" len="med"/>
                      <a:tailEnd type="none" w="med" len="med"/>
                    </a:lnB>
                  </a:tcPr>
                </a:tc>
                <a:tc>
                  <a:txBody>
                    <a:bodyPr/>
                    <a:lstStyle/>
                    <a:p>
                      <a:pPr marL="0" indent="0" algn="ctr">
                        <a:buNone/>
                      </a:pPr>
                      <a:r>
                        <a:rPr lang="en-US" sz="1350" dirty="0">
                          <a:solidFill>
                            <a:srgbClr val="0B1F33"/>
                          </a:solidFill>
                          <a:latin typeface="Aptos" pitchFamily="34" charset="0"/>
                          <a:ea typeface="Aptos" pitchFamily="34" charset="-122"/>
                          <a:cs typeface="Aptos" pitchFamily="34" charset="-120"/>
                        </a:rPr>
                        <a:t>Support Vector Machines</a:t>
                      </a:r>
                      <a:endParaRPr lang="en-US" sz="1350" dirty="0">
                        <a:latin typeface="Aptos" charset="0"/>
                        <a:ea typeface="Aptos" charset="0"/>
                        <a:cs typeface="Aptos" charset="0"/>
                      </a:endParaRPr>
                    </a:p>
                  </a:txBody>
                  <a:tcPr marL="45720" marR="45720">
                    <a:lnL w="10160" cap="flat" cmpd="sng" algn="ctr">
                      <a:solidFill>
                        <a:srgbClr val="334155"/>
                      </a:solidFill>
                      <a:prstDash val="solid"/>
                      <a:round/>
                      <a:headEnd type="none" w="med" len="med"/>
                      <a:tailEnd type="none" w="med" len="med"/>
                    </a:lnL>
                    <a:lnR w="10160" cap="flat" cmpd="sng" algn="ctr">
                      <a:solidFill>
                        <a:srgbClr val="334155"/>
                      </a:solidFill>
                      <a:prstDash val="solid"/>
                      <a:round/>
                      <a:headEnd type="none" w="med" len="med"/>
                      <a:tailEnd type="none" w="med" len="med"/>
                    </a:lnR>
                    <a:lnT w="10160" cap="flat" cmpd="sng" algn="ctr">
                      <a:solidFill>
                        <a:srgbClr val="334155"/>
                      </a:solidFill>
                      <a:prstDash val="solid"/>
                      <a:round/>
                      <a:headEnd type="none" w="med" len="med"/>
                      <a:tailEnd type="none" w="med" len="med"/>
                    </a:lnT>
                    <a:lnB w="10160" cap="flat" cmpd="sng" algn="ctr">
                      <a:solidFill>
                        <a:srgbClr val="334155"/>
                      </a:solidFill>
                      <a:prstDash val="solid"/>
                      <a:round/>
                      <a:headEnd type="none" w="med" len="med"/>
                      <a:tailEnd type="none" w="med" len="med"/>
                    </a:lnB>
                  </a:tcPr>
                </a:tc>
                <a:tc>
                  <a:txBody>
                    <a:bodyPr/>
                    <a:lstStyle/>
                    <a:p>
                      <a:pPr marL="0" indent="0" algn="ctr">
                        <a:buNone/>
                      </a:pPr>
                      <a:r>
                        <a:rPr lang="en-US" sz="1350" dirty="0">
                          <a:solidFill>
                            <a:srgbClr val="0B1F33"/>
                          </a:solidFill>
                          <a:latin typeface="Aptos" pitchFamily="34" charset="0"/>
                          <a:ea typeface="Aptos" pitchFamily="34" charset="-122"/>
                          <a:cs typeface="Aptos" pitchFamily="34" charset="-120"/>
                        </a:rPr>
                        <a:t>98.98%</a:t>
                      </a:r>
                      <a:endParaRPr lang="en-US" sz="1350" dirty="0">
                        <a:latin typeface="Aptos" charset="0"/>
                        <a:ea typeface="Aptos" charset="0"/>
                        <a:cs typeface="Aptos" charset="0"/>
                      </a:endParaRPr>
                    </a:p>
                  </a:txBody>
                  <a:tcPr marL="45720" marR="45720">
                    <a:lnL w="10160" cap="flat" cmpd="sng" algn="ctr">
                      <a:solidFill>
                        <a:srgbClr val="334155"/>
                      </a:solidFill>
                      <a:prstDash val="solid"/>
                      <a:round/>
                      <a:headEnd type="none" w="med" len="med"/>
                      <a:tailEnd type="none" w="med" len="med"/>
                    </a:lnL>
                    <a:lnR w="10160" cap="flat" cmpd="sng" algn="ctr">
                      <a:solidFill>
                        <a:srgbClr val="334155"/>
                      </a:solidFill>
                      <a:prstDash val="solid"/>
                      <a:round/>
                      <a:headEnd type="none" w="med" len="med"/>
                      <a:tailEnd type="none" w="med" len="med"/>
                    </a:lnR>
                    <a:lnT w="10160" cap="flat" cmpd="sng" algn="ctr">
                      <a:solidFill>
                        <a:srgbClr val="334155"/>
                      </a:solidFill>
                      <a:prstDash val="solid"/>
                      <a:round/>
                      <a:headEnd type="none" w="med" len="med"/>
                      <a:tailEnd type="none" w="med" len="med"/>
                    </a:lnT>
                    <a:lnB w="10160" cap="flat" cmpd="sng" algn="ctr">
                      <a:solidFill>
                        <a:srgbClr val="334155"/>
                      </a:solidFill>
                      <a:prstDash val="solid"/>
                      <a:round/>
                      <a:headEnd type="none" w="med" len="med"/>
                      <a:tailEnd type="none" w="med" len="med"/>
                    </a:lnB>
                  </a:tcPr>
                </a:tc>
                <a:tc>
                  <a:txBody>
                    <a:bodyPr/>
                    <a:lstStyle/>
                    <a:p>
                      <a:pPr marL="0" indent="0" algn="ctr">
                        <a:buNone/>
                      </a:pPr>
                      <a:r>
                        <a:rPr lang="en-US" sz="1350" dirty="0">
                          <a:solidFill>
                            <a:srgbClr val="0B1F33"/>
                          </a:solidFill>
                          <a:latin typeface="Aptos" pitchFamily="34" charset="0"/>
                          <a:ea typeface="Aptos" pitchFamily="34" charset="-122"/>
                          <a:cs typeface="Aptos" pitchFamily="34" charset="-120"/>
                        </a:rPr>
                        <a:t>95.70%</a:t>
                      </a:r>
                      <a:endParaRPr lang="en-US" sz="1350" dirty="0">
                        <a:latin typeface="Aptos" charset="0"/>
                        <a:ea typeface="Aptos" charset="0"/>
                        <a:cs typeface="Aptos" charset="0"/>
                      </a:endParaRPr>
                    </a:p>
                  </a:txBody>
                  <a:tcPr marL="45720" marR="45720">
                    <a:lnL w="10160" cap="flat" cmpd="sng" algn="ctr">
                      <a:solidFill>
                        <a:srgbClr val="334155"/>
                      </a:solidFill>
                      <a:prstDash val="solid"/>
                      <a:round/>
                      <a:headEnd type="none" w="med" len="med"/>
                      <a:tailEnd type="none" w="med" len="med"/>
                    </a:lnL>
                    <a:lnR w="10160" cap="flat" cmpd="sng" algn="ctr">
                      <a:solidFill>
                        <a:srgbClr val="334155"/>
                      </a:solidFill>
                      <a:prstDash val="solid"/>
                      <a:round/>
                      <a:headEnd type="none" w="med" len="med"/>
                      <a:tailEnd type="none" w="med" len="med"/>
                    </a:lnR>
                    <a:lnT w="10160" cap="flat" cmpd="sng" algn="ctr">
                      <a:solidFill>
                        <a:srgbClr val="334155"/>
                      </a:solidFill>
                      <a:prstDash val="solid"/>
                      <a:round/>
                      <a:headEnd type="none" w="med" len="med"/>
                      <a:tailEnd type="none" w="med" len="med"/>
                    </a:lnT>
                    <a:lnB w="10160" cap="flat" cmpd="sng" algn="ctr">
                      <a:solidFill>
                        <a:srgbClr val="334155"/>
                      </a:solidFill>
                      <a:prstDash val="solid"/>
                      <a:round/>
                      <a:headEnd type="none" w="med" len="med"/>
                      <a:tailEnd type="none" w="med" len="med"/>
                    </a:lnB>
                  </a:tcPr>
                </a:tc>
                <a:extLst>
                  <a:ext uri="{0D108BD9-81ED-4DB2-BD59-A6C34878D82A}">
                    <a16:rowId xmlns:a16="http://schemas.microsoft.com/office/drawing/2014/main" val="10002"/>
                  </a:ext>
                </a:extLst>
              </a:tr>
              <a:tr h="475488">
                <a:tc>
                  <a:txBody>
                    <a:bodyPr/>
                    <a:lstStyle/>
                    <a:p>
                      <a:pPr marL="0" indent="0" algn="ctr">
                        <a:buNone/>
                      </a:pPr>
                      <a:r>
                        <a:rPr lang="en-US" sz="1350" dirty="0">
                          <a:solidFill>
                            <a:srgbClr val="0B1F33"/>
                          </a:solidFill>
                          <a:latin typeface="Aptos" pitchFamily="34" charset="0"/>
                          <a:ea typeface="Aptos" pitchFamily="34" charset="-122"/>
                          <a:cs typeface="Aptos" pitchFamily="34" charset="-120"/>
                        </a:rPr>
                        <a:t>3.</a:t>
                      </a:r>
                      <a:endParaRPr lang="en-US" sz="1350" dirty="0">
                        <a:latin typeface="Aptos" charset="0"/>
                        <a:ea typeface="Aptos" charset="0"/>
                        <a:cs typeface="Aptos" charset="0"/>
                      </a:endParaRPr>
                    </a:p>
                  </a:txBody>
                  <a:tcPr marL="45720" marR="45720">
                    <a:lnL w="10160" cap="flat" cmpd="sng" algn="ctr">
                      <a:solidFill>
                        <a:srgbClr val="334155"/>
                      </a:solidFill>
                      <a:prstDash val="solid"/>
                      <a:round/>
                      <a:headEnd type="none" w="med" len="med"/>
                      <a:tailEnd type="none" w="med" len="med"/>
                    </a:lnL>
                    <a:lnR w="10160" cap="flat" cmpd="sng" algn="ctr">
                      <a:solidFill>
                        <a:srgbClr val="334155"/>
                      </a:solidFill>
                      <a:prstDash val="solid"/>
                      <a:round/>
                      <a:headEnd type="none" w="med" len="med"/>
                      <a:tailEnd type="none" w="med" len="med"/>
                    </a:lnR>
                    <a:lnT w="10160" cap="flat" cmpd="sng" algn="ctr">
                      <a:solidFill>
                        <a:srgbClr val="334155"/>
                      </a:solidFill>
                      <a:prstDash val="solid"/>
                      <a:round/>
                      <a:headEnd type="none" w="med" len="med"/>
                      <a:tailEnd type="none" w="med" len="med"/>
                    </a:lnT>
                    <a:lnB w="10160" cap="flat" cmpd="sng" algn="ctr">
                      <a:solidFill>
                        <a:srgbClr val="334155"/>
                      </a:solidFill>
                      <a:prstDash val="solid"/>
                      <a:round/>
                      <a:headEnd type="none" w="med" len="med"/>
                      <a:tailEnd type="none" w="med" len="med"/>
                    </a:lnB>
                  </a:tcPr>
                </a:tc>
                <a:tc>
                  <a:txBody>
                    <a:bodyPr/>
                    <a:lstStyle/>
                    <a:p>
                      <a:pPr marL="0" indent="0" algn="ctr">
                        <a:buNone/>
                      </a:pPr>
                      <a:r>
                        <a:rPr lang="en-US" sz="1350" dirty="0">
                          <a:solidFill>
                            <a:srgbClr val="0B1F33"/>
                          </a:solidFill>
                          <a:latin typeface="Aptos" pitchFamily="34" charset="0"/>
                          <a:ea typeface="Aptos" pitchFamily="34" charset="-122"/>
                          <a:cs typeface="Aptos" pitchFamily="34" charset="-120"/>
                        </a:rPr>
                        <a:t>KNN Classifier</a:t>
                      </a:r>
                      <a:endParaRPr lang="en-US" sz="1350" dirty="0">
                        <a:latin typeface="Aptos" charset="0"/>
                        <a:ea typeface="Aptos" charset="0"/>
                        <a:cs typeface="Aptos" charset="0"/>
                      </a:endParaRPr>
                    </a:p>
                  </a:txBody>
                  <a:tcPr marL="45720" marR="45720">
                    <a:lnL w="10160" cap="flat" cmpd="sng" algn="ctr">
                      <a:solidFill>
                        <a:srgbClr val="334155"/>
                      </a:solidFill>
                      <a:prstDash val="solid"/>
                      <a:round/>
                      <a:headEnd type="none" w="med" len="med"/>
                      <a:tailEnd type="none" w="med" len="med"/>
                    </a:lnL>
                    <a:lnR w="10160" cap="flat" cmpd="sng" algn="ctr">
                      <a:solidFill>
                        <a:srgbClr val="334155"/>
                      </a:solidFill>
                      <a:prstDash val="solid"/>
                      <a:round/>
                      <a:headEnd type="none" w="med" len="med"/>
                      <a:tailEnd type="none" w="med" len="med"/>
                    </a:lnR>
                    <a:lnT w="10160" cap="flat" cmpd="sng" algn="ctr">
                      <a:solidFill>
                        <a:srgbClr val="334155"/>
                      </a:solidFill>
                      <a:prstDash val="solid"/>
                      <a:round/>
                      <a:headEnd type="none" w="med" len="med"/>
                      <a:tailEnd type="none" w="med" len="med"/>
                    </a:lnT>
                    <a:lnB w="10160" cap="flat" cmpd="sng" algn="ctr">
                      <a:solidFill>
                        <a:srgbClr val="334155"/>
                      </a:solidFill>
                      <a:prstDash val="solid"/>
                      <a:round/>
                      <a:headEnd type="none" w="med" len="med"/>
                      <a:tailEnd type="none" w="med" len="med"/>
                    </a:lnB>
                  </a:tcPr>
                </a:tc>
                <a:tc>
                  <a:txBody>
                    <a:bodyPr/>
                    <a:lstStyle/>
                    <a:p>
                      <a:pPr marL="0" indent="0" algn="ctr">
                        <a:buNone/>
                      </a:pPr>
                      <a:r>
                        <a:rPr lang="en-US" sz="1350" dirty="0">
                          <a:solidFill>
                            <a:srgbClr val="0B1F33"/>
                          </a:solidFill>
                          <a:latin typeface="Aptos" pitchFamily="34" charset="0"/>
                          <a:ea typeface="Aptos" pitchFamily="34" charset="-122"/>
                          <a:cs typeface="Aptos" pitchFamily="34" charset="-120"/>
                        </a:rPr>
                        <a:t>98.52%</a:t>
                      </a:r>
                      <a:endParaRPr lang="en-US" sz="1350" dirty="0">
                        <a:latin typeface="Aptos" charset="0"/>
                        <a:ea typeface="Aptos" charset="0"/>
                        <a:cs typeface="Aptos" charset="0"/>
                      </a:endParaRPr>
                    </a:p>
                  </a:txBody>
                  <a:tcPr marL="45720" marR="45720">
                    <a:lnL w="10160" cap="flat" cmpd="sng" algn="ctr">
                      <a:solidFill>
                        <a:srgbClr val="334155"/>
                      </a:solidFill>
                      <a:prstDash val="solid"/>
                      <a:round/>
                      <a:headEnd type="none" w="med" len="med"/>
                      <a:tailEnd type="none" w="med" len="med"/>
                    </a:lnL>
                    <a:lnR w="10160" cap="flat" cmpd="sng" algn="ctr">
                      <a:solidFill>
                        <a:srgbClr val="334155"/>
                      </a:solidFill>
                      <a:prstDash val="solid"/>
                      <a:round/>
                      <a:headEnd type="none" w="med" len="med"/>
                      <a:tailEnd type="none" w="med" len="med"/>
                    </a:lnR>
                    <a:lnT w="10160" cap="flat" cmpd="sng" algn="ctr">
                      <a:solidFill>
                        <a:srgbClr val="334155"/>
                      </a:solidFill>
                      <a:prstDash val="solid"/>
                      <a:round/>
                      <a:headEnd type="none" w="med" len="med"/>
                      <a:tailEnd type="none" w="med" len="med"/>
                    </a:lnT>
                    <a:lnB w="10160" cap="flat" cmpd="sng" algn="ctr">
                      <a:solidFill>
                        <a:srgbClr val="334155"/>
                      </a:solidFill>
                      <a:prstDash val="solid"/>
                      <a:round/>
                      <a:headEnd type="none" w="med" len="med"/>
                      <a:tailEnd type="none" w="med" len="med"/>
                    </a:lnB>
                  </a:tcPr>
                </a:tc>
                <a:tc>
                  <a:txBody>
                    <a:bodyPr/>
                    <a:lstStyle/>
                    <a:p>
                      <a:pPr marL="0" indent="0" algn="ctr">
                        <a:buNone/>
                      </a:pPr>
                      <a:r>
                        <a:rPr lang="en-US" sz="1350" dirty="0">
                          <a:solidFill>
                            <a:srgbClr val="0B1F33"/>
                          </a:solidFill>
                          <a:latin typeface="Aptos" pitchFamily="34" charset="0"/>
                          <a:ea typeface="Aptos" pitchFamily="34" charset="-122"/>
                          <a:cs typeface="Aptos" pitchFamily="34" charset="-120"/>
                        </a:rPr>
                        <a:t>91.78%</a:t>
                      </a:r>
                      <a:endParaRPr lang="en-US" sz="1350" dirty="0">
                        <a:latin typeface="Aptos" charset="0"/>
                        <a:ea typeface="Aptos" charset="0"/>
                        <a:cs typeface="Aptos" charset="0"/>
                      </a:endParaRPr>
                    </a:p>
                  </a:txBody>
                  <a:tcPr marL="45720" marR="45720">
                    <a:lnL w="10160" cap="flat" cmpd="sng" algn="ctr">
                      <a:solidFill>
                        <a:srgbClr val="334155"/>
                      </a:solidFill>
                      <a:prstDash val="solid"/>
                      <a:round/>
                      <a:headEnd type="none" w="med" len="med"/>
                      <a:tailEnd type="none" w="med" len="med"/>
                    </a:lnL>
                    <a:lnR w="10160" cap="flat" cmpd="sng" algn="ctr">
                      <a:solidFill>
                        <a:srgbClr val="334155"/>
                      </a:solidFill>
                      <a:prstDash val="solid"/>
                      <a:round/>
                      <a:headEnd type="none" w="med" len="med"/>
                      <a:tailEnd type="none" w="med" len="med"/>
                    </a:lnR>
                    <a:lnT w="10160" cap="flat" cmpd="sng" algn="ctr">
                      <a:solidFill>
                        <a:srgbClr val="334155"/>
                      </a:solidFill>
                      <a:prstDash val="solid"/>
                      <a:round/>
                      <a:headEnd type="none" w="med" len="med"/>
                      <a:tailEnd type="none" w="med" len="med"/>
                    </a:lnT>
                    <a:lnB w="10160" cap="flat" cmpd="sng" algn="ctr">
                      <a:solidFill>
                        <a:srgbClr val="334155"/>
                      </a:solidFill>
                      <a:prstDash val="solid"/>
                      <a:round/>
                      <a:headEnd type="none" w="med" len="med"/>
                      <a:tailEnd type="none" w="med" len="med"/>
                    </a:lnB>
                  </a:tcPr>
                </a:tc>
                <a:extLst>
                  <a:ext uri="{0D108BD9-81ED-4DB2-BD59-A6C34878D82A}">
                    <a16:rowId xmlns:a16="http://schemas.microsoft.com/office/drawing/2014/main" val="10003"/>
                  </a:ext>
                </a:extLst>
              </a:tr>
              <a:tr h="475488">
                <a:tc>
                  <a:txBody>
                    <a:bodyPr/>
                    <a:lstStyle/>
                    <a:p>
                      <a:pPr marL="0" indent="0" algn="ctr">
                        <a:buNone/>
                      </a:pPr>
                      <a:r>
                        <a:rPr lang="en-US" sz="1350" dirty="0">
                          <a:solidFill>
                            <a:srgbClr val="0B1F33"/>
                          </a:solidFill>
                          <a:latin typeface="Aptos" pitchFamily="34" charset="0"/>
                          <a:ea typeface="Aptos" pitchFamily="34" charset="-122"/>
                          <a:cs typeface="Aptos" pitchFamily="34" charset="-120"/>
                        </a:rPr>
                        <a:t>4.</a:t>
                      </a:r>
                      <a:endParaRPr lang="en-US" sz="1350" dirty="0">
                        <a:latin typeface="Aptos" charset="0"/>
                        <a:ea typeface="Aptos" charset="0"/>
                        <a:cs typeface="Aptos" charset="0"/>
                      </a:endParaRPr>
                    </a:p>
                  </a:txBody>
                  <a:tcPr marL="45720" marR="45720">
                    <a:lnL w="10160" cap="flat" cmpd="sng" algn="ctr">
                      <a:solidFill>
                        <a:srgbClr val="334155"/>
                      </a:solidFill>
                      <a:prstDash val="solid"/>
                      <a:round/>
                      <a:headEnd type="none" w="med" len="med"/>
                      <a:tailEnd type="none" w="med" len="med"/>
                    </a:lnL>
                    <a:lnR w="10160" cap="flat" cmpd="sng" algn="ctr">
                      <a:solidFill>
                        <a:srgbClr val="334155"/>
                      </a:solidFill>
                      <a:prstDash val="solid"/>
                      <a:round/>
                      <a:headEnd type="none" w="med" len="med"/>
                      <a:tailEnd type="none" w="med" len="med"/>
                    </a:lnR>
                    <a:lnT w="10160" cap="flat" cmpd="sng" algn="ctr">
                      <a:solidFill>
                        <a:srgbClr val="334155"/>
                      </a:solidFill>
                      <a:prstDash val="solid"/>
                      <a:round/>
                      <a:headEnd type="none" w="med" len="med"/>
                      <a:tailEnd type="none" w="med" len="med"/>
                    </a:lnT>
                    <a:lnB w="10160" cap="flat" cmpd="sng" algn="ctr">
                      <a:solidFill>
                        <a:srgbClr val="334155"/>
                      </a:solidFill>
                      <a:prstDash val="solid"/>
                      <a:round/>
                      <a:headEnd type="none" w="med" len="med"/>
                      <a:tailEnd type="none" w="med" len="med"/>
                    </a:lnB>
                  </a:tcPr>
                </a:tc>
                <a:tc>
                  <a:txBody>
                    <a:bodyPr/>
                    <a:lstStyle/>
                    <a:p>
                      <a:pPr marL="0" indent="0" algn="ctr">
                        <a:buNone/>
                      </a:pPr>
                      <a:r>
                        <a:rPr lang="en-US" sz="1350" dirty="0">
                          <a:solidFill>
                            <a:srgbClr val="0B1F33"/>
                          </a:solidFill>
                          <a:latin typeface="Aptos" pitchFamily="34" charset="0"/>
                          <a:ea typeface="Aptos" pitchFamily="34" charset="-122"/>
                          <a:cs typeface="Aptos" pitchFamily="34" charset="-120"/>
                        </a:rPr>
                        <a:t>Multi Layer Perceptron</a:t>
                      </a:r>
                      <a:endParaRPr lang="en-US" sz="1350" dirty="0">
                        <a:latin typeface="Aptos" charset="0"/>
                        <a:ea typeface="Aptos" charset="0"/>
                        <a:cs typeface="Aptos" charset="0"/>
                      </a:endParaRPr>
                    </a:p>
                  </a:txBody>
                  <a:tcPr marL="45720" marR="45720">
                    <a:lnL w="10160" cap="flat" cmpd="sng" algn="ctr">
                      <a:solidFill>
                        <a:srgbClr val="334155"/>
                      </a:solidFill>
                      <a:prstDash val="solid"/>
                      <a:round/>
                      <a:headEnd type="none" w="med" len="med"/>
                      <a:tailEnd type="none" w="med" len="med"/>
                    </a:lnL>
                    <a:lnR w="10160" cap="flat" cmpd="sng" algn="ctr">
                      <a:solidFill>
                        <a:srgbClr val="334155"/>
                      </a:solidFill>
                      <a:prstDash val="solid"/>
                      <a:round/>
                      <a:headEnd type="none" w="med" len="med"/>
                      <a:tailEnd type="none" w="med" len="med"/>
                    </a:lnR>
                    <a:lnT w="10160" cap="flat" cmpd="sng" algn="ctr">
                      <a:solidFill>
                        <a:srgbClr val="334155"/>
                      </a:solidFill>
                      <a:prstDash val="solid"/>
                      <a:round/>
                      <a:headEnd type="none" w="med" len="med"/>
                      <a:tailEnd type="none" w="med" len="med"/>
                    </a:lnT>
                    <a:lnB w="10160" cap="flat" cmpd="sng" algn="ctr">
                      <a:solidFill>
                        <a:srgbClr val="334155"/>
                      </a:solidFill>
                      <a:prstDash val="solid"/>
                      <a:round/>
                      <a:headEnd type="none" w="med" len="med"/>
                      <a:tailEnd type="none" w="med" len="med"/>
                    </a:lnB>
                  </a:tcPr>
                </a:tc>
                <a:tc>
                  <a:txBody>
                    <a:bodyPr/>
                    <a:lstStyle/>
                    <a:p>
                      <a:pPr marL="0" indent="0" algn="ctr">
                        <a:buNone/>
                      </a:pPr>
                      <a:r>
                        <a:rPr lang="en-US" sz="1350" dirty="0">
                          <a:solidFill>
                            <a:srgbClr val="0B1F33"/>
                          </a:solidFill>
                          <a:latin typeface="Aptos" pitchFamily="34" charset="0"/>
                          <a:ea typeface="Aptos" pitchFamily="34" charset="-122"/>
                          <a:cs typeface="Aptos" pitchFamily="34" charset="-120"/>
                        </a:rPr>
                        <a:t>91.04%</a:t>
                      </a:r>
                      <a:endParaRPr lang="en-US" sz="1350" dirty="0">
                        <a:latin typeface="Aptos" charset="0"/>
                        <a:ea typeface="Aptos" charset="0"/>
                        <a:cs typeface="Aptos" charset="0"/>
                      </a:endParaRPr>
                    </a:p>
                  </a:txBody>
                  <a:tcPr marL="45720" marR="45720">
                    <a:lnL w="10160" cap="flat" cmpd="sng" algn="ctr">
                      <a:solidFill>
                        <a:srgbClr val="334155"/>
                      </a:solidFill>
                      <a:prstDash val="solid"/>
                      <a:round/>
                      <a:headEnd type="none" w="med" len="med"/>
                      <a:tailEnd type="none" w="med" len="med"/>
                    </a:lnL>
                    <a:lnR w="10160" cap="flat" cmpd="sng" algn="ctr">
                      <a:solidFill>
                        <a:srgbClr val="334155"/>
                      </a:solidFill>
                      <a:prstDash val="solid"/>
                      <a:round/>
                      <a:headEnd type="none" w="med" len="med"/>
                      <a:tailEnd type="none" w="med" len="med"/>
                    </a:lnR>
                    <a:lnT w="10160" cap="flat" cmpd="sng" algn="ctr">
                      <a:solidFill>
                        <a:srgbClr val="334155"/>
                      </a:solidFill>
                      <a:prstDash val="solid"/>
                      <a:round/>
                      <a:headEnd type="none" w="med" len="med"/>
                      <a:tailEnd type="none" w="med" len="med"/>
                    </a:lnT>
                    <a:lnB w="10160" cap="flat" cmpd="sng" algn="ctr">
                      <a:solidFill>
                        <a:srgbClr val="334155"/>
                      </a:solidFill>
                      <a:prstDash val="solid"/>
                      <a:round/>
                      <a:headEnd type="none" w="med" len="med"/>
                      <a:tailEnd type="none" w="med" len="med"/>
                    </a:lnB>
                  </a:tcPr>
                </a:tc>
                <a:tc>
                  <a:txBody>
                    <a:bodyPr/>
                    <a:lstStyle/>
                    <a:p>
                      <a:pPr marL="0" indent="0" algn="ctr">
                        <a:buNone/>
                      </a:pPr>
                      <a:r>
                        <a:rPr lang="en-US" sz="1350" dirty="0">
                          <a:solidFill>
                            <a:srgbClr val="0B1F33"/>
                          </a:solidFill>
                          <a:latin typeface="Aptos" pitchFamily="34" charset="0"/>
                          <a:ea typeface="Aptos" pitchFamily="34" charset="-122"/>
                          <a:cs typeface="Aptos" pitchFamily="34" charset="-120"/>
                        </a:rPr>
                        <a:t>90.14%</a:t>
                      </a:r>
                      <a:endParaRPr lang="en-US" sz="1350" dirty="0">
                        <a:latin typeface="Aptos" charset="0"/>
                        <a:ea typeface="Aptos" charset="0"/>
                        <a:cs typeface="Aptos" charset="0"/>
                      </a:endParaRPr>
                    </a:p>
                  </a:txBody>
                  <a:tcPr marL="45720" marR="45720">
                    <a:lnL w="10160" cap="flat" cmpd="sng" algn="ctr">
                      <a:solidFill>
                        <a:srgbClr val="334155"/>
                      </a:solidFill>
                      <a:prstDash val="solid"/>
                      <a:round/>
                      <a:headEnd type="none" w="med" len="med"/>
                      <a:tailEnd type="none" w="med" len="med"/>
                    </a:lnL>
                    <a:lnR w="10160" cap="flat" cmpd="sng" algn="ctr">
                      <a:solidFill>
                        <a:srgbClr val="334155"/>
                      </a:solidFill>
                      <a:prstDash val="solid"/>
                      <a:round/>
                      <a:headEnd type="none" w="med" len="med"/>
                      <a:tailEnd type="none" w="med" len="med"/>
                    </a:lnR>
                    <a:lnT w="10160" cap="flat" cmpd="sng" algn="ctr">
                      <a:solidFill>
                        <a:srgbClr val="334155"/>
                      </a:solidFill>
                      <a:prstDash val="solid"/>
                      <a:round/>
                      <a:headEnd type="none" w="med" len="med"/>
                      <a:tailEnd type="none" w="med" len="med"/>
                    </a:lnT>
                    <a:lnB w="10160" cap="flat" cmpd="sng" algn="ctr">
                      <a:solidFill>
                        <a:srgbClr val="334155"/>
                      </a:solidFill>
                      <a:prstDash val="solid"/>
                      <a:round/>
                      <a:headEnd type="none" w="med" len="med"/>
                      <a:tailEnd type="none" w="med" len="med"/>
                    </a:lnB>
                  </a:tcPr>
                </a:tc>
                <a:extLst>
                  <a:ext uri="{0D108BD9-81ED-4DB2-BD59-A6C34878D82A}">
                    <a16:rowId xmlns:a16="http://schemas.microsoft.com/office/drawing/2014/main" val="10004"/>
                  </a:ext>
                </a:extLst>
              </a:tr>
              <a:tr h="475488">
                <a:tc>
                  <a:txBody>
                    <a:bodyPr/>
                    <a:lstStyle/>
                    <a:p>
                      <a:pPr marL="0" indent="0" algn="ctr">
                        <a:buNone/>
                      </a:pPr>
                      <a:r>
                        <a:rPr lang="en-US" sz="1350" dirty="0">
                          <a:solidFill>
                            <a:srgbClr val="0B1F33"/>
                          </a:solidFill>
                          <a:latin typeface="Aptos" pitchFamily="34" charset="0"/>
                          <a:ea typeface="Aptos" pitchFamily="34" charset="-122"/>
                          <a:cs typeface="Aptos" pitchFamily="34" charset="-120"/>
                        </a:rPr>
                        <a:t>5.</a:t>
                      </a:r>
                      <a:endParaRPr lang="en-US" sz="1350" dirty="0">
                        <a:latin typeface="Aptos" charset="0"/>
                        <a:ea typeface="Aptos" charset="0"/>
                        <a:cs typeface="Aptos" charset="0"/>
                      </a:endParaRPr>
                    </a:p>
                  </a:txBody>
                  <a:tcPr marL="45720" marR="45720">
                    <a:lnL w="10160" cap="flat" cmpd="sng" algn="ctr">
                      <a:solidFill>
                        <a:srgbClr val="334155"/>
                      </a:solidFill>
                      <a:prstDash val="solid"/>
                      <a:round/>
                      <a:headEnd type="none" w="med" len="med"/>
                      <a:tailEnd type="none" w="med" len="med"/>
                    </a:lnL>
                    <a:lnR w="10160" cap="flat" cmpd="sng" algn="ctr">
                      <a:solidFill>
                        <a:srgbClr val="334155"/>
                      </a:solidFill>
                      <a:prstDash val="solid"/>
                      <a:round/>
                      <a:headEnd type="none" w="med" len="med"/>
                      <a:tailEnd type="none" w="med" len="med"/>
                    </a:lnR>
                    <a:lnT w="10160" cap="flat" cmpd="sng" algn="ctr">
                      <a:solidFill>
                        <a:srgbClr val="334155"/>
                      </a:solidFill>
                      <a:prstDash val="solid"/>
                      <a:round/>
                      <a:headEnd type="none" w="med" len="med"/>
                      <a:tailEnd type="none" w="med" len="med"/>
                    </a:lnT>
                    <a:lnB w="10160" cap="flat" cmpd="sng" algn="ctr">
                      <a:solidFill>
                        <a:srgbClr val="334155"/>
                      </a:solidFill>
                      <a:prstDash val="solid"/>
                      <a:round/>
                      <a:headEnd type="none" w="med" len="med"/>
                      <a:tailEnd type="none" w="med" len="med"/>
                    </a:lnB>
                  </a:tcPr>
                </a:tc>
                <a:tc>
                  <a:txBody>
                    <a:bodyPr/>
                    <a:lstStyle/>
                    <a:p>
                      <a:pPr marL="0" indent="0" algn="ctr">
                        <a:buNone/>
                      </a:pPr>
                      <a:r>
                        <a:rPr lang="en-US" sz="1350" dirty="0">
                          <a:solidFill>
                            <a:srgbClr val="0B1F33"/>
                          </a:solidFill>
                          <a:latin typeface="Aptos" pitchFamily="34" charset="0"/>
                          <a:ea typeface="Aptos" pitchFamily="34" charset="-122"/>
                          <a:cs typeface="Aptos" pitchFamily="34" charset="-120"/>
                        </a:rPr>
                        <a:t>Logistic Regression</a:t>
                      </a:r>
                      <a:endParaRPr lang="en-US" sz="1350" dirty="0">
                        <a:latin typeface="Aptos" charset="0"/>
                        <a:ea typeface="Aptos" charset="0"/>
                        <a:cs typeface="Aptos" charset="0"/>
                      </a:endParaRPr>
                    </a:p>
                  </a:txBody>
                  <a:tcPr marL="45720" marR="45720">
                    <a:lnL w="10160" cap="flat" cmpd="sng" algn="ctr">
                      <a:solidFill>
                        <a:srgbClr val="334155"/>
                      </a:solidFill>
                      <a:prstDash val="solid"/>
                      <a:round/>
                      <a:headEnd type="none" w="med" len="med"/>
                      <a:tailEnd type="none" w="med" len="med"/>
                    </a:lnL>
                    <a:lnR w="10160" cap="flat" cmpd="sng" algn="ctr">
                      <a:solidFill>
                        <a:srgbClr val="334155"/>
                      </a:solidFill>
                      <a:prstDash val="solid"/>
                      <a:round/>
                      <a:headEnd type="none" w="med" len="med"/>
                      <a:tailEnd type="none" w="med" len="med"/>
                    </a:lnR>
                    <a:lnT w="10160" cap="flat" cmpd="sng" algn="ctr">
                      <a:solidFill>
                        <a:srgbClr val="334155"/>
                      </a:solidFill>
                      <a:prstDash val="solid"/>
                      <a:round/>
                      <a:headEnd type="none" w="med" len="med"/>
                      <a:tailEnd type="none" w="med" len="med"/>
                    </a:lnT>
                    <a:lnB w="10160" cap="flat" cmpd="sng" algn="ctr">
                      <a:solidFill>
                        <a:srgbClr val="334155"/>
                      </a:solidFill>
                      <a:prstDash val="solid"/>
                      <a:round/>
                      <a:headEnd type="none" w="med" len="med"/>
                      <a:tailEnd type="none" w="med" len="med"/>
                    </a:lnB>
                  </a:tcPr>
                </a:tc>
                <a:tc>
                  <a:txBody>
                    <a:bodyPr/>
                    <a:lstStyle/>
                    <a:p>
                      <a:pPr marL="0" indent="0" algn="ctr">
                        <a:buNone/>
                      </a:pPr>
                      <a:r>
                        <a:rPr lang="en-US" sz="1350" dirty="0">
                          <a:solidFill>
                            <a:srgbClr val="0B1F33"/>
                          </a:solidFill>
                          <a:latin typeface="Aptos" pitchFamily="34" charset="0"/>
                          <a:ea typeface="Aptos" pitchFamily="34" charset="-122"/>
                          <a:cs typeface="Aptos" pitchFamily="34" charset="-120"/>
                        </a:rPr>
                        <a:t>99.93%</a:t>
                      </a:r>
                      <a:endParaRPr lang="en-US" sz="1350" dirty="0">
                        <a:latin typeface="Aptos" charset="0"/>
                        <a:ea typeface="Aptos" charset="0"/>
                        <a:cs typeface="Aptos" charset="0"/>
                      </a:endParaRPr>
                    </a:p>
                  </a:txBody>
                  <a:tcPr marL="45720" marR="45720">
                    <a:lnL w="10160" cap="flat" cmpd="sng" algn="ctr">
                      <a:solidFill>
                        <a:srgbClr val="334155"/>
                      </a:solidFill>
                      <a:prstDash val="solid"/>
                      <a:round/>
                      <a:headEnd type="none" w="med" len="med"/>
                      <a:tailEnd type="none" w="med" len="med"/>
                    </a:lnL>
                    <a:lnR w="10160" cap="flat" cmpd="sng" algn="ctr">
                      <a:solidFill>
                        <a:srgbClr val="334155"/>
                      </a:solidFill>
                      <a:prstDash val="solid"/>
                      <a:round/>
                      <a:headEnd type="none" w="med" len="med"/>
                      <a:tailEnd type="none" w="med" len="med"/>
                    </a:lnR>
                    <a:lnT w="10160" cap="flat" cmpd="sng" algn="ctr">
                      <a:solidFill>
                        <a:srgbClr val="334155"/>
                      </a:solidFill>
                      <a:prstDash val="solid"/>
                      <a:round/>
                      <a:headEnd type="none" w="med" len="med"/>
                      <a:tailEnd type="none" w="med" len="med"/>
                    </a:lnT>
                    <a:lnB w="10160" cap="flat" cmpd="sng" algn="ctr">
                      <a:solidFill>
                        <a:srgbClr val="334155"/>
                      </a:solidFill>
                      <a:prstDash val="solid"/>
                      <a:round/>
                      <a:headEnd type="none" w="med" len="med"/>
                      <a:tailEnd type="none" w="med" len="med"/>
                    </a:lnB>
                  </a:tcPr>
                </a:tc>
                <a:tc>
                  <a:txBody>
                    <a:bodyPr/>
                    <a:lstStyle/>
                    <a:p>
                      <a:pPr marL="0" indent="0" algn="ctr">
                        <a:buNone/>
                      </a:pPr>
                      <a:r>
                        <a:rPr lang="en-US" sz="1350" dirty="0">
                          <a:solidFill>
                            <a:srgbClr val="0B1F33"/>
                          </a:solidFill>
                          <a:latin typeface="Aptos" pitchFamily="34" charset="0"/>
                          <a:ea typeface="Aptos" pitchFamily="34" charset="-122"/>
                          <a:cs typeface="Aptos" pitchFamily="34" charset="-120"/>
                        </a:rPr>
                        <a:t>99.89%</a:t>
                      </a:r>
                      <a:endParaRPr lang="en-US" sz="1350" dirty="0">
                        <a:latin typeface="Aptos" charset="0"/>
                        <a:ea typeface="Aptos" charset="0"/>
                        <a:cs typeface="Aptos" charset="0"/>
                      </a:endParaRPr>
                    </a:p>
                  </a:txBody>
                  <a:tcPr marL="45720" marR="45720">
                    <a:lnL w="10160" cap="flat" cmpd="sng" algn="ctr">
                      <a:solidFill>
                        <a:srgbClr val="334155"/>
                      </a:solidFill>
                      <a:prstDash val="solid"/>
                      <a:round/>
                      <a:headEnd type="none" w="med" len="med"/>
                      <a:tailEnd type="none" w="med" len="med"/>
                    </a:lnL>
                    <a:lnR w="10160" cap="flat" cmpd="sng" algn="ctr">
                      <a:solidFill>
                        <a:srgbClr val="334155"/>
                      </a:solidFill>
                      <a:prstDash val="solid"/>
                      <a:round/>
                      <a:headEnd type="none" w="med" len="med"/>
                      <a:tailEnd type="none" w="med" len="med"/>
                    </a:lnR>
                    <a:lnT w="10160" cap="flat" cmpd="sng" algn="ctr">
                      <a:solidFill>
                        <a:srgbClr val="334155"/>
                      </a:solidFill>
                      <a:prstDash val="solid"/>
                      <a:round/>
                      <a:headEnd type="none" w="med" len="med"/>
                      <a:tailEnd type="none" w="med" len="med"/>
                    </a:lnT>
                    <a:lnB w="10160" cap="flat" cmpd="sng" algn="ctr">
                      <a:solidFill>
                        <a:srgbClr val="334155"/>
                      </a:solidFill>
                      <a:prstDash val="solid"/>
                      <a:round/>
                      <a:headEnd type="none" w="med" len="med"/>
                      <a:tailEnd type="none" w="med" len="med"/>
                    </a:lnB>
                  </a:tcPr>
                </a:tc>
                <a:extLst>
                  <a:ext uri="{0D108BD9-81ED-4DB2-BD59-A6C34878D82A}">
                    <a16:rowId xmlns:a16="http://schemas.microsoft.com/office/drawing/2014/main" val="10005"/>
                  </a:ext>
                </a:extLst>
              </a:tr>
              <a:tr h="475488">
                <a:tc>
                  <a:txBody>
                    <a:bodyPr/>
                    <a:lstStyle/>
                    <a:p>
                      <a:pPr marL="0" indent="0" algn="ctr">
                        <a:buNone/>
                      </a:pPr>
                      <a:r>
                        <a:rPr lang="en-US" sz="1350" dirty="0">
                          <a:solidFill>
                            <a:srgbClr val="0B1F33"/>
                          </a:solidFill>
                          <a:latin typeface="Aptos" pitchFamily="34" charset="0"/>
                          <a:ea typeface="Aptos" pitchFamily="34" charset="-122"/>
                          <a:cs typeface="Aptos" pitchFamily="34" charset="-120"/>
                        </a:rPr>
                        <a:t>6.</a:t>
                      </a:r>
                      <a:endParaRPr lang="en-US" sz="1350" dirty="0">
                        <a:latin typeface="Aptos" charset="0"/>
                        <a:ea typeface="Aptos" charset="0"/>
                        <a:cs typeface="Aptos" charset="0"/>
                      </a:endParaRPr>
                    </a:p>
                  </a:txBody>
                  <a:tcPr marL="45720" marR="45720">
                    <a:lnL w="10160" cap="flat" cmpd="sng" algn="ctr">
                      <a:solidFill>
                        <a:srgbClr val="334155"/>
                      </a:solidFill>
                      <a:prstDash val="solid"/>
                      <a:round/>
                      <a:headEnd type="none" w="med" len="med"/>
                      <a:tailEnd type="none" w="med" len="med"/>
                    </a:lnL>
                    <a:lnR w="10160" cap="flat" cmpd="sng" algn="ctr">
                      <a:solidFill>
                        <a:srgbClr val="334155"/>
                      </a:solidFill>
                      <a:prstDash val="solid"/>
                      <a:round/>
                      <a:headEnd type="none" w="med" len="med"/>
                      <a:tailEnd type="none" w="med" len="med"/>
                    </a:lnR>
                    <a:lnT w="10160" cap="flat" cmpd="sng" algn="ctr">
                      <a:solidFill>
                        <a:srgbClr val="334155"/>
                      </a:solidFill>
                      <a:prstDash val="solid"/>
                      <a:round/>
                      <a:headEnd type="none" w="med" len="med"/>
                      <a:tailEnd type="none" w="med" len="med"/>
                    </a:lnT>
                    <a:lnB w="10160" cap="flat" cmpd="sng" algn="ctr">
                      <a:solidFill>
                        <a:srgbClr val="334155"/>
                      </a:solidFill>
                      <a:prstDash val="solid"/>
                      <a:round/>
                      <a:headEnd type="none" w="med" len="med"/>
                      <a:tailEnd type="none" w="med" len="med"/>
                    </a:lnB>
                  </a:tcPr>
                </a:tc>
                <a:tc>
                  <a:txBody>
                    <a:bodyPr/>
                    <a:lstStyle/>
                    <a:p>
                      <a:pPr marL="0" indent="0" algn="ctr">
                        <a:buNone/>
                      </a:pPr>
                      <a:r>
                        <a:rPr lang="en-US" sz="1350" dirty="0">
                          <a:solidFill>
                            <a:srgbClr val="0B1F33"/>
                          </a:solidFill>
                          <a:latin typeface="Aptos" pitchFamily="34" charset="0"/>
                          <a:ea typeface="Aptos" pitchFamily="34" charset="-122"/>
                          <a:cs typeface="Aptos" pitchFamily="34" charset="-120"/>
                        </a:rPr>
                        <a:t>Gaussian Naive Bayes</a:t>
                      </a:r>
                      <a:endParaRPr lang="en-US" sz="1350" dirty="0">
                        <a:latin typeface="Aptos" charset="0"/>
                        <a:ea typeface="Aptos" charset="0"/>
                        <a:cs typeface="Aptos" charset="0"/>
                      </a:endParaRPr>
                    </a:p>
                  </a:txBody>
                  <a:tcPr marL="45720" marR="45720">
                    <a:lnL w="10160" cap="flat" cmpd="sng" algn="ctr">
                      <a:solidFill>
                        <a:srgbClr val="334155"/>
                      </a:solidFill>
                      <a:prstDash val="solid"/>
                      <a:round/>
                      <a:headEnd type="none" w="med" len="med"/>
                      <a:tailEnd type="none" w="med" len="med"/>
                    </a:lnL>
                    <a:lnR w="10160" cap="flat" cmpd="sng" algn="ctr">
                      <a:solidFill>
                        <a:srgbClr val="334155"/>
                      </a:solidFill>
                      <a:prstDash val="solid"/>
                      <a:round/>
                      <a:headEnd type="none" w="med" len="med"/>
                      <a:tailEnd type="none" w="med" len="med"/>
                    </a:lnR>
                    <a:lnT w="10160" cap="flat" cmpd="sng" algn="ctr">
                      <a:solidFill>
                        <a:srgbClr val="334155"/>
                      </a:solidFill>
                      <a:prstDash val="solid"/>
                      <a:round/>
                      <a:headEnd type="none" w="med" len="med"/>
                      <a:tailEnd type="none" w="med" len="med"/>
                    </a:lnT>
                    <a:lnB w="10160" cap="flat" cmpd="sng" algn="ctr">
                      <a:solidFill>
                        <a:srgbClr val="334155"/>
                      </a:solidFill>
                      <a:prstDash val="solid"/>
                      <a:round/>
                      <a:headEnd type="none" w="med" len="med"/>
                      <a:tailEnd type="none" w="med" len="med"/>
                    </a:lnB>
                  </a:tcPr>
                </a:tc>
                <a:tc>
                  <a:txBody>
                    <a:bodyPr/>
                    <a:lstStyle/>
                    <a:p>
                      <a:pPr marL="0" indent="0" algn="ctr">
                        <a:buNone/>
                      </a:pPr>
                      <a:r>
                        <a:rPr lang="en-US" sz="1350" dirty="0">
                          <a:solidFill>
                            <a:srgbClr val="0B1F33"/>
                          </a:solidFill>
                          <a:latin typeface="Aptos" pitchFamily="34" charset="0"/>
                          <a:ea typeface="Aptos" pitchFamily="34" charset="-122"/>
                          <a:cs typeface="Aptos" pitchFamily="34" charset="-120"/>
                        </a:rPr>
                        <a:t>99.96%</a:t>
                      </a:r>
                      <a:endParaRPr lang="en-US" sz="1350" dirty="0">
                        <a:latin typeface="Aptos" charset="0"/>
                        <a:ea typeface="Aptos" charset="0"/>
                        <a:cs typeface="Aptos" charset="0"/>
                      </a:endParaRPr>
                    </a:p>
                  </a:txBody>
                  <a:tcPr marL="45720" marR="45720">
                    <a:lnL w="10160" cap="flat" cmpd="sng" algn="ctr">
                      <a:solidFill>
                        <a:srgbClr val="334155"/>
                      </a:solidFill>
                      <a:prstDash val="solid"/>
                      <a:round/>
                      <a:headEnd type="none" w="med" len="med"/>
                      <a:tailEnd type="none" w="med" len="med"/>
                    </a:lnL>
                    <a:lnR w="10160" cap="flat" cmpd="sng" algn="ctr">
                      <a:solidFill>
                        <a:srgbClr val="334155"/>
                      </a:solidFill>
                      <a:prstDash val="solid"/>
                      <a:round/>
                      <a:headEnd type="none" w="med" len="med"/>
                      <a:tailEnd type="none" w="med" len="med"/>
                    </a:lnR>
                    <a:lnT w="10160" cap="flat" cmpd="sng" algn="ctr">
                      <a:solidFill>
                        <a:srgbClr val="334155"/>
                      </a:solidFill>
                      <a:prstDash val="solid"/>
                      <a:round/>
                      <a:headEnd type="none" w="med" len="med"/>
                      <a:tailEnd type="none" w="med" len="med"/>
                    </a:lnT>
                    <a:lnB w="10160" cap="flat" cmpd="sng" algn="ctr">
                      <a:solidFill>
                        <a:srgbClr val="334155"/>
                      </a:solidFill>
                      <a:prstDash val="solid"/>
                      <a:round/>
                      <a:headEnd type="none" w="med" len="med"/>
                      <a:tailEnd type="none" w="med" len="med"/>
                    </a:lnB>
                  </a:tcPr>
                </a:tc>
                <a:tc>
                  <a:txBody>
                    <a:bodyPr/>
                    <a:lstStyle/>
                    <a:p>
                      <a:pPr marL="0" indent="0" algn="ctr">
                        <a:buNone/>
                      </a:pPr>
                      <a:r>
                        <a:rPr lang="en-US" sz="1350" dirty="0">
                          <a:solidFill>
                            <a:srgbClr val="0B1F33"/>
                          </a:solidFill>
                          <a:latin typeface="Aptos" pitchFamily="34" charset="0"/>
                          <a:ea typeface="Aptos" pitchFamily="34" charset="-122"/>
                          <a:cs typeface="Aptos" pitchFamily="34" charset="-120"/>
                        </a:rPr>
                        <a:t>100%</a:t>
                      </a:r>
                      <a:endParaRPr lang="en-US" sz="1350" dirty="0">
                        <a:latin typeface="Aptos" charset="0"/>
                        <a:ea typeface="Aptos" charset="0"/>
                        <a:cs typeface="Aptos" charset="0"/>
                      </a:endParaRPr>
                    </a:p>
                  </a:txBody>
                  <a:tcPr marL="45720" marR="45720">
                    <a:lnL w="10160" cap="flat" cmpd="sng" algn="ctr">
                      <a:solidFill>
                        <a:srgbClr val="334155"/>
                      </a:solidFill>
                      <a:prstDash val="solid"/>
                      <a:round/>
                      <a:headEnd type="none" w="med" len="med"/>
                      <a:tailEnd type="none" w="med" len="med"/>
                    </a:lnL>
                    <a:lnR w="10160" cap="flat" cmpd="sng" algn="ctr">
                      <a:solidFill>
                        <a:srgbClr val="334155"/>
                      </a:solidFill>
                      <a:prstDash val="solid"/>
                      <a:round/>
                      <a:headEnd type="none" w="med" len="med"/>
                      <a:tailEnd type="none" w="med" len="med"/>
                    </a:lnR>
                    <a:lnT w="10160" cap="flat" cmpd="sng" algn="ctr">
                      <a:solidFill>
                        <a:srgbClr val="334155"/>
                      </a:solidFill>
                      <a:prstDash val="solid"/>
                      <a:round/>
                      <a:headEnd type="none" w="med" len="med"/>
                      <a:tailEnd type="none" w="med" len="med"/>
                    </a:lnT>
                    <a:lnB w="10160" cap="flat" cmpd="sng" algn="ctr">
                      <a:solidFill>
                        <a:srgbClr val="334155"/>
                      </a:solidFill>
                      <a:prstDash val="solid"/>
                      <a:round/>
                      <a:headEnd type="none" w="med" len="med"/>
                      <a:tailEnd type="none" w="med" len="med"/>
                    </a:lnB>
                  </a:tcPr>
                </a:tc>
                <a:extLst>
                  <a:ext uri="{0D108BD9-81ED-4DB2-BD59-A6C34878D82A}">
                    <a16:rowId xmlns:a16="http://schemas.microsoft.com/office/drawing/2014/main" val="10006"/>
                  </a:ext>
                </a:extLst>
              </a:tr>
              <a:tr h="475488">
                <a:tc>
                  <a:txBody>
                    <a:bodyPr/>
                    <a:lstStyle/>
                    <a:p>
                      <a:pPr marL="0" indent="0" algn="ctr">
                        <a:buNone/>
                      </a:pPr>
                      <a:r>
                        <a:rPr lang="en-US" sz="1350" b="1" dirty="0">
                          <a:solidFill>
                            <a:srgbClr val="DC2626"/>
                          </a:solidFill>
                          <a:latin typeface="Aptos" pitchFamily="34" charset="0"/>
                          <a:ea typeface="Aptos" pitchFamily="34" charset="-122"/>
                          <a:cs typeface="Aptos" pitchFamily="34" charset="-120"/>
                        </a:rPr>
                        <a:t>7.</a:t>
                      </a:r>
                      <a:endParaRPr lang="en-US" sz="1350" dirty="0">
                        <a:latin typeface="Aptos" charset="0"/>
                        <a:ea typeface="Aptos" charset="0"/>
                        <a:cs typeface="Aptos" charset="0"/>
                      </a:endParaRPr>
                    </a:p>
                  </a:txBody>
                  <a:tcPr marL="45720" marR="45720">
                    <a:lnL w="10160" cap="flat" cmpd="sng" algn="ctr">
                      <a:solidFill>
                        <a:srgbClr val="334155"/>
                      </a:solidFill>
                      <a:prstDash val="solid"/>
                      <a:round/>
                      <a:headEnd type="none" w="med" len="med"/>
                      <a:tailEnd type="none" w="med" len="med"/>
                    </a:lnL>
                    <a:lnR w="10160" cap="flat" cmpd="sng" algn="ctr">
                      <a:solidFill>
                        <a:srgbClr val="334155"/>
                      </a:solidFill>
                      <a:prstDash val="solid"/>
                      <a:round/>
                      <a:headEnd type="none" w="med" len="med"/>
                      <a:tailEnd type="none" w="med" len="med"/>
                    </a:lnR>
                    <a:lnT w="10160" cap="flat" cmpd="sng" algn="ctr">
                      <a:solidFill>
                        <a:srgbClr val="334155"/>
                      </a:solidFill>
                      <a:prstDash val="solid"/>
                      <a:round/>
                      <a:headEnd type="none" w="med" len="med"/>
                      <a:tailEnd type="none" w="med" len="med"/>
                    </a:lnT>
                    <a:lnB w="10160" cap="flat" cmpd="sng" algn="ctr">
                      <a:solidFill>
                        <a:srgbClr val="334155"/>
                      </a:solidFill>
                      <a:prstDash val="solid"/>
                      <a:round/>
                      <a:headEnd type="none" w="med" len="med"/>
                      <a:tailEnd type="none" w="med" len="med"/>
                    </a:lnB>
                  </a:tcPr>
                </a:tc>
                <a:tc>
                  <a:txBody>
                    <a:bodyPr/>
                    <a:lstStyle/>
                    <a:p>
                      <a:pPr marL="0" indent="0" algn="ctr">
                        <a:buNone/>
                      </a:pPr>
                      <a:r>
                        <a:rPr lang="en-US" sz="1350" b="1" dirty="0">
                          <a:solidFill>
                            <a:srgbClr val="DC2626"/>
                          </a:solidFill>
                          <a:latin typeface="Aptos" pitchFamily="34" charset="0"/>
                          <a:ea typeface="Aptos" pitchFamily="34" charset="-122"/>
                          <a:cs typeface="Aptos" pitchFamily="34" charset="-120"/>
                        </a:rPr>
                        <a:t>Random Forest Classifier*</a:t>
                      </a:r>
                      <a:endParaRPr lang="en-US" sz="1350" dirty="0">
                        <a:latin typeface="Aptos" charset="0"/>
                        <a:ea typeface="Aptos" charset="0"/>
                        <a:cs typeface="Aptos" charset="0"/>
                      </a:endParaRPr>
                    </a:p>
                  </a:txBody>
                  <a:tcPr marL="45720" marR="45720">
                    <a:lnL w="10160" cap="flat" cmpd="sng" algn="ctr">
                      <a:solidFill>
                        <a:srgbClr val="334155"/>
                      </a:solidFill>
                      <a:prstDash val="solid"/>
                      <a:round/>
                      <a:headEnd type="none" w="med" len="med"/>
                      <a:tailEnd type="none" w="med" len="med"/>
                    </a:lnL>
                    <a:lnR w="10160" cap="flat" cmpd="sng" algn="ctr">
                      <a:solidFill>
                        <a:srgbClr val="334155"/>
                      </a:solidFill>
                      <a:prstDash val="solid"/>
                      <a:round/>
                      <a:headEnd type="none" w="med" len="med"/>
                      <a:tailEnd type="none" w="med" len="med"/>
                    </a:lnR>
                    <a:lnT w="10160" cap="flat" cmpd="sng" algn="ctr">
                      <a:solidFill>
                        <a:srgbClr val="334155"/>
                      </a:solidFill>
                      <a:prstDash val="solid"/>
                      <a:round/>
                      <a:headEnd type="none" w="med" len="med"/>
                      <a:tailEnd type="none" w="med" len="med"/>
                    </a:lnT>
                    <a:lnB w="10160" cap="flat" cmpd="sng" algn="ctr">
                      <a:solidFill>
                        <a:srgbClr val="334155"/>
                      </a:solidFill>
                      <a:prstDash val="solid"/>
                      <a:round/>
                      <a:headEnd type="none" w="med" len="med"/>
                      <a:tailEnd type="none" w="med" len="med"/>
                    </a:lnB>
                  </a:tcPr>
                </a:tc>
                <a:tc>
                  <a:txBody>
                    <a:bodyPr/>
                    <a:lstStyle/>
                    <a:p>
                      <a:pPr marL="0" indent="0" algn="ctr">
                        <a:buNone/>
                      </a:pPr>
                      <a:r>
                        <a:rPr lang="en-US" sz="1350" b="1" dirty="0">
                          <a:solidFill>
                            <a:srgbClr val="DC2626"/>
                          </a:solidFill>
                          <a:latin typeface="Aptos" pitchFamily="34" charset="0"/>
                          <a:ea typeface="Aptos" pitchFamily="34" charset="-122"/>
                          <a:cs typeface="Aptos" pitchFamily="34" charset="-120"/>
                        </a:rPr>
                        <a:t>100%</a:t>
                      </a:r>
                      <a:endParaRPr lang="en-US" sz="1350" dirty="0">
                        <a:latin typeface="Aptos" charset="0"/>
                        <a:ea typeface="Aptos" charset="0"/>
                        <a:cs typeface="Aptos" charset="0"/>
                      </a:endParaRPr>
                    </a:p>
                  </a:txBody>
                  <a:tcPr marL="45720" marR="45720">
                    <a:lnL w="10160" cap="flat" cmpd="sng" algn="ctr">
                      <a:solidFill>
                        <a:srgbClr val="334155"/>
                      </a:solidFill>
                      <a:prstDash val="solid"/>
                      <a:round/>
                      <a:headEnd type="none" w="med" len="med"/>
                      <a:tailEnd type="none" w="med" len="med"/>
                    </a:lnL>
                    <a:lnR w="10160" cap="flat" cmpd="sng" algn="ctr">
                      <a:solidFill>
                        <a:srgbClr val="334155"/>
                      </a:solidFill>
                      <a:prstDash val="solid"/>
                      <a:round/>
                      <a:headEnd type="none" w="med" len="med"/>
                      <a:tailEnd type="none" w="med" len="med"/>
                    </a:lnR>
                    <a:lnT w="10160" cap="flat" cmpd="sng" algn="ctr">
                      <a:solidFill>
                        <a:srgbClr val="334155"/>
                      </a:solidFill>
                      <a:prstDash val="solid"/>
                      <a:round/>
                      <a:headEnd type="none" w="med" len="med"/>
                      <a:tailEnd type="none" w="med" len="med"/>
                    </a:lnT>
                    <a:lnB w="10160" cap="flat" cmpd="sng" algn="ctr">
                      <a:solidFill>
                        <a:srgbClr val="334155"/>
                      </a:solidFill>
                      <a:prstDash val="solid"/>
                      <a:round/>
                      <a:headEnd type="none" w="med" len="med"/>
                      <a:tailEnd type="none" w="med" len="med"/>
                    </a:lnB>
                  </a:tcPr>
                </a:tc>
                <a:tc>
                  <a:txBody>
                    <a:bodyPr/>
                    <a:lstStyle/>
                    <a:p>
                      <a:pPr marL="0" indent="0" algn="ctr">
                        <a:buNone/>
                      </a:pPr>
                      <a:r>
                        <a:rPr lang="en-US" sz="1350" b="1" dirty="0">
                          <a:solidFill>
                            <a:srgbClr val="DC2626"/>
                          </a:solidFill>
                          <a:latin typeface="Aptos" pitchFamily="34" charset="0"/>
                          <a:ea typeface="Aptos" pitchFamily="34" charset="-122"/>
                          <a:cs typeface="Aptos" pitchFamily="34" charset="-120"/>
                        </a:rPr>
                        <a:t>100%</a:t>
                      </a:r>
                      <a:endParaRPr lang="en-US" sz="1350" dirty="0">
                        <a:latin typeface="Aptos" charset="0"/>
                        <a:ea typeface="Aptos" charset="0"/>
                        <a:cs typeface="Aptos" charset="0"/>
                      </a:endParaRPr>
                    </a:p>
                  </a:txBody>
                  <a:tcPr marL="45720" marR="45720">
                    <a:lnL w="10160" cap="flat" cmpd="sng" algn="ctr">
                      <a:solidFill>
                        <a:srgbClr val="334155"/>
                      </a:solidFill>
                      <a:prstDash val="solid"/>
                      <a:round/>
                      <a:headEnd type="none" w="med" len="med"/>
                      <a:tailEnd type="none" w="med" len="med"/>
                    </a:lnL>
                    <a:lnR w="10160" cap="flat" cmpd="sng" algn="ctr">
                      <a:solidFill>
                        <a:srgbClr val="334155"/>
                      </a:solidFill>
                      <a:prstDash val="solid"/>
                      <a:round/>
                      <a:headEnd type="none" w="med" len="med"/>
                      <a:tailEnd type="none" w="med" len="med"/>
                    </a:lnR>
                    <a:lnT w="10160" cap="flat" cmpd="sng" algn="ctr">
                      <a:solidFill>
                        <a:srgbClr val="334155"/>
                      </a:solidFill>
                      <a:prstDash val="solid"/>
                      <a:round/>
                      <a:headEnd type="none" w="med" len="med"/>
                      <a:tailEnd type="none" w="med" len="med"/>
                    </a:lnT>
                    <a:lnB w="10160" cap="flat" cmpd="sng" algn="ctr">
                      <a:solidFill>
                        <a:srgbClr val="334155"/>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8" name="Text 5"/>
          <p:cNvSpPr/>
          <p:nvPr/>
        </p:nvSpPr>
        <p:spPr>
          <a:xfrm>
            <a:off x="658368" y="5650992"/>
            <a:ext cx="10881360" cy="502920"/>
          </a:xfrm>
          <a:prstGeom prst="rect">
            <a:avLst/>
          </a:prstGeom>
          <a:noFill/>
          <a:ln/>
        </p:spPr>
        <p:txBody>
          <a:bodyPr wrap="square" lIns="127" tIns="127" rIns="127" bIns="127" rtlCol="0" anchor="ctr">
            <a:normAutofit/>
          </a:bodyPr>
          <a:lstStyle/>
          <a:p>
            <a:pPr marL="0" indent="0">
              <a:buNone/>
            </a:pPr>
            <a:r>
              <a:rPr lang="en-US" sz="1200" i="1" dirty="0">
                <a:solidFill>
                  <a:srgbClr val="475569"/>
                </a:solidFill>
                <a:latin typeface="Aptos" pitchFamily="34" charset="0"/>
                <a:ea typeface="Aptos" pitchFamily="34" charset="-122"/>
                <a:cs typeface="Aptos" pitchFamily="34" charset="-120"/>
              </a:rPr>
              <a:t>Note: RFC gives 100% training and testing accuracy, since there is no way of explaining the high accuracy, there is a need to feature engineer the dataset and add weights to existing features for a more robust prediction of the two well performing models.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F766E"/>
          </a:solidFill>
          <a:ln w="12700">
            <a:solidFill>
              <a:srgbClr val="0F766E"/>
            </a:solidFill>
            <a:prstDash val="solid"/>
          </a:ln>
        </p:spPr>
      </p:sp>
      <p:sp>
        <p:nvSpPr>
          <p:cNvPr id="3" name="Shape 1"/>
          <p:cNvSpPr/>
          <p:nvPr/>
        </p:nvSpPr>
        <p:spPr>
          <a:xfrm>
            <a:off x="0" y="146304"/>
            <a:ext cx="12191695" cy="45720"/>
          </a:xfrm>
          <a:prstGeom prst="rect">
            <a:avLst/>
          </a:prstGeom>
          <a:solidFill>
            <a:srgbClr val="1E3A8A">
              <a:alpha val="80000"/>
            </a:srgbClr>
          </a:solidFill>
          <a:ln w="12700">
            <a:solidFill>
              <a:srgbClr val="1E3A8A">
                <a:alpha val="0"/>
              </a:srgbClr>
            </a:solidFill>
            <a:prstDash val="solid"/>
          </a:ln>
        </p:spPr>
      </p:sp>
      <p:sp>
        <p:nvSpPr>
          <p:cNvPr id="4" name="Text 2"/>
          <p:cNvSpPr/>
          <p:nvPr/>
        </p:nvSpPr>
        <p:spPr>
          <a:xfrm>
            <a:off x="502920" y="384048"/>
            <a:ext cx="11155680" cy="502920"/>
          </a:xfrm>
          <a:prstGeom prst="rect">
            <a:avLst/>
          </a:prstGeom>
          <a:noFill/>
          <a:ln/>
        </p:spPr>
        <p:txBody>
          <a:bodyPr wrap="square" lIns="0" tIns="0" rIns="0" bIns="0" rtlCol="0" anchor="ctr">
            <a:normAutofit/>
          </a:bodyPr>
          <a:lstStyle/>
          <a:p>
            <a:pPr marL="0" indent="0">
              <a:buNone/>
            </a:pPr>
            <a:r>
              <a:rPr lang="en-US" sz="3000" b="1" dirty="0">
                <a:solidFill>
                  <a:srgbClr val="0B1F33"/>
                </a:solidFill>
                <a:latin typeface="Aptos Display" pitchFamily="34" charset="0"/>
                <a:ea typeface="Aptos Display" pitchFamily="34" charset="-122"/>
                <a:cs typeface="Aptos Display" pitchFamily="34" charset="-120"/>
              </a:rPr>
              <a:t>Conclusion and Future Work</a:t>
            </a:r>
            <a:endParaRPr lang="en-US" sz="3000" dirty="0"/>
          </a:p>
        </p:txBody>
      </p:sp>
      <p:sp>
        <p:nvSpPr>
          <p:cNvPr id="5" name="Shape 3"/>
          <p:cNvSpPr/>
          <p:nvPr/>
        </p:nvSpPr>
        <p:spPr>
          <a:xfrm>
            <a:off x="502920" y="960120"/>
            <a:ext cx="2103120" cy="0"/>
          </a:xfrm>
          <a:prstGeom prst="line">
            <a:avLst/>
          </a:prstGeom>
          <a:noFill/>
          <a:ln w="12700">
            <a:solidFill>
              <a:srgbClr val="14B8A6"/>
            </a:solidFill>
            <a:prstDash val="solid"/>
          </a:ln>
        </p:spPr>
      </p:sp>
      <p:sp>
        <p:nvSpPr>
          <p:cNvPr id="6" name="Text 4"/>
          <p:cNvSpPr/>
          <p:nvPr/>
        </p:nvSpPr>
        <p:spPr>
          <a:xfrm>
            <a:off x="11475720" y="6446520"/>
            <a:ext cx="320040" cy="182880"/>
          </a:xfrm>
          <a:prstGeom prst="rect">
            <a:avLst/>
          </a:prstGeom>
          <a:noFill/>
          <a:ln/>
        </p:spPr>
        <p:txBody>
          <a:bodyPr wrap="square" lIns="0" tIns="0" rIns="0" bIns="0" rtlCol="0" anchor="ctr"/>
          <a:lstStyle/>
          <a:p>
            <a:pPr marL="0" indent="0" algn="r">
              <a:buNone/>
            </a:pPr>
            <a:r>
              <a:rPr lang="en-US" sz="900" dirty="0">
                <a:solidFill>
                  <a:srgbClr val="64748B"/>
                </a:solidFill>
                <a:latin typeface="Aptos" pitchFamily="34" charset="0"/>
                <a:ea typeface="Aptos" pitchFamily="34" charset="-122"/>
                <a:cs typeface="Aptos" pitchFamily="34" charset="-120"/>
              </a:rPr>
              <a:t>16</a:t>
            </a:r>
            <a:endParaRPr lang="en-US" sz="900" dirty="0"/>
          </a:p>
        </p:txBody>
      </p:sp>
      <p:sp>
        <p:nvSpPr>
          <p:cNvPr id="7" name="Shape 5"/>
          <p:cNvSpPr/>
          <p:nvPr/>
        </p:nvSpPr>
        <p:spPr>
          <a:xfrm>
            <a:off x="685800" y="1280160"/>
            <a:ext cx="10881360" cy="4937760"/>
          </a:xfrm>
          <a:prstGeom prst="roundRect">
            <a:avLst>
              <a:gd name="adj" fmla="val 1481"/>
            </a:avLst>
          </a:prstGeom>
          <a:solidFill>
            <a:srgbClr val="FFFFFF"/>
          </a:solidFill>
          <a:ln w="12700">
            <a:solidFill>
              <a:srgbClr val="E2E8F0"/>
            </a:solidFill>
            <a:prstDash val="solid"/>
          </a:ln>
          <a:effectLst>
            <a:outerShdw blurRad="12700" dist="50800" dir="2700000" algn="bl" rotWithShape="0">
              <a:srgbClr val="000000">
                <a:alpha val="10000"/>
              </a:srgbClr>
            </a:outerShdw>
          </a:effectLst>
        </p:spPr>
      </p:sp>
      <p:sp>
        <p:nvSpPr>
          <p:cNvPr id="8" name="Shape 6"/>
          <p:cNvSpPr/>
          <p:nvPr/>
        </p:nvSpPr>
        <p:spPr>
          <a:xfrm>
            <a:off x="960120" y="1664208"/>
            <a:ext cx="109728" cy="109728"/>
          </a:xfrm>
          <a:prstGeom prst="rect">
            <a:avLst/>
          </a:prstGeom>
          <a:solidFill>
            <a:srgbClr val="0F766E"/>
          </a:solidFill>
          <a:ln w="12700">
            <a:solidFill>
              <a:srgbClr val="0F766E"/>
            </a:solidFill>
            <a:prstDash val="solid"/>
          </a:ln>
        </p:spPr>
      </p:sp>
      <p:sp>
        <p:nvSpPr>
          <p:cNvPr id="9" name="Text 7"/>
          <p:cNvSpPr/>
          <p:nvPr/>
        </p:nvSpPr>
        <p:spPr>
          <a:xfrm>
            <a:off x="1216152" y="1600200"/>
            <a:ext cx="10058400" cy="502920"/>
          </a:xfrm>
          <a:prstGeom prst="rect">
            <a:avLst/>
          </a:prstGeom>
          <a:noFill/>
          <a:ln/>
        </p:spPr>
        <p:txBody>
          <a:bodyPr wrap="square" lIns="127" tIns="127" rIns="127" bIns="127" rtlCol="0" anchor="t">
            <a:normAutofit/>
          </a:bodyPr>
          <a:lstStyle/>
          <a:p>
            <a:pPr marL="0" indent="0">
              <a:buNone/>
            </a:pPr>
            <a:r>
              <a:rPr lang="en-US" sz="1600" dirty="0">
                <a:solidFill>
                  <a:srgbClr val="0B1F33"/>
                </a:solidFill>
                <a:latin typeface="Aptos" pitchFamily="34" charset="0"/>
                <a:ea typeface="Aptos" pitchFamily="34" charset="-122"/>
                <a:cs typeface="Aptos" pitchFamily="34" charset="-120"/>
              </a:rPr>
              <a:t>After conducting extensive literature review and following a proper project lifecycle, we have achieved the following goals:</a:t>
            </a:r>
            <a:endParaRPr lang="en-US" sz="1600" dirty="0"/>
          </a:p>
        </p:txBody>
      </p:sp>
      <p:sp>
        <p:nvSpPr>
          <p:cNvPr id="10" name="Text 8"/>
          <p:cNvSpPr/>
          <p:nvPr/>
        </p:nvSpPr>
        <p:spPr>
          <a:xfrm>
            <a:off x="1508760" y="2240280"/>
            <a:ext cx="9509760" cy="1234440"/>
          </a:xfrm>
          <a:prstGeom prst="rect">
            <a:avLst/>
          </a:prstGeom>
          <a:noFill/>
          <a:ln/>
        </p:spPr>
        <p:txBody>
          <a:bodyPr wrap="square" lIns="127" tIns="127" rIns="127" bIns="127" rtlCol="0" anchor="ctr">
            <a:normAutofit/>
          </a:bodyPr>
          <a:lstStyle/>
          <a:p>
            <a:pPr marL="0" indent="0">
              <a:buNone/>
            </a:pPr>
            <a:r>
              <a:rPr lang="en-US" sz="1500" dirty="0">
                <a:solidFill>
                  <a:srgbClr val="0B1F33"/>
                </a:solidFill>
                <a:latin typeface="Aptos" pitchFamily="34" charset="0"/>
                <a:ea typeface="Aptos" pitchFamily="34" charset="-122"/>
                <a:cs typeface="Aptos" pitchFamily="34" charset="-120"/>
              </a:rPr>
              <a:t>▪ Create a model by combining datasets of psychological traits and proficiency in technological skills</a:t>
            </a:r>
            <a:endParaRPr lang="en-US" sz="1500" dirty="0"/>
          </a:p>
          <a:p>
            <a:pPr marL="0" indent="0">
              <a:buNone/>
            </a:pPr>
            <a:r>
              <a:rPr lang="en-US" sz="1500" dirty="0">
                <a:solidFill>
                  <a:srgbClr val="0B1F33"/>
                </a:solidFill>
                <a:latin typeface="Aptos" pitchFamily="34" charset="0"/>
                <a:ea typeface="Aptos" pitchFamily="34" charset="-122"/>
                <a:cs typeface="Aptos" pitchFamily="34" charset="-120"/>
              </a:rPr>
              <a:t>▪ Apply Machine Learning models to predict the career of an individual in the field of Computer Science.</a:t>
            </a:r>
            <a:endParaRPr lang="en-US" sz="1500" dirty="0"/>
          </a:p>
          <a:p>
            <a:pPr marL="0" indent="0">
              <a:buNone/>
            </a:pPr>
            <a:r>
              <a:rPr lang="en-US" sz="1500" dirty="0">
                <a:solidFill>
                  <a:srgbClr val="0B1F33"/>
                </a:solidFill>
                <a:latin typeface="Aptos" pitchFamily="34" charset="0"/>
                <a:ea typeface="Aptos" pitchFamily="34" charset="-122"/>
                <a:cs typeface="Aptos" pitchFamily="34" charset="-120"/>
              </a:rPr>
              <a:t>▪ Deploy project on web with frontend</a:t>
            </a:r>
            <a:endParaRPr lang="en-US" sz="1500" dirty="0"/>
          </a:p>
        </p:txBody>
      </p:sp>
      <p:sp>
        <p:nvSpPr>
          <p:cNvPr id="11" name="Shape 9"/>
          <p:cNvSpPr/>
          <p:nvPr/>
        </p:nvSpPr>
        <p:spPr>
          <a:xfrm>
            <a:off x="960120" y="4041648"/>
            <a:ext cx="109728" cy="109728"/>
          </a:xfrm>
          <a:prstGeom prst="rect">
            <a:avLst/>
          </a:prstGeom>
          <a:solidFill>
            <a:srgbClr val="0F766E"/>
          </a:solidFill>
          <a:ln w="12700">
            <a:solidFill>
              <a:srgbClr val="0F766E"/>
            </a:solidFill>
            <a:prstDash val="solid"/>
          </a:ln>
        </p:spPr>
      </p:sp>
      <p:sp>
        <p:nvSpPr>
          <p:cNvPr id="12" name="Text 10"/>
          <p:cNvSpPr/>
          <p:nvPr/>
        </p:nvSpPr>
        <p:spPr>
          <a:xfrm>
            <a:off x="1216152" y="3977640"/>
            <a:ext cx="10058400" cy="594360"/>
          </a:xfrm>
          <a:prstGeom prst="rect">
            <a:avLst/>
          </a:prstGeom>
          <a:noFill/>
          <a:ln/>
        </p:spPr>
        <p:txBody>
          <a:bodyPr wrap="square" lIns="127" tIns="127" rIns="127" bIns="127" rtlCol="0" anchor="t">
            <a:normAutofit/>
          </a:bodyPr>
          <a:lstStyle/>
          <a:p>
            <a:pPr marL="0" indent="0">
              <a:buNone/>
            </a:pPr>
            <a:r>
              <a:rPr lang="en-US" sz="1600" dirty="0">
                <a:solidFill>
                  <a:srgbClr val="0B1F33"/>
                </a:solidFill>
                <a:latin typeface="Aptos" pitchFamily="34" charset="0"/>
                <a:ea typeface="Aptos" pitchFamily="34" charset="-122"/>
                <a:cs typeface="Aptos" pitchFamily="34" charset="-120"/>
              </a:rPr>
              <a:t>We plan to extend the scope of our project to include other factors in choosing careers: financial situation, preferences, social clauses etc.</a:t>
            </a:r>
            <a:endParaRPr lang="en-US" sz="1600" dirty="0"/>
          </a:p>
        </p:txBody>
      </p:sp>
      <p:sp>
        <p:nvSpPr>
          <p:cNvPr id="13" name="Shape 11"/>
          <p:cNvSpPr/>
          <p:nvPr/>
        </p:nvSpPr>
        <p:spPr>
          <a:xfrm>
            <a:off x="960120" y="4864608"/>
            <a:ext cx="109728" cy="109728"/>
          </a:xfrm>
          <a:prstGeom prst="rect">
            <a:avLst/>
          </a:prstGeom>
          <a:solidFill>
            <a:srgbClr val="0F766E"/>
          </a:solidFill>
          <a:ln w="12700">
            <a:solidFill>
              <a:srgbClr val="0F766E"/>
            </a:solidFill>
            <a:prstDash val="solid"/>
          </a:ln>
        </p:spPr>
      </p:sp>
      <p:sp>
        <p:nvSpPr>
          <p:cNvPr id="14" name="Text 12"/>
          <p:cNvSpPr/>
          <p:nvPr/>
        </p:nvSpPr>
        <p:spPr>
          <a:xfrm>
            <a:off x="1216152" y="4800600"/>
            <a:ext cx="10058400" cy="594360"/>
          </a:xfrm>
          <a:prstGeom prst="rect">
            <a:avLst/>
          </a:prstGeom>
          <a:noFill/>
          <a:ln/>
        </p:spPr>
        <p:txBody>
          <a:bodyPr wrap="square" lIns="127" tIns="127" rIns="127" bIns="127" rtlCol="0" anchor="t">
            <a:normAutofit/>
          </a:bodyPr>
          <a:lstStyle/>
          <a:p>
            <a:pPr marL="0" indent="0">
              <a:buNone/>
            </a:pPr>
            <a:r>
              <a:rPr lang="en-US" sz="1600" dirty="0">
                <a:solidFill>
                  <a:srgbClr val="0B1F33"/>
                </a:solidFill>
                <a:latin typeface="Aptos" pitchFamily="34" charset="0"/>
                <a:ea typeface="Aptos" pitchFamily="34" charset="-122"/>
                <a:cs typeface="Aptos" pitchFamily="34" charset="-120"/>
              </a:rPr>
              <a:t>In the current model, we only cater to roles in the field of computer science, but in future we wish to expand to other fields of study as well.</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F766E"/>
          </a:solidFill>
          <a:ln w="12700">
            <a:solidFill>
              <a:srgbClr val="0F766E"/>
            </a:solidFill>
            <a:prstDash val="solid"/>
          </a:ln>
        </p:spPr>
      </p:sp>
      <p:sp>
        <p:nvSpPr>
          <p:cNvPr id="3" name="Shape 1"/>
          <p:cNvSpPr/>
          <p:nvPr/>
        </p:nvSpPr>
        <p:spPr>
          <a:xfrm>
            <a:off x="0" y="146304"/>
            <a:ext cx="12191695" cy="45720"/>
          </a:xfrm>
          <a:prstGeom prst="rect">
            <a:avLst/>
          </a:prstGeom>
          <a:solidFill>
            <a:srgbClr val="1E3A8A">
              <a:alpha val="80000"/>
            </a:srgbClr>
          </a:solidFill>
          <a:ln w="12700">
            <a:solidFill>
              <a:srgbClr val="1E3A8A">
                <a:alpha val="0"/>
              </a:srgbClr>
            </a:solidFill>
            <a:prstDash val="solid"/>
          </a:ln>
        </p:spPr>
      </p:sp>
      <p:sp>
        <p:nvSpPr>
          <p:cNvPr id="4" name="Text 2"/>
          <p:cNvSpPr/>
          <p:nvPr/>
        </p:nvSpPr>
        <p:spPr>
          <a:xfrm>
            <a:off x="502920" y="384048"/>
            <a:ext cx="11155680" cy="502920"/>
          </a:xfrm>
          <a:prstGeom prst="rect">
            <a:avLst/>
          </a:prstGeom>
          <a:noFill/>
          <a:ln/>
        </p:spPr>
        <p:txBody>
          <a:bodyPr wrap="square" lIns="0" tIns="0" rIns="0" bIns="0" rtlCol="0" anchor="ctr">
            <a:normAutofit/>
          </a:bodyPr>
          <a:lstStyle/>
          <a:p>
            <a:pPr marL="0" indent="0">
              <a:buNone/>
            </a:pPr>
            <a:r>
              <a:rPr lang="en-US" sz="3000" b="1" dirty="0">
                <a:solidFill>
                  <a:srgbClr val="0B1F33"/>
                </a:solidFill>
                <a:latin typeface="Aptos Display" pitchFamily="34" charset="0"/>
                <a:ea typeface="Aptos Display" pitchFamily="34" charset="-122"/>
                <a:cs typeface="Aptos Display" pitchFamily="34" charset="-120"/>
              </a:rPr>
              <a:t>Model Inference Demonstration</a:t>
            </a:r>
            <a:endParaRPr lang="en-US" sz="3000" dirty="0"/>
          </a:p>
        </p:txBody>
      </p:sp>
      <p:sp>
        <p:nvSpPr>
          <p:cNvPr id="5" name="Shape 3"/>
          <p:cNvSpPr/>
          <p:nvPr/>
        </p:nvSpPr>
        <p:spPr>
          <a:xfrm>
            <a:off x="502920" y="960120"/>
            <a:ext cx="2103120" cy="0"/>
          </a:xfrm>
          <a:prstGeom prst="line">
            <a:avLst/>
          </a:prstGeom>
          <a:noFill/>
          <a:ln w="12700">
            <a:solidFill>
              <a:srgbClr val="14B8A6"/>
            </a:solidFill>
            <a:prstDash val="solid"/>
          </a:ln>
        </p:spPr>
      </p:sp>
      <p:sp>
        <p:nvSpPr>
          <p:cNvPr id="6" name="Text 4"/>
          <p:cNvSpPr/>
          <p:nvPr/>
        </p:nvSpPr>
        <p:spPr>
          <a:xfrm>
            <a:off x="11475720" y="6446520"/>
            <a:ext cx="320040" cy="182880"/>
          </a:xfrm>
          <a:prstGeom prst="rect">
            <a:avLst/>
          </a:prstGeom>
          <a:noFill/>
          <a:ln/>
        </p:spPr>
        <p:txBody>
          <a:bodyPr wrap="square" lIns="0" tIns="0" rIns="0" bIns="0" rtlCol="0" anchor="ctr"/>
          <a:lstStyle/>
          <a:p>
            <a:pPr marL="0" indent="0" algn="r">
              <a:buNone/>
            </a:pPr>
            <a:r>
              <a:rPr lang="en-US" sz="900" dirty="0">
                <a:solidFill>
                  <a:srgbClr val="64748B"/>
                </a:solidFill>
                <a:latin typeface="Aptos" pitchFamily="34" charset="0"/>
                <a:ea typeface="Aptos" pitchFamily="34" charset="-122"/>
                <a:cs typeface="Aptos" pitchFamily="34" charset="-120"/>
              </a:rPr>
              <a:t>17</a:t>
            </a:r>
            <a:endParaRPr lang="en-US" sz="900" dirty="0"/>
          </a:p>
        </p:txBody>
      </p:sp>
      <p:pic>
        <p:nvPicPr>
          <p:cNvPr id="7" name="Image 0" descr="/mnt/data/assets/computer_icon_p17.png"/>
          <p:cNvPicPr>
            <a:picLocks noChangeAspect="1"/>
          </p:cNvPicPr>
          <p:nvPr/>
        </p:nvPicPr>
        <p:blipFill>
          <a:blip r:embed="rId3"/>
          <a:stretch>
            <a:fillRect/>
          </a:stretch>
        </p:blipFill>
        <p:spPr>
          <a:xfrm>
            <a:off x="4439412" y="1298448"/>
            <a:ext cx="3374136" cy="1874520"/>
          </a:xfrm>
          <a:prstGeom prst="rect">
            <a:avLst/>
          </a:prstGeom>
        </p:spPr>
      </p:pic>
      <p:sp>
        <p:nvSpPr>
          <p:cNvPr id="8" name="Text 5"/>
          <p:cNvSpPr/>
          <p:nvPr/>
        </p:nvSpPr>
        <p:spPr>
          <a:xfrm>
            <a:off x="777240" y="3520440"/>
            <a:ext cx="10698480" cy="411480"/>
          </a:xfrm>
          <a:prstGeom prst="rect">
            <a:avLst/>
          </a:prstGeom>
          <a:noFill/>
          <a:ln/>
        </p:spPr>
        <p:txBody>
          <a:bodyPr wrap="square" lIns="0" tIns="0" rIns="0" bIns="0" rtlCol="0" anchor="ctr"/>
          <a:lstStyle/>
          <a:p>
            <a:pPr marL="0" indent="0" algn="ctr">
              <a:buNone/>
            </a:pPr>
            <a:r>
              <a:rPr lang="en-US" sz="2200" b="1" dirty="0">
                <a:solidFill>
                  <a:srgbClr val="0B1F33"/>
                </a:solidFill>
                <a:latin typeface="Aptos Display" pitchFamily="34" charset="0"/>
                <a:ea typeface="Aptos Display" pitchFamily="34" charset="-122"/>
                <a:cs typeface="Aptos Display" pitchFamily="34" charset="-120"/>
              </a:rPr>
              <a:t>Our Deployed Applications</a:t>
            </a:r>
            <a:endParaRPr lang="en-US" sz="2200" dirty="0"/>
          </a:p>
        </p:txBody>
      </p:sp>
      <p:sp>
        <p:nvSpPr>
          <p:cNvPr id="9" name="Shape 6"/>
          <p:cNvSpPr/>
          <p:nvPr/>
        </p:nvSpPr>
        <p:spPr>
          <a:xfrm>
            <a:off x="1005840" y="4343400"/>
            <a:ext cx="10195560" cy="1280160"/>
          </a:xfrm>
          <a:prstGeom prst="roundRect">
            <a:avLst>
              <a:gd name="adj" fmla="val 5714"/>
            </a:avLst>
          </a:prstGeom>
          <a:solidFill>
            <a:srgbClr val="FFFFFF"/>
          </a:solidFill>
          <a:ln w="12700">
            <a:solidFill>
              <a:srgbClr val="E2E8F0"/>
            </a:solidFill>
            <a:prstDash val="solid"/>
          </a:ln>
          <a:effectLst>
            <a:outerShdw blurRad="12700" dist="50800" dir="2700000" algn="bl" rotWithShape="0">
              <a:srgbClr val="000000">
                <a:alpha val="10000"/>
              </a:srgbClr>
            </a:outerShdw>
          </a:effectLst>
        </p:spPr>
      </p:sp>
      <p:sp>
        <p:nvSpPr>
          <p:cNvPr id="10" name="Text 7">
            <a:hlinkClick r:id="rId4"/>
          </p:cNvPr>
          <p:cNvSpPr/>
          <p:nvPr/>
        </p:nvSpPr>
        <p:spPr>
          <a:xfrm>
            <a:off x="1234440" y="4572000"/>
            <a:ext cx="9601200" cy="274320"/>
          </a:xfrm>
          <a:prstGeom prst="rect">
            <a:avLst/>
          </a:prstGeom>
          <a:noFill/>
          <a:ln/>
        </p:spPr>
        <p:txBody>
          <a:bodyPr wrap="square" lIns="254" tIns="254" rIns="254" bIns="254" rtlCol="0" anchor="ctr">
            <a:normAutofit/>
          </a:bodyPr>
          <a:lstStyle/>
          <a:p>
            <a:pPr marL="0" indent="0">
              <a:buNone/>
            </a:pPr>
            <a:r>
              <a:rPr lang="en-US" sz="1450" u="sng" dirty="0">
                <a:solidFill>
                  <a:srgbClr val="2563EB"/>
                </a:solidFill>
                <a:latin typeface="Aptos" pitchFamily="34" charset="0"/>
                <a:ea typeface="Aptos" pitchFamily="34" charset="-122"/>
                <a:cs typeface="Aptos" pitchFamily="34" charset="-120"/>
                <a:hlinkClick r:id="rId4">
                  <a:extLst>
                    <a:ext uri="{A12FA001-AC4F-418D-AE19-62706E023703}">
                      <ahyp:hlinkClr xmlns:ahyp="http://schemas.microsoft.com/office/drawing/2018/hyperlinkcolor" val="tx"/>
                    </a:ext>
                  </a:extLst>
                </a:hlinkClick>
              </a:rPr>
              <a:t>https://ai-career-guidance.onrender.com (Main)</a:t>
            </a:r>
            <a:endParaRPr lang="en-US" sz="1450" dirty="0"/>
          </a:p>
        </p:txBody>
      </p:sp>
      <p:sp>
        <p:nvSpPr>
          <p:cNvPr id="11" name="Text 8">
            <a:hlinkClick r:id="rId5"/>
          </p:cNvPr>
          <p:cNvSpPr/>
          <p:nvPr/>
        </p:nvSpPr>
        <p:spPr>
          <a:xfrm>
            <a:off x="1234440" y="5074920"/>
            <a:ext cx="9601200" cy="274320"/>
          </a:xfrm>
          <a:prstGeom prst="rect">
            <a:avLst/>
          </a:prstGeom>
          <a:noFill/>
          <a:ln/>
        </p:spPr>
        <p:txBody>
          <a:bodyPr wrap="square" lIns="254" tIns="254" rIns="254" bIns="254" rtlCol="0" anchor="ctr">
            <a:normAutofit/>
          </a:bodyPr>
          <a:lstStyle/>
          <a:p>
            <a:pPr marL="0" indent="0">
              <a:buNone/>
            </a:pPr>
            <a:r>
              <a:rPr lang="en-US" sz="1320" u="sng" dirty="0">
                <a:solidFill>
                  <a:srgbClr val="2563EB"/>
                </a:solidFill>
                <a:latin typeface="Aptos" pitchFamily="34" charset="0"/>
                <a:ea typeface="Aptos" pitchFamily="34" charset="-122"/>
                <a:cs typeface="Aptos" pitchFamily="34" charset="-120"/>
                <a:hlinkClick r:id="rId5">
                  <a:extLst>
                    <a:ext uri="{A12FA001-AC4F-418D-AE19-62706E023703}">
                      <ahyp:hlinkClr xmlns:ahyp="http://schemas.microsoft.com/office/drawing/2018/hyperlinkcolor" val="tx"/>
                    </a:ext>
                  </a:extLst>
                </a:hlinkClick>
              </a:rPr>
              <a:t>https://pipinstallarya-ai-career-guidance-system-app-streamlit-p-0raw5w.streamlit.app/ (Prototype)</a:t>
            </a:r>
            <a:endParaRPr lang="en-US" sz="132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F766E"/>
          </a:solidFill>
          <a:ln w="12700">
            <a:solidFill>
              <a:srgbClr val="0F766E"/>
            </a:solidFill>
            <a:prstDash val="solid"/>
          </a:ln>
        </p:spPr>
      </p:sp>
      <p:sp>
        <p:nvSpPr>
          <p:cNvPr id="3" name="Shape 1"/>
          <p:cNvSpPr/>
          <p:nvPr/>
        </p:nvSpPr>
        <p:spPr>
          <a:xfrm>
            <a:off x="0" y="146304"/>
            <a:ext cx="12191695" cy="45720"/>
          </a:xfrm>
          <a:prstGeom prst="rect">
            <a:avLst/>
          </a:prstGeom>
          <a:solidFill>
            <a:srgbClr val="1E3A8A">
              <a:alpha val="80000"/>
            </a:srgbClr>
          </a:solidFill>
          <a:ln w="12700">
            <a:solidFill>
              <a:srgbClr val="1E3A8A">
                <a:alpha val="0"/>
              </a:srgbClr>
            </a:solidFill>
            <a:prstDash val="solid"/>
          </a:ln>
        </p:spPr>
      </p:sp>
      <p:sp>
        <p:nvSpPr>
          <p:cNvPr id="4" name="Text 2"/>
          <p:cNvSpPr/>
          <p:nvPr/>
        </p:nvSpPr>
        <p:spPr>
          <a:xfrm>
            <a:off x="502920" y="384048"/>
            <a:ext cx="11155680" cy="502920"/>
          </a:xfrm>
          <a:prstGeom prst="rect">
            <a:avLst/>
          </a:prstGeom>
          <a:noFill/>
          <a:ln/>
        </p:spPr>
        <p:txBody>
          <a:bodyPr wrap="square" lIns="0" tIns="0" rIns="0" bIns="0" rtlCol="0" anchor="ctr">
            <a:normAutofit/>
          </a:bodyPr>
          <a:lstStyle/>
          <a:p>
            <a:pPr marL="0" indent="0">
              <a:buNone/>
            </a:pPr>
            <a:r>
              <a:rPr lang="en-US" sz="3000" b="1" dirty="0">
                <a:solidFill>
                  <a:srgbClr val="0B1F33"/>
                </a:solidFill>
                <a:latin typeface="Aptos Display" pitchFamily="34" charset="0"/>
                <a:ea typeface="Aptos Display" pitchFamily="34" charset="-122"/>
                <a:cs typeface="Aptos Display" pitchFamily="34" charset="-120"/>
              </a:rPr>
              <a:t>References</a:t>
            </a:r>
            <a:endParaRPr lang="en-US" sz="3000" dirty="0"/>
          </a:p>
        </p:txBody>
      </p:sp>
      <p:sp>
        <p:nvSpPr>
          <p:cNvPr id="5" name="Shape 3"/>
          <p:cNvSpPr/>
          <p:nvPr/>
        </p:nvSpPr>
        <p:spPr>
          <a:xfrm>
            <a:off x="502920" y="960120"/>
            <a:ext cx="2103120" cy="0"/>
          </a:xfrm>
          <a:prstGeom prst="line">
            <a:avLst/>
          </a:prstGeom>
          <a:noFill/>
          <a:ln w="12700">
            <a:solidFill>
              <a:srgbClr val="14B8A6"/>
            </a:solidFill>
            <a:prstDash val="solid"/>
          </a:ln>
        </p:spPr>
      </p:sp>
      <p:sp>
        <p:nvSpPr>
          <p:cNvPr id="6" name="Text 4"/>
          <p:cNvSpPr/>
          <p:nvPr/>
        </p:nvSpPr>
        <p:spPr>
          <a:xfrm>
            <a:off x="11475720" y="6446520"/>
            <a:ext cx="320040" cy="182880"/>
          </a:xfrm>
          <a:prstGeom prst="rect">
            <a:avLst/>
          </a:prstGeom>
          <a:noFill/>
          <a:ln/>
        </p:spPr>
        <p:txBody>
          <a:bodyPr wrap="square" lIns="0" tIns="0" rIns="0" bIns="0" rtlCol="0" anchor="ctr"/>
          <a:lstStyle/>
          <a:p>
            <a:pPr marL="0" indent="0" algn="r">
              <a:buNone/>
            </a:pPr>
            <a:r>
              <a:rPr lang="en-US" sz="900" dirty="0">
                <a:solidFill>
                  <a:srgbClr val="64748B"/>
                </a:solidFill>
                <a:latin typeface="Aptos" pitchFamily="34" charset="0"/>
                <a:ea typeface="Aptos" pitchFamily="34" charset="-122"/>
                <a:cs typeface="Aptos" pitchFamily="34" charset="-120"/>
              </a:rPr>
              <a:t>18</a:t>
            </a:r>
            <a:endParaRPr lang="en-US" sz="900" dirty="0"/>
          </a:p>
        </p:txBody>
      </p:sp>
      <p:sp>
        <p:nvSpPr>
          <p:cNvPr id="7" name="Shape 5"/>
          <p:cNvSpPr/>
          <p:nvPr/>
        </p:nvSpPr>
        <p:spPr>
          <a:xfrm>
            <a:off x="594360" y="1143000"/>
            <a:ext cx="11018520" cy="5257800"/>
          </a:xfrm>
          <a:prstGeom prst="roundRect">
            <a:avLst>
              <a:gd name="adj" fmla="val 1391"/>
            </a:avLst>
          </a:prstGeom>
          <a:solidFill>
            <a:srgbClr val="FFFFFF"/>
          </a:solidFill>
          <a:ln w="12700">
            <a:solidFill>
              <a:srgbClr val="E2E8F0"/>
            </a:solidFill>
            <a:prstDash val="solid"/>
          </a:ln>
          <a:effectLst>
            <a:outerShdw blurRad="12700" dist="50800" dir="2700000" algn="bl" rotWithShape="0">
              <a:srgbClr val="000000">
                <a:alpha val="10000"/>
              </a:srgbClr>
            </a:outerShdw>
          </a:effectLst>
        </p:spPr>
      </p:sp>
      <p:sp>
        <p:nvSpPr>
          <p:cNvPr id="8" name="Text 6"/>
          <p:cNvSpPr/>
          <p:nvPr/>
        </p:nvSpPr>
        <p:spPr>
          <a:xfrm>
            <a:off x="822960" y="1325880"/>
            <a:ext cx="10515600" cy="4846320"/>
          </a:xfrm>
          <a:prstGeom prst="rect">
            <a:avLst/>
          </a:prstGeom>
          <a:noFill/>
          <a:ln/>
        </p:spPr>
        <p:txBody>
          <a:bodyPr wrap="square" lIns="254" tIns="254" rIns="254" bIns="254" rtlCol="0" anchor="t">
            <a:normAutofit/>
          </a:bodyPr>
          <a:lstStyle/>
          <a:p>
            <a:pPr marL="0" indent="0">
              <a:buNone/>
            </a:pPr>
            <a:r>
              <a:rPr lang="en-US" sz="1100" dirty="0">
                <a:solidFill>
                  <a:srgbClr val="0B1F33"/>
                </a:solidFill>
                <a:latin typeface="Aptos" pitchFamily="34" charset="0"/>
                <a:ea typeface="Aptos" pitchFamily="34" charset="-122"/>
                <a:cs typeface="Aptos" pitchFamily="34" charset="-120"/>
              </a:rPr>
              <a:t>[1] Tayade, T., Akarte, R., Sorte, G., Tayade, R., Khodke, P. (2021). Data Mining Approach to Job Recommendation Systems. In: Raj, J.S. (eds) International Conference on Mobile Computing and Sustainable Informatics. ICMSI 2020. EAI/Springer Innovations in Communication and Computing. Springer, Cham.</a:t>
            </a:r>
            <a:endParaRPr lang="en-US" sz="1100" dirty="0"/>
          </a:p>
          <a:p>
            <a:pPr marL="0" indent="0">
              <a:buNone/>
            </a:pPr>
            <a:r>
              <a:rPr lang="en-US" sz="1100" dirty="0">
                <a:solidFill>
                  <a:srgbClr val="0B1F33"/>
                </a:solidFill>
                <a:latin typeface="Aptos" pitchFamily="34" charset="0"/>
                <a:ea typeface="Aptos" pitchFamily="34" charset="-122"/>
                <a:cs typeface="Aptos" pitchFamily="34" charset="-120"/>
              </a:rPr>
              <a:t>[2] R. Ajoodha, S. Dukhan and A. Jadhav, "Data-Driven Student Support for Academic Success by Developing Student Skill Profiles," 2020 2nd International Multidisciplinary Information Technology and Engineering Conference (IMITEC), 2020, pp. 1-8.</a:t>
            </a:r>
            <a:endParaRPr lang="en-US" sz="1100" dirty="0"/>
          </a:p>
          <a:p>
            <a:pPr marL="0" indent="0">
              <a:buNone/>
            </a:pPr>
            <a:r>
              <a:rPr lang="en-US" sz="1100" dirty="0">
                <a:solidFill>
                  <a:srgbClr val="0B1F33"/>
                </a:solidFill>
                <a:latin typeface="Aptos" pitchFamily="34" charset="0"/>
                <a:ea typeface="Aptos" pitchFamily="34" charset="-122"/>
                <a:cs typeface="Aptos" pitchFamily="34" charset="-120"/>
              </a:rPr>
              <a:t>[3] I. Dutta, A. Shah, M. M. Safa and K. Jayavel, "Building a Recommendation System for Career Advice for Students from Professionals," 2022 International Conference on Computer Communication and Informatics (ICCCI), 2022, pp. 1-10.</a:t>
            </a:r>
            <a:endParaRPr lang="en-US" sz="1100" dirty="0"/>
          </a:p>
          <a:p>
            <a:pPr marL="0" indent="0">
              <a:buNone/>
            </a:pPr>
            <a:r>
              <a:rPr lang="en-US" sz="1100" dirty="0">
                <a:solidFill>
                  <a:srgbClr val="0B1F33"/>
                </a:solidFill>
                <a:latin typeface="Aptos" pitchFamily="34" charset="0"/>
                <a:ea typeface="Aptos" pitchFamily="34" charset="-122"/>
                <a:cs typeface="Aptos" pitchFamily="34" charset="-120"/>
              </a:rPr>
              <a:t>[4] S. Vignesh, C. Shivani Priyanka, H. Shree Manju and K. Mythili, "An Intelligent Career Guidance System using Machine Learning," 2021 7th International Conference on Advanced Computing and Communication Systems (ICACCS), 2021, pp. 987-990.</a:t>
            </a:r>
            <a:endParaRPr lang="en-US" sz="1100" dirty="0"/>
          </a:p>
          <a:p>
            <a:pPr marL="0" indent="0">
              <a:buNone/>
            </a:pPr>
            <a:r>
              <a:rPr lang="en-US" sz="1100" dirty="0">
                <a:solidFill>
                  <a:srgbClr val="0B1F33"/>
                </a:solidFill>
                <a:latin typeface="Aptos" pitchFamily="34" charset="0"/>
                <a:ea typeface="Aptos" pitchFamily="34" charset="-122"/>
                <a:cs typeface="Aptos" pitchFamily="34" charset="-120"/>
              </a:rPr>
              <a:t>[5] J. Britto, S. Prabhu, A. Gawali and Y. Jadhav, "A Machine Learning Based Approach for Recommending Courses at Graduate Level," 2019 International Conference on Smart Systems and Inventive Technology (ICSSIT), 2019, pp. 117-121.</a:t>
            </a:r>
            <a:endParaRPr lang="en-US" sz="1100" dirty="0"/>
          </a:p>
          <a:p>
            <a:pPr marL="0" indent="0">
              <a:buNone/>
            </a:pPr>
            <a:r>
              <a:rPr lang="en-US" sz="1100" dirty="0">
                <a:solidFill>
                  <a:srgbClr val="0B1F33"/>
                </a:solidFill>
                <a:latin typeface="Aptos" pitchFamily="34" charset="0"/>
                <a:ea typeface="Aptos" pitchFamily="34" charset="-122"/>
                <a:cs typeface="Aptos" pitchFamily="34" charset="-120"/>
              </a:rPr>
              <a:t>[6] P. D. Schalk, D. P. Wick, P. R. Turner and M. W. Ramsdell, "Predictive assessment of student performance for early strategic guidance," 2011 Frontiers in Education Conference (FIE), 2011, pp. S2H-1-S2H-5.</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F766E"/>
          </a:solidFill>
          <a:ln w="12700">
            <a:solidFill>
              <a:srgbClr val="0F766E"/>
            </a:solidFill>
            <a:prstDash val="solid"/>
          </a:ln>
        </p:spPr>
      </p:sp>
      <p:sp>
        <p:nvSpPr>
          <p:cNvPr id="3" name="Shape 1"/>
          <p:cNvSpPr/>
          <p:nvPr/>
        </p:nvSpPr>
        <p:spPr>
          <a:xfrm>
            <a:off x="0" y="146304"/>
            <a:ext cx="12191695" cy="45720"/>
          </a:xfrm>
          <a:prstGeom prst="rect">
            <a:avLst/>
          </a:prstGeom>
          <a:solidFill>
            <a:srgbClr val="1E3A8A">
              <a:alpha val="80000"/>
            </a:srgbClr>
          </a:solidFill>
          <a:ln w="12700">
            <a:solidFill>
              <a:srgbClr val="1E3A8A">
                <a:alpha val="0"/>
              </a:srgbClr>
            </a:solidFill>
            <a:prstDash val="solid"/>
          </a:ln>
        </p:spPr>
      </p:sp>
      <p:sp>
        <p:nvSpPr>
          <p:cNvPr id="4" name="Text 2"/>
          <p:cNvSpPr/>
          <p:nvPr/>
        </p:nvSpPr>
        <p:spPr>
          <a:xfrm>
            <a:off x="502920" y="384048"/>
            <a:ext cx="11155680" cy="502920"/>
          </a:xfrm>
          <a:prstGeom prst="rect">
            <a:avLst/>
          </a:prstGeom>
          <a:noFill/>
          <a:ln/>
        </p:spPr>
        <p:txBody>
          <a:bodyPr wrap="square" lIns="0" tIns="0" rIns="0" bIns="0" rtlCol="0" anchor="ctr">
            <a:normAutofit/>
          </a:bodyPr>
          <a:lstStyle/>
          <a:p>
            <a:pPr marL="0" indent="0">
              <a:buNone/>
            </a:pPr>
            <a:r>
              <a:rPr lang="en-US" sz="3000" b="1" dirty="0">
                <a:solidFill>
                  <a:srgbClr val="0B1F33"/>
                </a:solidFill>
                <a:latin typeface="Aptos Display" pitchFamily="34" charset="0"/>
                <a:ea typeface="Aptos Display" pitchFamily="34" charset="-122"/>
                <a:cs typeface="Aptos Display" pitchFamily="34" charset="-120"/>
              </a:rPr>
              <a:t>References</a:t>
            </a:r>
            <a:endParaRPr lang="en-US" sz="3000" dirty="0"/>
          </a:p>
        </p:txBody>
      </p:sp>
      <p:sp>
        <p:nvSpPr>
          <p:cNvPr id="5" name="Shape 3"/>
          <p:cNvSpPr/>
          <p:nvPr/>
        </p:nvSpPr>
        <p:spPr>
          <a:xfrm>
            <a:off x="502920" y="960120"/>
            <a:ext cx="2103120" cy="0"/>
          </a:xfrm>
          <a:prstGeom prst="line">
            <a:avLst/>
          </a:prstGeom>
          <a:noFill/>
          <a:ln w="12700">
            <a:solidFill>
              <a:srgbClr val="14B8A6"/>
            </a:solidFill>
            <a:prstDash val="solid"/>
          </a:ln>
        </p:spPr>
      </p:sp>
      <p:sp>
        <p:nvSpPr>
          <p:cNvPr id="6" name="Text 4"/>
          <p:cNvSpPr/>
          <p:nvPr/>
        </p:nvSpPr>
        <p:spPr>
          <a:xfrm>
            <a:off x="11475720" y="6446520"/>
            <a:ext cx="320040" cy="182880"/>
          </a:xfrm>
          <a:prstGeom prst="rect">
            <a:avLst/>
          </a:prstGeom>
          <a:noFill/>
          <a:ln/>
        </p:spPr>
        <p:txBody>
          <a:bodyPr wrap="square" lIns="0" tIns="0" rIns="0" bIns="0" rtlCol="0" anchor="ctr"/>
          <a:lstStyle/>
          <a:p>
            <a:pPr marL="0" indent="0" algn="r">
              <a:buNone/>
            </a:pPr>
            <a:r>
              <a:rPr lang="en-US" sz="900" dirty="0">
                <a:solidFill>
                  <a:srgbClr val="64748B"/>
                </a:solidFill>
                <a:latin typeface="Aptos" pitchFamily="34" charset="0"/>
                <a:ea typeface="Aptos" pitchFamily="34" charset="-122"/>
                <a:cs typeface="Aptos" pitchFamily="34" charset="-120"/>
              </a:rPr>
              <a:t>19</a:t>
            </a:r>
            <a:endParaRPr lang="en-US" sz="900" dirty="0"/>
          </a:p>
        </p:txBody>
      </p:sp>
      <p:sp>
        <p:nvSpPr>
          <p:cNvPr id="7" name="Shape 5"/>
          <p:cNvSpPr/>
          <p:nvPr/>
        </p:nvSpPr>
        <p:spPr>
          <a:xfrm>
            <a:off x="594360" y="1325880"/>
            <a:ext cx="11018520" cy="4800600"/>
          </a:xfrm>
          <a:prstGeom prst="roundRect">
            <a:avLst>
              <a:gd name="adj" fmla="val 1524"/>
            </a:avLst>
          </a:prstGeom>
          <a:solidFill>
            <a:srgbClr val="FFFFFF"/>
          </a:solidFill>
          <a:ln w="12700">
            <a:solidFill>
              <a:srgbClr val="E2E8F0"/>
            </a:solidFill>
            <a:prstDash val="solid"/>
          </a:ln>
          <a:effectLst>
            <a:outerShdw blurRad="12700" dist="50800" dir="2700000" algn="bl" rotWithShape="0">
              <a:srgbClr val="000000">
                <a:alpha val="10000"/>
              </a:srgbClr>
            </a:outerShdw>
          </a:effectLst>
        </p:spPr>
      </p:sp>
      <p:sp>
        <p:nvSpPr>
          <p:cNvPr id="8" name="Text 6"/>
          <p:cNvSpPr/>
          <p:nvPr/>
        </p:nvSpPr>
        <p:spPr>
          <a:xfrm>
            <a:off x="822960" y="1600200"/>
            <a:ext cx="10515600" cy="4343400"/>
          </a:xfrm>
          <a:prstGeom prst="rect">
            <a:avLst/>
          </a:prstGeom>
          <a:noFill/>
          <a:ln/>
        </p:spPr>
        <p:txBody>
          <a:bodyPr wrap="square" lIns="254" tIns="254" rIns="254" bIns="254" rtlCol="0" anchor="t">
            <a:normAutofit/>
          </a:bodyPr>
          <a:lstStyle/>
          <a:p>
            <a:pPr marL="0" indent="0">
              <a:buNone/>
            </a:pPr>
            <a:r>
              <a:rPr lang="en-US" sz="1180" dirty="0">
                <a:solidFill>
                  <a:srgbClr val="0B1F33"/>
                </a:solidFill>
                <a:latin typeface="Aptos" pitchFamily="34" charset="0"/>
                <a:ea typeface="Aptos" pitchFamily="34" charset="-122"/>
                <a:cs typeface="Aptos" pitchFamily="34" charset="-120"/>
              </a:rPr>
              <a:t>[7] R. H. Rangnekar, K. P. Suratwala, S. Krishna and S. Dhage, "Career Prediction Model Using Data Mining and Linear Classification," 2018 Fourth International Conference on Computing Communication Control and Automation (ICCUBEA), 2018, pp. 1-6, doi: 10.1109/ICCUBEA.2018.8697689.</a:t>
            </a:r>
            <a:endParaRPr lang="en-US" sz="1180" dirty="0"/>
          </a:p>
          <a:p>
            <a:pPr marL="0" indent="0">
              <a:buNone/>
            </a:pPr>
            <a:r>
              <a:rPr lang="en-US" sz="1180" dirty="0">
                <a:solidFill>
                  <a:srgbClr val="0B1F33"/>
                </a:solidFill>
                <a:latin typeface="Aptos" pitchFamily="34" charset="0"/>
                <a:ea typeface="Aptos" pitchFamily="34" charset="-122"/>
                <a:cs typeface="Aptos" pitchFamily="34" charset="-120"/>
              </a:rPr>
              <a:t>[8] M. Y. Arafath, M. Saifuzzaman, S. Ahmed and S. A. Hossain, "Predicting Career Using Data Mining," 2018 International Conference on Computing, Power and Communication Technologies (GUCON), 2018, pp. 889-894, doi: 10.1109/GUCON.2018.8674995.</a:t>
            </a:r>
            <a:endParaRPr lang="en-US" sz="1180" dirty="0"/>
          </a:p>
          <a:p>
            <a:pPr marL="0" indent="0">
              <a:buNone/>
            </a:pPr>
            <a:r>
              <a:rPr lang="en-US" sz="1180" dirty="0">
                <a:solidFill>
                  <a:srgbClr val="0B1F33"/>
                </a:solidFill>
                <a:latin typeface="Aptos" pitchFamily="34" charset="0"/>
                <a:ea typeface="Aptos" pitchFamily="34" charset="-122"/>
                <a:cs typeface="Aptos" pitchFamily="34" charset="-120"/>
              </a:rPr>
              <a:t>[9] B. Harsha, N. Sravanthi, N. Sankeerthana and M. Suneetha, "Career Choice Using Machine Learning Algorithms," 2022 International Conference on Inventive Computation Technologies (ICICT), 2022, pp. 171-176, doi: 10.1109/ICICT54344.2022.9850697.</a:t>
            </a:r>
            <a:endParaRPr lang="en-US" sz="1180" dirty="0"/>
          </a:p>
          <a:p>
            <a:pPr marL="0" indent="0">
              <a:buNone/>
            </a:pPr>
            <a:r>
              <a:rPr lang="en-US" sz="1180" dirty="0">
                <a:solidFill>
                  <a:srgbClr val="0B1F33"/>
                </a:solidFill>
                <a:latin typeface="Aptos" pitchFamily="34" charset="0"/>
                <a:ea typeface="Aptos" pitchFamily="34" charset="-122"/>
                <a:cs typeface="Aptos" pitchFamily="34" charset="-120"/>
              </a:rPr>
              <a:t>[10] A. Ghimire, T. Dorsch and J. Edwards, "Introspection with Data: Recommendation of Academic Majors Based on Personality Traits," 2022 Intermountain Engineering, Technology and Computing (IETC), 2022, pp. 1-6, doi: 10.1109/IETC54973.2022.9796766.</a:t>
            </a:r>
            <a:endParaRPr lang="en-US" sz="1180" dirty="0"/>
          </a:p>
          <a:p>
            <a:pPr marL="0" indent="0">
              <a:buNone/>
            </a:pPr>
            <a:r>
              <a:rPr lang="en-US" sz="1180" dirty="0">
                <a:solidFill>
                  <a:srgbClr val="0B1F33"/>
                </a:solidFill>
                <a:latin typeface="Aptos" pitchFamily="34" charset="0"/>
                <a:ea typeface="Aptos" pitchFamily="34" charset="-122"/>
                <a:cs typeface="Aptos" pitchFamily="34" charset="-120"/>
              </a:rPr>
              <a:t>[11] C. D. Casuat and E. D. Festijo, "Identifying the Most Predictive Attributes Among Employability Signals of Undergraduate Students," 2020 16th IEEE International Colloquium on Signal Processing &amp; Its Applications (CSPA), 2020, pp. 203-206, doi: 10.1109/CSPA48992.2020.9068681.</a:t>
            </a:r>
            <a:endParaRPr lang="en-US" sz="11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1913</Words>
  <Application>Microsoft Office PowerPoint</Application>
  <PresentationFormat>Widescreen</PresentationFormat>
  <Paragraphs>262</Paragraphs>
  <Slides>19</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Based Career Guidance System</dc:title>
  <dc:subject>AI Based Career Guidance System</dc:subject>
  <dc:creator>OpenAI</dc:creator>
  <cp:lastModifiedBy>Monowar Aman</cp:lastModifiedBy>
  <cp:revision>3</cp:revision>
  <dcterms:created xsi:type="dcterms:W3CDTF">2026-06-15T13:06:46Z</dcterms:created>
  <dcterms:modified xsi:type="dcterms:W3CDTF">2026-06-15T13:25:31Z</dcterms:modified>
</cp:coreProperties>
</file>